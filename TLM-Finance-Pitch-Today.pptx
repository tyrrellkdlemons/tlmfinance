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1, ~25s):
Good [morning/afternoon]. I'm Tyrrell Lemons, and I'm here to show you a tool I built called TLM Finance — at tlmfinance dot netlify dot app. It's free, it's private, and it's mobile-first. It's not officially affiliated with The Last Mile yet — but it's voice-and-tone matched to TLM, it's built for the same population TLM serves, and it's ready for partnership today. The next 12 to 15 minutes are about: what it does, who it's for, how it sits next to thelastmile.org, and what I'm asking you for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2, ~35s):
Three numbers, all from the homepage of thelastmile dot org as of today. The U.S. prison population is up SEVEN HUNDRED PERCENT since the 1970s. Sixty-one percent of people released come back within ten years. But TLM graduates? UNDER five percent. That gap is the proof that what TLM does works. Now here's the thing: TLM has cracked the inside-the-walls half — the coding bootcamps, the entrepreneurship program, the audio production. But the day someone walks out, they're walking into the most financially unsupported moment of their life. No bank account. No ID. No money app built for the first 90 days. THAT'S the gap I'm trying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3, ~30s):
A quick word on why this exists at all. I have family who came home. I watched what the first ninety days looks like — and every money app on the market was built for someone who already had a job, an ID, and a checking account. None of them were built for the window where you don't yet. So the brief became one sentence: 'the last mile of school, the first mile of freedom.' That's the design philosophy of every screen you're about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4, ~35s):
Three doors into one mission. First — the Freedom Plan Panel. It's a bottom sheet that pops up on every page. Tap the eight things you need first — money, ID, job, housing, education, transportation, health, family — and the site builds a printable 72-hour starter list. Second — the Customizable Plan. Seven steps, fifty smart suggestion chips so the user almost never has to type, four quick-start templates for common scenarios, and a live plan-health score from zero to a hundred. Third — the My Plan view. Read-only summary you can print, email, or hand to a case manager. Now let me walk you through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5, ~30s):
Side-by-side. On the left — what TLM does today: thirteen facilities, eight states, sixteen hundred alumni, seventy-five percent employment, under five percent recidivism. That's the inside-the-walls work. On the right — what tlmfinance dot netlify dot app adds: a money planner, document checklist, AI helper, vetted resources for AFTER release. Privacy-first, mobile-first, works offline. Same population, same mission, complementary surfaces. I'm not trying to compete with TLM. I'm trying to extend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6, ~25s):
The site is twelve user-facing pages plus a hidden admin panel and the presentation hub you're looking at the deck inside right now. Home is the landing. Planner is the macro 90-day flow. My Plan is the read-only summary. Then Learn, Hub, Watch, Feed, Radio, Media — the education and resource side. Privacy, Terms, and Data-deletion are the compliance pages required by Google and Facebook OAuth. Twelve pages, one coherent journey from 'I just got out' to 'here's my 90-day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7, ~35s):
Walk-through one — the Freedom Plan Panel. Tap 'Generate planner' on any page and this slides up from the bottom of the screen. Eight cards: money plan, ID and documents, job path, housing, education, transportation, health and meds, family. Tap the ones that apply. Press 'Generate my 72-hour plan' and the site builds a printable list — replace the state ID at the DMV, replace the Social Security card at SSA dot gov, open a checking account or activate a prepaid card, save 988 and the SAMHSA helpline. Real, specific, ordered. And here's the move: those tasks carry over automatically to the deeper Customizable Plan. No re-typing. The starter is the seed of the bigger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8, ~30s):
Walk-through two — the Customizable Plan. Seven steps. Income. Benefits. Expenses. Debts. Goals. Documents. And a Sequence card for the first 72 hours, 30 days, 60, and 90. Each step is a finished thought. None of them depend on perfectly remembering what was on the previous one. The whole flow takes about seven minutes end-to-end. And if the user signs in — totally optional — the whole plan syncs to the cloud so they can pick it up on any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9, ~30s):
Two design choices that matter more than they sound. One — about fifty smart suggestion chips across the planner. Tap 'wages, job' to add an income line. Tap 'rent' to add an expense. Tap 'phone bill.' Tap 'transit.' The user almost never has to type. Two — four quick-start templates for common scenarios: just released with no income yet; working part-time with gaps; school plus side hustle; or family support, living with a relative. Pick one and the planner pre-fills with realistic placeholder rows that the user then edits. Nobody stares at a blank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10, ~25s):
Live KPIs update on every keystroke. Monthly income on top-left. Monthly expenses top-right. Net cash flow — green when positive, red when negative. Savings goal at ten percent of income. And the centerpiece: the Plan Health Score. Zero to a hundred, composite of how complete the plan is, the cash-flow ratio, and how many documents the user has collected. Eighty-four out of a hundred — strong start. The score doesn't shame anyone; it tells them what to fill in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11, ~25s):
Now let me make it concrete. Meet Marcus — he's not real, but every detail is composited from real reentry profiles. Marcus is thirty-four. He's six days from release. Four years served. He has a brother who can host him two weeks. A state ID that expired in 2022. No bank account, no smartphone yet. And a job interview he can probably get, if he can show up clean and on time. The next four slides walk through how Marcus uses TLM Finance from day minus six to day ninety.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12, ~25s):
Day minus six. Marcus is at the prison career center, sharing a tablet. He opens tlmfinance dot netlify dot app. The site loads in under two seconds because it's a static progressive web app — no bundler, no framework, no waiting on a slow connection. He taps Generate planner. He picks five cards — money, ID, job path, housing, health and meds. In two minutes he has a printable starter list. He prints it on the center's printer.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13, ~25s):
Day minus five. Marcus clicks 'Open the customizable plan.' His five-item starter list carries over automatically — he doesn't retype anything. He picks the 'Just released, no income yet' template. The chips populate Income with zero, expenses with phone bill, transit, food. Plan health: thirty-two out of a hundred. Red. And that's fine. The score is a guide, not a grade. The moment something real lands — a job offer, a benefit confirmation — it goes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14, ~30s):
Day zero. Marcus is at his brother's house. He picks up a forty-dollar prepaid SIM, opens the site, signs in with email — totally optional but lets him sync across devices — and adds the home address to the plan. Day one: he walks into the DMV and SSA office. Documents tab moves from two of twelve to four of twelve. Score climbs to forty-one. Day seven: he nails the job interview. He adds the role to Income with a single chip tap. The sync pill on screen flashes 'Synced to cloud, 8:14 PM.' Cash flow ratio shifts from red to amber.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15, ~30s):
From red to green. Day zero: thirty-two. Day seven: forty-one. Day thirty: fifty-five — first calendar bill cycle. Day sixty: seventy-two — net cash flow is positive. Day ninety: eighty-six. Documents at eleven of twelve. Ninety-day sequence eleven of fourteen done. Marcus prints a clean copy for the CSU Project Rebound advisor he's meeting next week. That's the whole arc — six minutes of work spread across thirteen weeks. Self-serve. Private.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16, ~25s):
Privacy and auth — because this matters for THIS population more than any other. No analytics. No third-party fonts. The plan saves to your browser's local storage on every keystroke. Sign-in is OPT-IN — only required if you want to sync across devices. Three providers: email plus Google plus Facebook OAuth through Supabase. Row-level security on every database table — only the row owner can read or write their own plan.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17, ~25s):
Resources and education. On the left — twenty-five-plus vetted reentry resource cards. CFPB, FDIC, SSA, the Department of Labor, 211, the National Reentry Resource Center, Root and Rebound, CSU Project Rebound. Every card sourced, dated, filterable by category. On the right — Learn, Hub, Watch, Radio. Banking, credit, savings, money apps, crypto basics, scam avoidance, AI literacy, modern tech jobs. Plain language. Sixth-grade reading level. Plus TLM Radio embedded with the official Spotify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18, ~30s):
There's a floating AI helper in the bottom right of every page. Thirteen free LLMs in rotation server-side: Llama-3.3-70B, DeepSeek V3 and R1, Qwen-2.5-72B, QwQ, Gemini 2.0 Flash, Hermes-3-405B, Nemotron-70B, plus four smaller models. Five fallback endpoints. No API key in the browser, ever. Topic guards built in: it stays on money, banking, credit, AI, careers. It DECLINES legal advice — parole, probation, expungement, sentencing, immigration — and redirects to the National Reentry Resource Center, Root and Rebound, 211, and 988 for crisis. Chat history lives in memory only. Never persisted. Never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19, ~25s):
There's an owner panel that's intentionally hidden. Three discreet entry methods: click the logo seven times in three seconds, type the literal string T-L-M-admin anywhere, or enter the Konami code. ANY entry path then hits a hashed-password gate — SHA-256 with a per-install salt — with a five-strikes-and-five-minute lockout. Inside, the admin can edit hero copy, resources, videos, people, see sign-ins and audit logs, toggle individual pages on or off, and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20, ~25s):
Quick view under the hood. Static site — plain HTML, CSS, vanilla JavaScript. No frameworks, no bundlers, no build step. Loads instantly even on slow networks. It's a Progressive Web App — installable on phone home screens, works offline. CSP via Netlify locks down what the site can connect to. Supabase handles auth with row-level security on every table. One Netlify function — the chatbot relay. WCAG 2.1 AA accessibility audit applied. Reduced motion. Dark and light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21, ~30s):
Marcus is one persona, not the only one. Yolanda — twenty-eight, released eighteen months ago, now in CSU Project Rebound. Uses TLM Finance to balance her stipend plus a side hustle against tuition fees and a four-thousand-dollar court fee. Plan health, seventy-eight. James — forty-two, out for two years, drives rideshare. Uses the planner to forecast cash-flow on weeks where his car is in the shop. And a case manager at a county reentry program. Hands the URL to every client at intake. Says it eliminates thirty minutes of paperwork per session because the plan walks in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22, ~25s):
For context — the mission this work plugs into. Sixteen hundred TLM alumni since 2010. A thousand returned citizens. Seventy-five percent employment rate. Ninety percent pursue further education. Under five percent recidivism. Thirteen facilities in eight states. These are not my numbers. They're TLM's, as published on thelastmile dot org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23, ~30s):
Five reasons to approve this. One — there's a quietly real gap. No consumer-grade money planner exists for the reentry window. This is one. Two — it honors the population. Sixth-grade reading level. Zero analytics. No dark patterns. Plan stays on-device. Three — it's complete, not a prototype. Thirteen pages, accessibility audit applied, password-gated admin, CSP-hardened, offline-capable, thirteen-LLM rotation. Four — it's cheap to operate. Static hosting plus the Supabase free tier plus a single Netlify function. Five — it's adoptable, not a fork. Already branded for TLM. Re-skin or replace it the moment permission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24, ~30s):
Three ways this could plug into TLM. Option A — officially adopt. TLM Finance becomes the financial-planning surface of the reentry program. We rebrand under the official mark. Option B — sponsor and co-brand. TLM endorses; we keep operating; TLM's logo appears with proper attribution. Option C — use this as the reference for a TLM-canonical version. TLM builds their own; we hand over the keys, the codebase, the design tokens. Any of those works. The point is to extend what TLM already does into the moments after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25, ~25s):
I'm not going to pretend everything is finished. Open punch list, written down so you can see it. Facebook OAuth is in developer mode — needs Meta business verification. The TLM logo and portrait permission — that's why I'm here today. Footer disclaimer needs an attorney review before public launch. Quarterly link audit. And CSP nonce hardening — tightening `unsafe-inline` to script and style nonces in a future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26, ~25s):
A unit-economics paragraph in numbers. Cost per visitor — zero. The site has no analytics. Hosting at TLM's scale — effectively zero, Netlify free tier. Database at TLM's scale — effectively zero, Supabase free tier. Cost per chatbot response — zero, free LLM rotation. At ten times TLM's current visitor scale — about twenty-five dollars a month. At a MILLION sessions a year, this is dinner-out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27, ~25s):
Now I want to show it live. URL on screen — tlmfinance dot netlify dot app. Five-minute tour: tap 'Generate planner' — this slides up — pick five needs — 'Generate my 72-hour plan.' Then 'Download PDF' — real PDF lands in Downloads, no print preview. Open the customizable plan — the seventy-two-hour list is already there. Pick a template. Live KPIs update. Top-right — toggle theme: auto, light, dark. That's the whole demo.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28, ~30s):
The ask, in three sentences. ONE — bless this project to use the TLM mark. Or tell me what shape an official partnership could take. Adopt, sponsor, or use as a reference build — any of those works. TWO — pilot it with one cohort. Anywhere, any size. I'll handle the deploy. You handle the introductions. THREE — tell me what I got wrong. Voice, copy, layout, resources — I'll fix anything that doesn't fit your standard. That's it. That's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29, ~15s):
Open floor. Six topics where I'd guess you have questions. Privacy and data. Money and scale. Partnership shape. Tech and roadmap. Pilot logistics. Or anything else — voice, copy, design, ethics, sustainability. Pick one. I'm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VOICEOVER (slide 30, ~15s):
Thank you. The live site is tlmfinance dot netlify dot app. Code is on GitHub. My email is on screen. Questions, edits, or a yes — all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0E"/>
        </a:solidFill>
      </p:bgPr>
    </p:bg>
    <p:spTree>
      <p:nvGrpSpPr>
        <p:cNvPr id="1" name=""/>
        <p:cNvGrpSpPr/>
        <p:nvPr/>
      </p:nvGrpSpPr>
      <p:grpSpPr>
        <a:xfrm>
          <a:off x="0" y="0"/>
          <a:ext cx="0" cy="0"/>
          <a:chOff x="0" y="0"/>
          <a:chExt cx="0" cy="0"/>
        </a:xfrm>
      </p:grpSpPr>
      <p:sp>
        <p:nvSpPr>
          <p:cNvPr id="2" name="Shape 0"/>
          <p:cNvSpPr/>
          <p:nvPr/>
        </p:nvSpPr>
        <p:spPr>
          <a:xfrm>
            <a:off x="5486400" y="-914400"/>
            <a:ext cx="5486400" cy="5486400"/>
          </a:xfrm>
          <a:prstGeom prst="ellipse">
            <a:avLst/>
          </a:prstGeom>
          <a:solidFill>
            <a:srgbClr val="DAA520">
              <a:alpha val="20000"/>
            </a:srgbClr>
          </a:solidFill>
          <a:ln w="12700">
            <a:solidFill>
              <a:srgbClr val="1A1A1A"/>
            </a:solidFill>
            <a:prstDash val="solid"/>
          </a:ln>
        </p:spPr>
      </p:sp>
      <p:sp>
        <p:nvSpPr>
          <p:cNvPr id="3" name="Shape 1"/>
          <p:cNvSpPr/>
          <p:nvPr/>
        </p:nvSpPr>
        <p:spPr>
          <a:xfrm>
            <a:off x="6400800" y="0"/>
            <a:ext cx="3657600" cy="3657600"/>
          </a:xfrm>
          <a:prstGeom prst="ellipse">
            <a:avLst/>
          </a:prstGeom>
          <a:solidFill>
            <a:srgbClr val="FFD970">
              <a:alpha val="35000"/>
            </a:srgbClr>
          </a:solidFill>
          <a:ln w="12700">
            <a:solidFill>
              <a:srgbClr val="1A1A1A"/>
            </a:solidFill>
            <a:prstDash val="solid"/>
          </a:ln>
        </p:spPr>
      </p:sp>
      <p:sp>
        <p:nvSpPr>
          <p:cNvPr id="4" name="Text 2"/>
          <p:cNvSpPr/>
          <p:nvPr/>
        </p:nvSpPr>
        <p:spPr>
          <a:xfrm>
            <a:off x="548640" y="731520"/>
            <a:ext cx="7315200" cy="365760"/>
          </a:xfrm>
          <a:prstGeom prst="rect">
            <a:avLst/>
          </a:prstGeom>
          <a:noFill/>
          <a:ln/>
        </p:spPr>
        <p:txBody>
          <a:bodyPr wrap="square" rtlCol="0" anchor="ctr"/>
          <a:lstStyle/>
          <a:p>
            <a:pPr indent="0" marL="0">
              <a:buNone/>
            </a:pPr>
            <a:r>
              <a:rPr lang="en-US" sz="1300" b="1" spc="800" kern="0" dirty="0">
                <a:solidFill>
                  <a:srgbClr val="DAA520"/>
                </a:solidFill>
                <a:latin typeface="Calibri" pitchFamily="34" charset="0"/>
                <a:ea typeface="Calibri" pitchFamily="34" charset="-122"/>
                <a:cs typeface="Calibri" pitchFamily="34" charset="-120"/>
              </a:rPr>
              <a:t>A FINANCE INITIATIVE INSPIRED BY THE LAST MILE</a:t>
            </a:r>
            <a:endParaRPr lang="en-US" sz="1300" dirty="0"/>
          </a:p>
        </p:txBody>
      </p:sp>
      <p:sp>
        <p:nvSpPr>
          <p:cNvPr id="5" name="Text 3"/>
          <p:cNvSpPr/>
          <p:nvPr/>
        </p:nvSpPr>
        <p:spPr>
          <a:xfrm>
            <a:off x="548640" y="1371600"/>
            <a:ext cx="7772400" cy="2011680"/>
          </a:xfrm>
          <a:prstGeom prst="rect">
            <a:avLst/>
          </a:prstGeom>
          <a:noFill/>
          <a:ln/>
        </p:spPr>
        <p:txBody>
          <a:bodyPr wrap="square" rtlCol="0" anchor="t"/>
          <a:lstStyle/>
          <a:p>
            <a:pPr indent="0" marL="0">
              <a:buNone/>
            </a:pPr>
            <a:r>
              <a:rPr lang="en-US" sz="5600" b="1" dirty="0">
                <a:solidFill>
                  <a:srgbClr val="FAF7EE"/>
                </a:solidFill>
                <a:latin typeface="Georgia" pitchFamily="34" charset="0"/>
                <a:ea typeface="Georgia" pitchFamily="34" charset="-122"/>
                <a:cs typeface="Georgia" pitchFamily="34" charset="-120"/>
              </a:rPr>
              <a:t>Paving the Road.
</a:t>
            </a:r>
            <a:pPr indent="0" marL="0">
              <a:buNone/>
            </a:pPr>
            <a:r>
              <a:rPr lang="en-US" sz="2800" i="1" dirty="0">
                <a:solidFill>
                  <a:srgbClr val="FFD970"/>
                </a:solidFill>
                <a:latin typeface="Georgia" pitchFamily="34" charset="0"/>
                <a:ea typeface="Georgia" pitchFamily="34" charset="-122"/>
                <a:cs typeface="Georgia" pitchFamily="34" charset="-120"/>
              </a:rPr>
              <a:t>Breaking chains. Building a future.</a:t>
            </a:r>
            <a:endParaRPr lang="en-US" sz="5600" dirty="0"/>
          </a:p>
        </p:txBody>
      </p:sp>
      <p:sp>
        <p:nvSpPr>
          <p:cNvPr id="6" name="Text 4"/>
          <p:cNvSpPr/>
          <p:nvPr/>
        </p:nvSpPr>
        <p:spPr>
          <a:xfrm>
            <a:off x="548640" y="3383280"/>
            <a:ext cx="7772400" cy="914400"/>
          </a:xfrm>
          <a:prstGeom prst="rect">
            <a:avLst/>
          </a:prstGeom>
          <a:noFill/>
          <a:ln/>
        </p:spPr>
        <p:txBody>
          <a:bodyPr wrap="square" rtlCol="0" anchor="ctr"/>
          <a:lstStyle/>
          <a:p>
            <a:pPr indent="0" marL="0">
              <a:buNone/>
            </a:pPr>
            <a:r>
              <a:rPr lang="en-US" sz="1600" dirty="0">
                <a:solidFill>
                  <a:srgbClr val="FAF7EE"/>
                </a:solidFill>
                <a:latin typeface="Calibri" pitchFamily="34" charset="0"/>
                <a:ea typeface="Calibri" pitchFamily="34" charset="-122"/>
                <a:cs typeface="Calibri" pitchFamily="34" charset="-120"/>
              </a:rPr>
              <a:t>A free, private, mobile-first reentry-finance companion — live at tlmfinance.netlify.app. 13-page web app, voice-and-tone matched to TLM, ready for partnership today.</a:t>
            </a:r>
            <a:endParaRPr lang="en-US" sz="1600" dirty="0"/>
          </a:p>
        </p:txBody>
      </p:sp>
      <p:sp>
        <p:nvSpPr>
          <p:cNvPr id="7" name="Text 5"/>
          <p:cNvSpPr/>
          <p:nvPr/>
        </p:nvSpPr>
        <p:spPr>
          <a:xfrm>
            <a:off x="548640" y="4434840"/>
            <a:ext cx="7772400" cy="274320"/>
          </a:xfrm>
          <a:prstGeom prst="rect">
            <a:avLst/>
          </a:prstGeom>
          <a:noFill/>
          <a:ln/>
        </p:spPr>
        <p:txBody>
          <a:bodyPr wrap="square" rtlCol="0" anchor="ctr"/>
          <a:lstStyle/>
          <a:p>
            <a:pPr indent="0" marL="0">
              <a:buNone/>
            </a:pPr>
            <a:r>
              <a:rPr lang="en-US" sz="1200" spc="400" kern="0" dirty="0">
                <a:solidFill>
                  <a:srgbClr val="B5B0A8"/>
                </a:solidFill>
                <a:latin typeface="Calibri" pitchFamily="34" charset="0"/>
                <a:ea typeface="Calibri" pitchFamily="34" charset="-122"/>
                <a:cs typeface="Calibri" pitchFamily="34" charset="-120"/>
              </a:rPr>
              <a:t>Tyrrell K.D. Lemons · 4/29/2026</a:t>
            </a:r>
            <a:endParaRPr lang="en-US" sz="1200" dirty="0"/>
          </a:p>
        </p:txBody>
      </p:sp>
      <p:sp>
        <p:nvSpPr>
          <p:cNvPr id="8" name="Text 6"/>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B5B0A8"/>
                </a:solidFill>
                <a:latin typeface="Calibri" pitchFamily="34" charset="0"/>
                <a:ea typeface="Calibri" pitchFamily="34" charset="-122"/>
                <a:cs typeface="Calibri" pitchFamily="34" charset="-120"/>
              </a:rPr>
              <a:t>01 / 30</a:t>
            </a:r>
            <a:endParaRPr lang="en-US" sz="900" dirty="0"/>
          </a:p>
        </p:txBody>
      </p:sp>
      <p:sp>
        <p:nvSpPr>
          <p:cNvPr id="9" name="Text 7"/>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B5B0A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457200" y="731520"/>
            <a:ext cx="8229600" cy="822960"/>
          </a:xfrm>
          <a:prstGeom prst="rect">
            <a:avLst/>
          </a:prstGeom>
          <a:noFill/>
          <a:ln/>
        </p:spPr>
        <p:txBody>
          <a:bodyPr wrap="square" rtlCol="0" anchor="ctr"/>
          <a:lstStyle/>
          <a:p>
            <a:pPr indent="0" marL="0">
              <a:buNone/>
            </a:pPr>
            <a:r>
              <a:rPr lang="en-US" sz="2800" b="1" dirty="0">
                <a:solidFill>
                  <a:srgbClr val="1F1F1F"/>
                </a:solidFill>
                <a:latin typeface="Georgia" pitchFamily="34" charset="0"/>
                <a:ea typeface="Georgia" pitchFamily="34" charset="-122"/>
                <a:cs typeface="Georgia" pitchFamily="34" charset="-120"/>
              </a:rPr>
              <a:t>The reentry window is the unsupported half of the story.</a:t>
            </a:r>
            <a:endParaRPr lang="en-US" sz="2800" dirty="0"/>
          </a:p>
        </p:txBody>
      </p:sp>
      <p:sp>
        <p:nvSpPr>
          <p:cNvPr id="4" name="Shape 2"/>
          <p:cNvSpPr/>
          <p:nvPr/>
        </p:nvSpPr>
        <p:spPr>
          <a:xfrm>
            <a:off x="457200" y="1828800"/>
            <a:ext cx="2468880" cy="2286000"/>
          </a:xfrm>
          <a:prstGeom prst="roundRect">
            <a:avLst>
              <a:gd name="adj" fmla="val 4800"/>
            </a:avLst>
          </a:prstGeom>
          <a:solidFill>
            <a:srgbClr val="F8F4EA"/>
          </a:solidFill>
          <a:ln w="12700">
            <a:solidFill>
              <a:srgbClr val="E5DBC2"/>
            </a:solidFill>
            <a:prstDash val="solid"/>
          </a:ln>
        </p:spPr>
      </p:sp>
      <p:sp>
        <p:nvSpPr>
          <p:cNvPr id="5" name="Text 3"/>
          <p:cNvSpPr/>
          <p:nvPr/>
        </p:nvSpPr>
        <p:spPr>
          <a:xfrm>
            <a:off x="502920" y="2011680"/>
            <a:ext cx="2377440" cy="1005840"/>
          </a:xfrm>
          <a:prstGeom prst="rect">
            <a:avLst/>
          </a:prstGeom>
          <a:noFill/>
          <a:ln/>
        </p:spPr>
        <p:txBody>
          <a:bodyPr wrap="square" lIns="0" tIns="0" rIns="0" bIns="0" rtlCol="0" anchor="ctr"/>
          <a:lstStyle/>
          <a:p>
            <a:pPr algn="ctr" indent="0" marL="0">
              <a:buNone/>
            </a:pPr>
            <a:r>
              <a:rPr lang="en-US" sz="4800" b="1" dirty="0">
                <a:solidFill>
                  <a:srgbClr val="B23A1F"/>
                </a:solidFill>
                <a:latin typeface="Georgia" pitchFamily="34" charset="0"/>
                <a:ea typeface="Georgia" pitchFamily="34" charset="-122"/>
                <a:cs typeface="Georgia" pitchFamily="34" charset="-120"/>
              </a:rPr>
              <a:t>700%</a:t>
            </a:r>
            <a:endParaRPr lang="en-US" sz="4800" dirty="0"/>
          </a:p>
        </p:txBody>
      </p:sp>
      <p:sp>
        <p:nvSpPr>
          <p:cNvPr id="6" name="Text 4"/>
          <p:cNvSpPr/>
          <p:nvPr/>
        </p:nvSpPr>
        <p:spPr>
          <a:xfrm>
            <a:off x="548640" y="3017520"/>
            <a:ext cx="2286000" cy="822960"/>
          </a:xfrm>
          <a:prstGeom prst="rect">
            <a:avLst/>
          </a:prstGeom>
          <a:noFill/>
          <a:ln/>
        </p:spPr>
        <p:txBody>
          <a:bodyPr wrap="square" rtlCol="0" anchor="ctr"/>
          <a:lstStyle/>
          <a:p>
            <a:pPr algn="ctr" indent="0" marL="0">
              <a:buNone/>
            </a:pPr>
            <a:r>
              <a:rPr lang="en-US" sz="1300" dirty="0">
                <a:solidFill>
                  <a:srgbClr val="4A4A42"/>
                </a:solidFill>
                <a:latin typeface="Calibri" pitchFamily="34" charset="0"/>
                <a:ea typeface="Calibri" pitchFamily="34" charset="-122"/>
                <a:cs typeface="Calibri" pitchFamily="34" charset="-120"/>
              </a:rPr>
              <a:t>Increase in U.S. prison</a:t>
            </a:r>
            <a:endParaRPr lang="en-US" sz="1300" dirty="0"/>
          </a:p>
          <a:p>
            <a:pPr algn="ctr" indent="0" marL="0">
              <a:buNone/>
            </a:pPr>
            <a:r>
              <a:rPr lang="en-US" sz="1300" dirty="0">
                <a:solidFill>
                  <a:srgbClr val="4A4A42"/>
                </a:solidFill>
                <a:latin typeface="Calibri" pitchFamily="34" charset="0"/>
                <a:ea typeface="Calibri" pitchFamily="34" charset="-122"/>
                <a:cs typeface="Calibri" pitchFamily="34" charset="-120"/>
              </a:rPr>
              <a:t>population since the 1970s</a:t>
            </a:r>
            <a:endParaRPr lang="en-US" sz="1300" dirty="0"/>
          </a:p>
        </p:txBody>
      </p:sp>
      <p:sp>
        <p:nvSpPr>
          <p:cNvPr id="7" name="Shape 5"/>
          <p:cNvSpPr/>
          <p:nvPr/>
        </p:nvSpPr>
        <p:spPr>
          <a:xfrm>
            <a:off x="3200400" y="1828800"/>
            <a:ext cx="2468880" cy="2286000"/>
          </a:xfrm>
          <a:prstGeom prst="roundRect">
            <a:avLst>
              <a:gd name="adj" fmla="val 4800"/>
            </a:avLst>
          </a:prstGeom>
          <a:solidFill>
            <a:srgbClr val="F8F4EA"/>
          </a:solidFill>
          <a:ln w="12700">
            <a:solidFill>
              <a:srgbClr val="E5DBC2"/>
            </a:solidFill>
            <a:prstDash val="solid"/>
          </a:ln>
        </p:spPr>
      </p:sp>
      <p:sp>
        <p:nvSpPr>
          <p:cNvPr id="8" name="Text 6"/>
          <p:cNvSpPr/>
          <p:nvPr/>
        </p:nvSpPr>
        <p:spPr>
          <a:xfrm>
            <a:off x="3246120" y="2011680"/>
            <a:ext cx="2377440" cy="1005840"/>
          </a:xfrm>
          <a:prstGeom prst="rect">
            <a:avLst/>
          </a:prstGeom>
          <a:noFill/>
          <a:ln/>
        </p:spPr>
        <p:txBody>
          <a:bodyPr wrap="square" lIns="0" tIns="0" rIns="0" bIns="0" rtlCol="0" anchor="ctr"/>
          <a:lstStyle/>
          <a:p>
            <a:pPr algn="ctr" indent="0" marL="0">
              <a:buNone/>
            </a:pPr>
            <a:r>
              <a:rPr lang="en-US" sz="4800" b="1" dirty="0">
                <a:solidFill>
                  <a:srgbClr val="B23A1F"/>
                </a:solidFill>
                <a:latin typeface="Georgia" pitchFamily="34" charset="0"/>
                <a:ea typeface="Georgia" pitchFamily="34" charset="-122"/>
                <a:cs typeface="Georgia" pitchFamily="34" charset="-120"/>
              </a:rPr>
              <a:t>61%</a:t>
            </a:r>
            <a:endParaRPr lang="en-US" sz="4800" dirty="0"/>
          </a:p>
        </p:txBody>
      </p:sp>
      <p:sp>
        <p:nvSpPr>
          <p:cNvPr id="9" name="Text 7"/>
          <p:cNvSpPr/>
          <p:nvPr/>
        </p:nvSpPr>
        <p:spPr>
          <a:xfrm>
            <a:off x="3291840" y="3017520"/>
            <a:ext cx="2286000" cy="822960"/>
          </a:xfrm>
          <a:prstGeom prst="rect">
            <a:avLst/>
          </a:prstGeom>
          <a:noFill/>
          <a:ln/>
        </p:spPr>
        <p:txBody>
          <a:bodyPr wrap="square" rtlCol="0" anchor="ctr"/>
          <a:lstStyle/>
          <a:p>
            <a:pPr algn="ctr" indent="0" marL="0">
              <a:buNone/>
            </a:pPr>
            <a:r>
              <a:rPr lang="en-US" sz="1300" dirty="0">
                <a:solidFill>
                  <a:srgbClr val="4A4A42"/>
                </a:solidFill>
                <a:latin typeface="Calibri" pitchFamily="34" charset="0"/>
                <a:ea typeface="Calibri" pitchFamily="34" charset="-122"/>
                <a:cs typeface="Calibri" pitchFamily="34" charset="-120"/>
              </a:rPr>
              <a:t>10-year U.S. recidivism rate</a:t>
            </a:r>
            <a:endParaRPr lang="en-US" sz="1300" dirty="0"/>
          </a:p>
          <a:p>
            <a:pPr algn="ctr" indent="0" marL="0">
              <a:buNone/>
            </a:pPr>
            <a:r>
              <a:rPr lang="en-US" sz="1300" dirty="0">
                <a:solidFill>
                  <a:srgbClr val="4A4A42"/>
                </a:solidFill>
                <a:latin typeface="Calibri" pitchFamily="34" charset="0"/>
                <a:ea typeface="Calibri" pitchFamily="34" charset="-122"/>
                <a:cs typeface="Calibri" pitchFamily="34" charset="-120"/>
              </a:rPr>
              <a:t>(national average)</a:t>
            </a:r>
            <a:endParaRPr lang="en-US" sz="1300" dirty="0"/>
          </a:p>
        </p:txBody>
      </p:sp>
      <p:sp>
        <p:nvSpPr>
          <p:cNvPr id="10" name="Shape 8"/>
          <p:cNvSpPr/>
          <p:nvPr/>
        </p:nvSpPr>
        <p:spPr>
          <a:xfrm>
            <a:off x="5943600" y="1828800"/>
            <a:ext cx="2468880" cy="2286000"/>
          </a:xfrm>
          <a:prstGeom prst="roundRect">
            <a:avLst>
              <a:gd name="adj" fmla="val 4800"/>
            </a:avLst>
          </a:prstGeom>
          <a:solidFill>
            <a:srgbClr val="F8F4EA"/>
          </a:solidFill>
          <a:ln w="12700">
            <a:solidFill>
              <a:srgbClr val="E5DBC2"/>
            </a:solidFill>
            <a:prstDash val="solid"/>
          </a:ln>
        </p:spPr>
      </p:sp>
      <p:sp>
        <p:nvSpPr>
          <p:cNvPr id="11" name="Text 9"/>
          <p:cNvSpPr/>
          <p:nvPr/>
        </p:nvSpPr>
        <p:spPr>
          <a:xfrm>
            <a:off x="5989320" y="2011680"/>
            <a:ext cx="2377440" cy="1005840"/>
          </a:xfrm>
          <a:prstGeom prst="rect">
            <a:avLst/>
          </a:prstGeom>
          <a:noFill/>
          <a:ln/>
        </p:spPr>
        <p:txBody>
          <a:bodyPr wrap="square" lIns="0" tIns="0" rIns="0" bIns="0" rtlCol="0" anchor="ctr"/>
          <a:lstStyle/>
          <a:p>
            <a:pPr algn="ctr" indent="0" marL="0">
              <a:buNone/>
            </a:pPr>
            <a:r>
              <a:rPr lang="en-US" sz="4800" b="1" dirty="0">
                <a:solidFill>
                  <a:srgbClr val="1F7A4D"/>
                </a:solidFill>
                <a:latin typeface="Georgia" pitchFamily="34" charset="0"/>
                <a:ea typeface="Georgia" pitchFamily="34" charset="-122"/>
                <a:cs typeface="Georgia" pitchFamily="34" charset="-120"/>
              </a:rPr>
              <a:t>&lt;5%</a:t>
            </a:r>
            <a:endParaRPr lang="en-US" sz="4800" dirty="0"/>
          </a:p>
        </p:txBody>
      </p:sp>
      <p:sp>
        <p:nvSpPr>
          <p:cNvPr id="12" name="Text 10"/>
          <p:cNvSpPr/>
          <p:nvPr/>
        </p:nvSpPr>
        <p:spPr>
          <a:xfrm>
            <a:off x="6035040" y="3017520"/>
            <a:ext cx="2286000" cy="822960"/>
          </a:xfrm>
          <a:prstGeom prst="rect">
            <a:avLst/>
          </a:prstGeom>
          <a:noFill/>
          <a:ln/>
        </p:spPr>
        <p:txBody>
          <a:bodyPr wrap="square" rtlCol="0" anchor="ctr"/>
          <a:lstStyle/>
          <a:p>
            <a:pPr algn="ctr" indent="0" marL="0">
              <a:buNone/>
            </a:pPr>
            <a:r>
              <a:rPr lang="en-US" sz="1300" dirty="0">
                <a:solidFill>
                  <a:srgbClr val="4A4A42"/>
                </a:solidFill>
                <a:latin typeface="Calibri" pitchFamily="34" charset="0"/>
                <a:ea typeface="Calibri" pitchFamily="34" charset="-122"/>
                <a:cs typeface="Calibri" pitchFamily="34" charset="-120"/>
              </a:rPr>
              <a:t>Recidivism rate among</a:t>
            </a:r>
            <a:endParaRPr lang="en-US" sz="1300" dirty="0"/>
          </a:p>
          <a:p>
            <a:pPr algn="ctr" indent="0" marL="0">
              <a:buNone/>
            </a:pPr>
            <a:r>
              <a:rPr lang="en-US" sz="1300" dirty="0">
                <a:solidFill>
                  <a:srgbClr val="4A4A42"/>
                </a:solidFill>
                <a:latin typeface="Calibri" pitchFamily="34" charset="0"/>
                <a:ea typeface="Calibri" pitchFamily="34" charset="-122"/>
                <a:cs typeface="Calibri" pitchFamily="34" charset="-120"/>
              </a:rPr>
              <a:t>TLM graduates</a:t>
            </a:r>
            <a:endParaRPr lang="en-US" sz="1300" dirty="0"/>
          </a:p>
        </p:txBody>
      </p:sp>
      <p:sp>
        <p:nvSpPr>
          <p:cNvPr id="13" name="Text 11"/>
          <p:cNvSpPr/>
          <p:nvPr/>
        </p:nvSpPr>
        <p:spPr>
          <a:xfrm>
            <a:off x="457200" y="4297680"/>
            <a:ext cx="8229600" cy="548640"/>
          </a:xfrm>
          <a:prstGeom prst="rect">
            <a:avLst/>
          </a:prstGeom>
          <a:noFill/>
          <a:ln/>
        </p:spPr>
        <p:txBody>
          <a:bodyPr wrap="square" rtlCol="0" anchor="ctr"/>
          <a:lstStyle/>
          <a:p>
            <a:pPr indent="0" marL="0">
              <a:buNone/>
            </a:pPr>
            <a:r>
              <a:rPr lang="en-US" sz="1300" i="1" dirty="0">
                <a:solidFill>
                  <a:srgbClr val="666660"/>
                </a:solidFill>
                <a:latin typeface="Calibri" pitchFamily="34" charset="0"/>
                <a:ea typeface="Calibri" pitchFamily="34" charset="-122"/>
                <a:cs typeface="Calibri" pitchFamily="34" charset="-120"/>
              </a:rPr>
              <a:t>TLM has cracked the inside-the-walls half. Then alumni walk out into the most unsupported financial moment of their lives.</a:t>
            </a:r>
            <a:endParaRPr lang="en-US" sz="1300" dirty="0"/>
          </a:p>
        </p:txBody>
      </p:sp>
      <p:sp>
        <p:nvSpPr>
          <p:cNvPr id="14" name="Text 12"/>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02 / 30</a:t>
            </a:r>
            <a:endParaRPr lang="en-US" sz="900" dirty="0"/>
          </a:p>
        </p:txBody>
      </p:sp>
      <p:sp>
        <p:nvSpPr>
          <p:cNvPr id="15" name="Text 13"/>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DAA520"/>
                </a:solidFill>
                <a:latin typeface="Calibri" pitchFamily="34" charset="0"/>
                <a:ea typeface="Calibri" pitchFamily="34" charset="-122"/>
                <a:cs typeface="Calibri" pitchFamily="34" charset="-120"/>
              </a:rPr>
              <a:t>WHY I BUILT THIS</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600" b="1" dirty="0">
                <a:solidFill>
                  <a:srgbClr val="FAF7EE"/>
                </a:solidFill>
                <a:latin typeface="Georgia" pitchFamily="34" charset="0"/>
                <a:ea typeface="Georgia" pitchFamily="34" charset="-122"/>
                <a:cs typeface="Georgia" pitchFamily="34" charset="-120"/>
              </a:rPr>
              <a:t>I built it because the gap is real and personal.</a:t>
            </a:r>
            <a:endParaRPr lang="en-US" sz="2600" dirty="0"/>
          </a:p>
        </p:txBody>
      </p:sp>
      <p:sp>
        <p:nvSpPr>
          <p:cNvPr id="4" name="Text 2"/>
          <p:cNvSpPr/>
          <p:nvPr/>
        </p:nvSpPr>
        <p:spPr>
          <a:xfrm>
            <a:off x="548640" y="1554480"/>
            <a:ext cx="8046720" cy="2743200"/>
          </a:xfrm>
          <a:prstGeom prst="rect">
            <a:avLst/>
          </a:prstGeom>
          <a:noFill/>
          <a:ln/>
        </p:spPr>
        <p:txBody>
          <a:bodyPr wrap="square" rtlCol="0" anchor="t"/>
          <a:lstStyle/>
          <a:p>
            <a:pPr indent="0" marL="0">
              <a:spcAft>
                <a:spcPts val="800"/>
              </a:spcAft>
              <a:buNone/>
            </a:pPr>
            <a:r>
              <a:rPr lang="en-US" sz="1600" dirty="0">
                <a:solidFill>
                  <a:srgbClr val="DAA520"/>
                </a:solidFill>
                <a:latin typeface="Calibri" pitchFamily="34" charset="0"/>
                <a:ea typeface="Calibri" pitchFamily="34" charset="-122"/>
                <a:cs typeface="Calibri" pitchFamily="34" charset="-120"/>
              </a:rPr>
              <a:t>• </a:t>
            </a:r>
            <a:pPr indent="0" marL="0">
              <a:spcAft>
                <a:spcPts val="800"/>
              </a:spcAft>
              <a:buNone/>
            </a:pPr>
            <a:r>
              <a:rPr lang="en-US" sz="1600" dirty="0">
                <a:solidFill>
                  <a:srgbClr val="FAF7EE"/>
                </a:solidFill>
                <a:latin typeface="Calibri" pitchFamily="34" charset="0"/>
                <a:ea typeface="Calibri" pitchFamily="34" charset="-122"/>
                <a:cs typeface="Calibri" pitchFamily="34" charset="-120"/>
              </a:rPr>
              <a:t>I have family who came home from prison. I watched the first 90 days swallow people whole.
</a:t>
            </a:r>
            <a:endParaRPr lang="en-US" sz="1600" dirty="0"/>
          </a:p>
          <a:p>
            <a:pPr indent="0" marL="0">
              <a:spcAft>
                <a:spcPts val="800"/>
              </a:spcAft>
              <a:buNone/>
            </a:pPr>
            <a:r>
              <a:rPr lang="en-US" sz="1600" dirty="0">
                <a:solidFill>
                  <a:srgbClr val="DAA520"/>
                </a:solidFill>
                <a:latin typeface="Calibri" pitchFamily="34" charset="0"/>
                <a:ea typeface="Calibri" pitchFamily="34" charset="-122"/>
                <a:cs typeface="Calibri" pitchFamily="34" charset="-120"/>
              </a:rPr>
              <a:t>• </a:t>
            </a:r>
            <a:pPr indent="0" marL="0">
              <a:spcAft>
                <a:spcPts val="800"/>
              </a:spcAft>
              <a:buNone/>
            </a:pPr>
            <a:r>
              <a:rPr lang="en-US" sz="1600" dirty="0">
                <a:solidFill>
                  <a:srgbClr val="FAF7EE"/>
                </a:solidFill>
                <a:latin typeface="Calibri" pitchFamily="34" charset="0"/>
                <a:ea typeface="Calibri" pitchFamily="34" charset="-122"/>
                <a:cs typeface="Calibri" pitchFamily="34" charset="-120"/>
              </a:rPr>
              <a:t>Every money app on the market was built for someone who already had a job, an ID, and a checking account.
</a:t>
            </a:r>
            <a:endParaRPr lang="en-US" sz="1600" dirty="0"/>
          </a:p>
          <a:p>
            <a:pPr indent="0" marL="0">
              <a:spcAft>
                <a:spcPts val="800"/>
              </a:spcAft>
              <a:buNone/>
            </a:pPr>
            <a:r>
              <a:rPr lang="en-US" sz="1600" dirty="0">
                <a:solidFill>
                  <a:srgbClr val="DAA520"/>
                </a:solidFill>
                <a:latin typeface="Calibri" pitchFamily="34" charset="0"/>
                <a:ea typeface="Calibri" pitchFamily="34" charset="-122"/>
                <a:cs typeface="Calibri" pitchFamily="34" charset="-120"/>
              </a:rPr>
              <a:t>• </a:t>
            </a:r>
            <a:pPr indent="0" marL="0">
              <a:spcAft>
                <a:spcPts val="800"/>
              </a:spcAft>
              <a:buNone/>
            </a:pPr>
            <a:r>
              <a:rPr lang="en-US" sz="1600" dirty="0">
                <a:solidFill>
                  <a:srgbClr val="FAF7EE"/>
                </a:solidFill>
                <a:latin typeface="Calibri" pitchFamily="34" charset="0"/>
                <a:ea typeface="Calibri" pitchFamily="34" charset="-122"/>
                <a:cs typeface="Calibri" pitchFamily="34" charset="-120"/>
              </a:rPr>
              <a:t>I asked: what if the planning tool was built FOR that window — sixth-grade reading level, no analytics, works offline, hands-out-of-pocket private?</a:t>
            </a:r>
            <a:endParaRPr lang="en-US" sz="1600" dirty="0"/>
          </a:p>
        </p:txBody>
      </p:sp>
      <p:sp>
        <p:nvSpPr>
          <p:cNvPr id="5" name="Text 3"/>
          <p:cNvSpPr/>
          <p:nvPr/>
        </p:nvSpPr>
        <p:spPr>
          <a:xfrm>
            <a:off x="457200" y="4434840"/>
            <a:ext cx="8229600" cy="365760"/>
          </a:xfrm>
          <a:prstGeom prst="rect">
            <a:avLst/>
          </a:prstGeom>
          <a:noFill/>
          <a:ln/>
        </p:spPr>
        <p:txBody>
          <a:bodyPr wrap="square" rtlCol="0" anchor="ctr"/>
          <a:lstStyle/>
          <a:p>
            <a:pPr algn="ctr" indent="0" marL="0">
              <a:buNone/>
            </a:pPr>
            <a:r>
              <a:rPr lang="en-US" sz="1400" i="1" dirty="0">
                <a:solidFill>
                  <a:srgbClr val="FFD970"/>
                </a:solidFill>
                <a:latin typeface="Georgia" pitchFamily="34" charset="0"/>
                <a:ea typeface="Georgia" pitchFamily="34" charset="-122"/>
                <a:cs typeface="Georgia" pitchFamily="34" charset="-120"/>
              </a:rPr>
              <a:t>"The last mile of school. The first mile of freedom." — that became the brief.</a:t>
            </a:r>
            <a:endParaRPr lang="en-US" sz="1400" dirty="0"/>
          </a:p>
        </p:txBody>
      </p:sp>
      <p:sp>
        <p:nvSpPr>
          <p:cNvPr id="6" name="Text 4"/>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B5B0A8"/>
                </a:solidFill>
                <a:latin typeface="Calibri" pitchFamily="34" charset="0"/>
                <a:ea typeface="Calibri" pitchFamily="34" charset="-122"/>
                <a:cs typeface="Calibri" pitchFamily="34" charset="-120"/>
              </a:rPr>
              <a:t>03 / 30</a:t>
            </a:r>
            <a:endParaRPr lang="en-US" sz="900" dirty="0"/>
          </a:p>
        </p:txBody>
      </p:sp>
      <p:sp>
        <p:nvSpPr>
          <p:cNvPr id="7" name="Text 5"/>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B5B0A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THE SOLUTION</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3000" b="1" dirty="0">
                <a:solidFill>
                  <a:srgbClr val="1F1F1F"/>
                </a:solidFill>
                <a:latin typeface="Georgia" pitchFamily="34" charset="0"/>
                <a:ea typeface="Georgia" pitchFamily="34" charset="-122"/>
                <a:cs typeface="Georgia" pitchFamily="34" charset="-120"/>
              </a:rPr>
              <a:t>Three doors in. One mission.</a:t>
            </a:r>
            <a:endParaRPr lang="en-US" sz="3000" dirty="0"/>
          </a:p>
        </p:txBody>
      </p:sp>
      <p:sp>
        <p:nvSpPr>
          <p:cNvPr id="4" name="Shape 2"/>
          <p:cNvSpPr/>
          <p:nvPr/>
        </p:nvSpPr>
        <p:spPr>
          <a:xfrm>
            <a:off x="548640" y="1600200"/>
            <a:ext cx="777240" cy="777240"/>
          </a:xfrm>
          <a:prstGeom prst="ellipse">
            <a:avLst/>
          </a:prstGeom>
          <a:solidFill>
            <a:srgbClr val="DAA520"/>
          </a:solidFill>
          <a:ln w="12700">
            <a:solidFill>
              <a:srgbClr val="DAA520"/>
            </a:solidFill>
            <a:prstDash val="solid"/>
          </a:ln>
        </p:spPr>
      </p:sp>
      <p:sp>
        <p:nvSpPr>
          <p:cNvPr id="5" name="Text 3"/>
          <p:cNvSpPr/>
          <p:nvPr/>
        </p:nvSpPr>
        <p:spPr>
          <a:xfrm>
            <a:off x="548640" y="1600200"/>
            <a:ext cx="777240" cy="777240"/>
          </a:xfrm>
          <a:prstGeom prst="rect">
            <a:avLst/>
          </a:prstGeom>
          <a:noFill/>
          <a:ln/>
        </p:spPr>
        <p:txBody>
          <a:bodyPr wrap="square" rtlCol="0" anchor="ctr"/>
          <a:lstStyle/>
          <a:p>
            <a:pPr algn="ctr" indent="0" marL="0">
              <a:buNone/>
            </a:pPr>
            <a:r>
              <a:rPr lang="en-US" sz="2600" dirty="0">
                <a:solidFill>
                  <a:srgbClr val="0E0E0E"/>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1554480" y="1645920"/>
            <a:ext cx="2926080" cy="640080"/>
          </a:xfrm>
          <a:prstGeom prst="rect">
            <a:avLst/>
          </a:prstGeom>
          <a:noFill/>
          <a:ln/>
        </p:spPr>
        <p:txBody>
          <a:bodyPr wrap="square" rtlCol="0" anchor="ctr"/>
          <a:lstStyle/>
          <a:p>
            <a:pPr indent="0" marL="0">
              <a:buNone/>
            </a:pPr>
            <a:r>
              <a:rPr lang="en-US" sz="1700" b="1" dirty="0">
                <a:solidFill>
                  <a:srgbClr val="1F1F1F"/>
                </a:solidFill>
                <a:latin typeface="Calibri" pitchFamily="34" charset="0"/>
                <a:ea typeface="Calibri" pitchFamily="34" charset="-122"/>
                <a:cs typeface="Calibri" pitchFamily="34" charset="-120"/>
              </a:rPr>
              <a:t>Freedom Plan Panel</a:t>
            </a:r>
            <a:endParaRPr lang="en-US" sz="1700" dirty="0"/>
          </a:p>
          <a:p>
            <a:pPr indent="0" marL="0">
              <a:buNone/>
            </a:pPr>
            <a:r>
              <a:rPr lang="en-US" sz="1100" i="1" spc="400" kern="0" dirty="0">
                <a:solidFill>
                  <a:srgbClr val="8C6810"/>
                </a:solidFill>
                <a:latin typeface="Calibri" pitchFamily="34" charset="0"/>
                <a:ea typeface="Calibri" pitchFamily="34" charset="-122"/>
                <a:cs typeface="Calibri" pitchFamily="34" charset="-120"/>
              </a:rPr>
              <a:t>60-second micro plan</a:t>
            </a:r>
            <a:endParaRPr lang="en-US" sz="1700" dirty="0"/>
          </a:p>
        </p:txBody>
      </p:sp>
      <p:sp>
        <p:nvSpPr>
          <p:cNvPr id="7" name="Text 5"/>
          <p:cNvSpPr/>
          <p:nvPr/>
        </p:nvSpPr>
        <p:spPr>
          <a:xfrm>
            <a:off x="4663440" y="1691640"/>
            <a:ext cx="4206240" cy="777240"/>
          </a:xfrm>
          <a:prstGeom prst="rect">
            <a:avLst/>
          </a:prstGeom>
          <a:noFill/>
          <a:ln/>
        </p:spPr>
        <p:txBody>
          <a:bodyPr wrap="square" rtlCol="0" anchor="ctr"/>
          <a:lstStyle/>
          <a:p>
            <a:pPr indent="0" marL="0">
              <a:buNone/>
            </a:pPr>
            <a:r>
              <a:rPr lang="en-US" sz="1200" dirty="0">
                <a:solidFill>
                  <a:srgbClr val="4A4A42"/>
                </a:solidFill>
                <a:latin typeface="Calibri" pitchFamily="34" charset="0"/>
                <a:ea typeface="Calibri" pitchFamily="34" charset="-122"/>
                <a:cs typeface="Calibri" pitchFamily="34" charset="-120"/>
              </a:rPr>
              <a:t>Bottom sheet on every page. Tap the 8 needs that apply, get a printable starter 72-hour list — usable inside a facility tablet.</a:t>
            </a:r>
            <a:endParaRPr lang="en-US" sz="1200" dirty="0"/>
          </a:p>
        </p:txBody>
      </p:sp>
      <p:sp>
        <p:nvSpPr>
          <p:cNvPr id="8" name="Shape 6"/>
          <p:cNvSpPr/>
          <p:nvPr/>
        </p:nvSpPr>
        <p:spPr>
          <a:xfrm>
            <a:off x="548640" y="2560320"/>
            <a:ext cx="777240" cy="777240"/>
          </a:xfrm>
          <a:prstGeom prst="ellipse">
            <a:avLst/>
          </a:prstGeom>
          <a:solidFill>
            <a:srgbClr val="DAA520"/>
          </a:solidFill>
          <a:ln w="12700">
            <a:solidFill>
              <a:srgbClr val="DAA520"/>
            </a:solidFill>
            <a:prstDash val="solid"/>
          </a:ln>
        </p:spPr>
      </p:sp>
      <p:sp>
        <p:nvSpPr>
          <p:cNvPr id="9" name="Text 7"/>
          <p:cNvSpPr/>
          <p:nvPr/>
        </p:nvSpPr>
        <p:spPr>
          <a:xfrm>
            <a:off x="548640" y="2560320"/>
            <a:ext cx="777240" cy="777240"/>
          </a:xfrm>
          <a:prstGeom prst="rect">
            <a:avLst/>
          </a:prstGeom>
          <a:noFill/>
          <a:ln/>
        </p:spPr>
        <p:txBody>
          <a:bodyPr wrap="square" rtlCol="0" anchor="ctr"/>
          <a:lstStyle/>
          <a:p>
            <a:pPr algn="ctr" indent="0" marL="0">
              <a:buNone/>
            </a:pPr>
            <a:r>
              <a:rPr lang="en-US" sz="2600" dirty="0">
                <a:solidFill>
                  <a:srgbClr val="0E0E0E"/>
                </a:solidFill>
                <a:latin typeface="Calibri" pitchFamily="34" charset="0"/>
                <a:ea typeface="Calibri" pitchFamily="34" charset="-122"/>
                <a:cs typeface="Calibri" pitchFamily="34" charset="-120"/>
              </a:rPr>
              <a:t>🛠</a:t>
            </a:r>
            <a:endParaRPr lang="en-US" sz="2600" dirty="0"/>
          </a:p>
        </p:txBody>
      </p:sp>
      <p:sp>
        <p:nvSpPr>
          <p:cNvPr id="10" name="Text 8"/>
          <p:cNvSpPr/>
          <p:nvPr/>
        </p:nvSpPr>
        <p:spPr>
          <a:xfrm>
            <a:off x="1554480" y="2606040"/>
            <a:ext cx="2926080" cy="640080"/>
          </a:xfrm>
          <a:prstGeom prst="rect">
            <a:avLst/>
          </a:prstGeom>
          <a:noFill/>
          <a:ln/>
        </p:spPr>
        <p:txBody>
          <a:bodyPr wrap="square" rtlCol="0" anchor="ctr"/>
          <a:lstStyle/>
          <a:p>
            <a:pPr indent="0" marL="0">
              <a:buNone/>
            </a:pPr>
            <a:r>
              <a:rPr lang="en-US" sz="1700" b="1" dirty="0">
                <a:solidFill>
                  <a:srgbClr val="1F1F1F"/>
                </a:solidFill>
                <a:latin typeface="Calibri" pitchFamily="34" charset="0"/>
                <a:ea typeface="Calibri" pitchFamily="34" charset="-122"/>
                <a:cs typeface="Calibri" pitchFamily="34" charset="-120"/>
              </a:rPr>
              <a:t>Customizable Plan</a:t>
            </a:r>
            <a:endParaRPr lang="en-US" sz="1700" dirty="0"/>
          </a:p>
          <a:p>
            <a:pPr indent="0" marL="0">
              <a:buNone/>
            </a:pPr>
            <a:r>
              <a:rPr lang="en-US" sz="1100" i="1" spc="400" kern="0" dirty="0">
                <a:solidFill>
                  <a:srgbClr val="8C6810"/>
                </a:solidFill>
                <a:latin typeface="Calibri" pitchFamily="34" charset="0"/>
                <a:ea typeface="Calibri" pitchFamily="34" charset="-122"/>
                <a:cs typeface="Calibri" pitchFamily="34" charset="-120"/>
              </a:rPr>
              <a:t>The 90-day macro flow</a:t>
            </a:r>
            <a:endParaRPr lang="en-US" sz="1700" dirty="0"/>
          </a:p>
        </p:txBody>
      </p:sp>
      <p:sp>
        <p:nvSpPr>
          <p:cNvPr id="11" name="Text 9"/>
          <p:cNvSpPr/>
          <p:nvPr/>
        </p:nvSpPr>
        <p:spPr>
          <a:xfrm>
            <a:off x="4663440" y="2651760"/>
            <a:ext cx="4206240" cy="777240"/>
          </a:xfrm>
          <a:prstGeom prst="rect">
            <a:avLst/>
          </a:prstGeom>
          <a:noFill/>
          <a:ln/>
        </p:spPr>
        <p:txBody>
          <a:bodyPr wrap="square" rtlCol="0" anchor="ctr"/>
          <a:lstStyle/>
          <a:p>
            <a:pPr indent="0" marL="0">
              <a:buNone/>
            </a:pPr>
            <a:r>
              <a:rPr lang="en-US" sz="1200" dirty="0">
                <a:solidFill>
                  <a:srgbClr val="4A4A42"/>
                </a:solidFill>
                <a:latin typeface="Calibri" pitchFamily="34" charset="0"/>
                <a:ea typeface="Calibri" pitchFamily="34" charset="-122"/>
                <a:cs typeface="Calibri" pitchFamily="34" charset="-120"/>
              </a:rPr>
              <a:t>7 steps · ~50 smart suggestion chips · 4 quick-start templates · plan-health score · cloud sync (opt-in).</a:t>
            </a:r>
            <a:endParaRPr lang="en-US" sz="1200" dirty="0"/>
          </a:p>
        </p:txBody>
      </p:sp>
      <p:sp>
        <p:nvSpPr>
          <p:cNvPr id="12" name="Shape 10"/>
          <p:cNvSpPr/>
          <p:nvPr/>
        </p:nvSpPr>
        <p:spPr>
          <a:xfrm>
            <a:off x="548640" y="3520440"/>
            <a:ext cx="777240" cy="777240"/>
          </a:xfrm>
          <a:prstGeom prst="ellipse">
            <a:avLst/>
          </a:prstGeom>
          <a:solidFill>
            <a:srgbClr val="DAA520"/>
          </a:solidFill>
          <a:ln w="12700">
            <a:solidFill>
              <a:srgbClr val="DAA520"/>
            </a:solidFill>
            <a:prstDash val="solid"/>
          </a:ln>
        </p:spPr>
      </p:sp>
      <p:sp>
        <p:nvSpPr>
          <p:cNvPr id="13" name="Text 11"/>
          <p:cNvSpPr/>
          <p:nvPr/>
        </p:nvSpPr>
        <p:spPr>
          <a:xfrm>
            <a:off x="548640" y="3520440"/>
            <a:ext cx="777240" cy="777240"/>
          </a:xfrm>
          <a:prstGeom prst="rect">
            <a:avLst/>
          </a:prstGeom>
          <a:noFill/>
          <a:ln/>
        </p:spPr>
        <p:txBody>
          <a:bodyPr wrap="square" rtlCol="0" anchor="ctr"/>
          <a:lstStyle/>
          <a:p>
            <a:pPr algn="ctr" indent="0" marL="0">
              <a:buNone/>
            </a:pPr>
            <a:r>
              <a:rPr lang="en-US" sz="2600" dirty="0">
                <a:solidFill>
                  <a:srgbClr val="0E0E0E"/>
                </a:solidFill>
                <a:latin typeface="Calibri" pitchFamily="34" charset="0"/>
                <a:ea typeface="Calibri" pitchFamily="34" charset="-122"/>
                <a:cs typeface="Calibri" pitchFamily="34" charset="-120"/>
              </a:rPr>
              <a:t>👁</a:t>
            </a:r>
            <a:endParaRPr lang="en-US" sz="2600" dirty="0"/>
          </a:p>
        </p:txBody>
      </p:sp>
      <p:sp>
        <p:nvSpPr>
          <p:cNvPr id="14" name="Text 12"/>
          <p:cNvSpPr/>
          <p:nvPr/>
        </p:nvSpPr>
        <p:spPr>
          <a:xfrm>
            <a:off x="1554480" y="3566160"/>
            <a:ext cx="2926080" cy="640080"/>
          </a:xfrm>
          <a:prstGeom prst="rect">
            <a:avLst/>
          </a:prstGeom>
          <a:noFill/>
          <a:ln/>
        </p:spPr>
        <p:txBody>
          <a:bodyPr wrap="square" rtlCol="0" anchor="ctr"/>
          <a:lstStyle/>
          <a:p>
            <a:pPr indent="0" marL="0">
              <a:buNone/>
            </a:pPr>
            <a:r>
              <a:rPr lang="en-US" sz="1700" b="1" dirty="0">
                <a:solidFill>
                  <a:srgbClr val="1F1F1F"/>
                </a:solidFill>
                <a:latin typeface="Calibri" pitchFamily="34" charset="0"/>
                <a:ea typeface="Calibri" pitchFamily="34" charset="-122"/>
                <a:cs typeface="Calibri" pitchFamily="34" charset="-120"/>
              </a:rPr>
              <a:t>My Plan View</a:t>
            </a:r>
            <a:endParaRPr lang="en-US" sz="1700" dirty="0"/>
          </a:p>
          <a:p>
            <a:pPr indent="0" marL="0">
              <a:buNone/>
            </a:pPr>
            <a:r>
              <a:rPr lang="en-US" sz="1100" i="1" spc="400" kern="0" dirty="0">
                <a:solidFill>
                  <a:srgbClr val="8C6810"/>
                </a:solidFill>
                <a:latin typeface="Calibri" pitchFamily="34" charset="0"/>
                <a:ea typeface="Calibri" pitchFamily="34" charset="-122"/>
                <a:cs typeface="Calibri" pitchFamily="34" charset="-120"/>
              </a:rPr>
              <a:t>Read-only inline summary</a:t>
            </a:r>
            <a:endParaRPr lang="en-US" sz="1700" dirty="0"/>
          </a:p>
        </p:txBody>
      </p:sp>
      <p:sp>
        <p:nvSpPr>
          <p:cNvPr id="15" name="Text 13"/>
          <p:cNvSpPr/>
          <p:nvPr/>
        </p:nvSpPr>
        <p:spPr>
          <a:xfrm>
            <a:off x="4663440" y="3611880"/>
            <a:ext cx="4206240" cy="777240"/>
          </a:xfrm>
          <a:prstGeom prst="rect">
            <a:avLst/>
          </a:prstGeom>
          <a:noFill/>
          <a:ln/>
        </p:spPr>
        <p:txBody>
          <a:bodyPr wrap="square" rtlCol="0" anchor="ctr"/>
          <a:lstStyle/>
          <a:p>
            <a:pPr indent="0" marL="0">
              <a:buNone/>
            </a:pPr>
            <a:r>
              <a:rPr lang="en-US" sz="1200" dirty="0">
                <a:solidFill>
                  <a:srgbClr val="4A4A42"/>
                </a:solidFill>
                <a:latin typeface="Calibri" pitchFamily="34" charset="0"/>
                <a:ea typeface="Calibri" pitchFamily="34" charset="-122"/>
                <a:cs typeface="Calibri" pitchFamily="34" charset="-120"/>
              </a:rPr>
              <a:t>See your full plan, exactly as it stands. Print it. Hand it to a case manager. Email it. Save to phone.</a:t>
            </a:r>
            <a:endParaRPr lang="en-US" sz="1200" dirty="0"/>
          </a:p>
        </p:txBody>
      </p:sp>
      <p:sp>
        <p:nvSpPr>
          <p:cNvPr id="16" name="Text 14"/>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04 / 30</a:t>
            </a:r>
            <a:endParaRPr lang="en-US" sz="900" dirty="0"/>
          </a:p>
        </p:txBody>
      </p:sp>
      <p:sp>
        <p:nvSpPr>
          <p:cNvPr id="17" name="Text 15"/>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WHERE THIS FITS</a:t>
            </a:r>
            <a:endParaRPr lang="en-US" sz="1100" dirty="0"/>
          </a:p>
        </p:txBody>
      </p:sp>
      <p:sp>
        <p:nvSpPr>
          <p:cNvPr id="3" name="Text 1"/>
          <p:cNvSpPr/>
          <p:nvPr/>
        </p:nvSpPr>
        <p:spPr>
          <a:xfrm>
            <a:off x="457200" y="731520"/>
            <a:ext cx="8229600" cy="822960"/>
          </a:xfrm>
          <a:prstGeom prst="rect">
            <a:avLst/>
          </a:prstGeom>
          <a:noFill/>
          <a:ln/>
        </p:spPr>
        <p:txBody>
          <a:bodyPr wrap="square" rtlCol="0" anchor="ctr"/>
          <a:lstStyle/>
          <a:p>
            <a:pPr indent="0" marL="0">
              <a:buNone/>
            </a:pPr>
            <a:r>
              <a:rPr lang="en-US" sz="2600" b="1" dirty="0">
                <a:solidFill>
                  <a:srgbClr val="1F1F1F"/>
                </a:solidFill>
                <a:latin typeface="Georgia" pitchFamily="34" charset="0"/>
                <a:ea typeface="Georgia" pitchFamily="34" charset="-122"/>
                <a:cs typeface="Georgia" pitchFamily="34" charset="-120"/>
              </a:rPr>
              <a:t>TLM teaches inside. TLM Finance helps after.</a:t>
            </a:r>
            <a:endParaRPr lang="en-US" sz="2600" dirty="0"/>
          </a:p>
        </p:txBody>
      </p:sp>
      <p:sp>
        <p:nvSpPr>
          <p:cNvPr id="4" name="Shape 2"/>
          <p:cNvSpPr/>
          <p:nvPr/>
        </p:nvSpPr>
        <p:spPr>
          <a:xfrm>
            <a:off x="457200" y="1783080"/>
            <a:ext cx="4023360" cy="2926080"/>
          </a:xfrm>
          <a:prstGeom prst="roundRect">
            <a:avLst>
              <a:gd name="adj" fmla="val 3125"/>
            </a:avLst>
          </a:prstGeom>
          <a:solidFill>
            <a:srgbClr val="F8F4EA"/>
          </a:solidFill>
          <a:ln w="12700">
            <a:solidFill>
              <a:srgbClr val="E5DBC2"/>
            </a:solidFill>
            <a:prstDash val="solid"/>
          </a:ln>
        </p:spPr>
      </p:sp>
      <p:sp>
        <p:nvSpPr>
          <p:cNvPr id="5" name="Text 3"/>
          <p:cNvSpPr/>
          <p:nvPr/>
        </p:nvSpPr>
        <p:spPr>
          <a:xfrm>
            <a:off x="685800" y="1920240"/>
            <a:ext cx="3566160" cy="365760"/>
          </a:xfrm>
          <a:prstGeom prst="rect">
            <a:avLst/>
          </a:prstGeom>
          <a:noFill/>
          <a:ln/>
        </p:spPr>
        <p:txBody>
          <a:bodyPr wrap="square" rtlCol="0" anchor="ctr"/>
          <a:lstStyle/>
          <a:p>
            <a:pPr indent="0" marL="0">
              <a:buNone/>
            </a:pPr>
            <a:r>
              <a:rPr lang="en-US" sz="1700" b="1" dirty="0">
                <a:solidFill>
                  <a:srgbClr val="1F1F1F"/>
                </a:solidFill>
                <a:latin typeface="Georgia" pitchFamily="34" charset="0"/>
                <a:ea typeface="Georgia" pitchFamily="34" charset="-122"/>
                <a:cs typeface="Georgia" pitchFamily="34" charset="-120"/>
              </a:rPr>
              <a:t>thelastmile.org</a:t>
            </a:r>
            <a:endParaRPr lang="en-US" sz="1700" dirty="0"/>
          </a:p>
        </p:txBody>
      </p:sp>
      <p:sp>
        <p:nvSpPr>
          <p:cNvPr id="6" name="Text 4"/>
          <p:cNvSpPr/>
          <p:nvPr/>
        </p:nvSpPr>
        <p:spPr>
          <a:xfrm>
            <a:off x="685800" y="2286000"/>
            <a:ext cx="3566160" cy="274320"/>
          </a:xfrm>
          <a:prstGeom prst="rect">
            <a:avLst/>
          </a:prstGeom>
          <a:noFill/>
          <a:ln/>
        </p:spPr>
        <p:txBody>
          <a:bodyPr wrap="square" rtlCol="0" anchor="ctr"/>
          <a:lstStyle/>
          <a:p>
            <a:pPr indent="0" marL="0">
              <a:buNone/>
            </a:pPr>
            <a:r>
              <a:rPr lang="en-US" sz="1100" i="1" spc="400" kern="0" dirty="0">
                <a:solidFill>
                  <a:srgbClr val="8C6810"/>
                </a:solidFill>
                <a:latin typeface="Calibri" pitchFamily="34" charset="0"/>
                <a:ea typeface="Calibri" pitchFamily="34" charset="-122"/>
                <a:cs typeface="Calibri" pitchFamily="34" charset="-120"/>
              </a:rPr>
              <a:t>Inside the walls</a:t>
            </a:r>
            <a:endParaRPr lang="en-US" sz="1100" dirty="0"/>
          </a:p>
        </p:txBody>
      </p:sp>
      <p:sp>
        <p:nvSpPr>
          <p:cNvPr id="7" name="Text 5"/>
          <p:cNvSpPr/>
          <p:nvPr/>
        </p:nvSpPr>
        <p:spPr>
          <a:xfrm>
            <a:off x="685800" y="2651760"/>
            <a:ext cx="3566160" cy="1920240"/>
          </a:xfrm>
          <a:prstGeom prst="rect">
            <a:avLst/>
          </a:prstGeom>
          <a:noFill/>
          <a:ln/>
        </p:spPr>
        <p:txBody>
          <a:bodyPr wrap="square" rtlCol="0" anchor="ctr"/>
          <a:lstStyle/>
          <a:p>
            <a:pPr marL="342900" indent="-342900">
              <a:spcAft>
                <a:spcPts val="400"/>
              </a:spcAft>
              <a:buSzPct val="100000"/>
              <a:buChar char="•"/>
            </a:pPr>
            <a:r>
              <a:rPr lang="en-US" sz="1200" dirty="0">
                <a:solidFill>
                  <a:srgbClr val="3F3F3A"/>
                </a:solidFill>
                <a:latin typeface="Calibri" pitchFamily="34" charset="0"/>
                <a:ea typeface="Calibri" pitchFamily="34" charset="-122"/>
                <a:cs typeface="Calibri" pitchFamily="34" charset="-120"/>
              </a:rPr>
              <a:t>Coding bootcamps, audio production, entrepreneurship.</a:t>
            </a:r>
            <a:endParaRPr lang="en-US" sz="1200" dirty="0"/>
          </a:p>
          <a:p>
            <a:pPr marL="342900" indent="-342900">
              <a:spcAft>
                <a:spcPts val="400"/>
              </a:spcAft>
              <a:buSzPct val="100000"/>
              <a:buChar char="•"/>
            </a:pPr>
            <a:r>
              <a:rPr lang="en-US" sz="1200" dirty="0">
                <a:solidFill>
                  <a:srgbClr val="3F3F3A"/>
                </a:solidFill>
                <a:latin typeface="Calibri" pitchFamily="34" charset="0"/>
                <a:ea typeface="Calibri" pitchFamily="34" charset="-122"/>
                <a:cs typeface="Calibri" pitchFamily="34" charset="-120"/>
              </a:rPr>
              <a:t>13 facilities in 8 states. 1,600+ alumni. 1,000+ returned citizens.</a:t>
            </a:r>
            <a:endParaRPr lang="en-US" sz="1200" dirty="0"/>
          </a:p>
          <a:p>
            <a:pPr marL="342900" indent="-342900">
              <a:spcAft>
                <a:spcPts val="400"/>
              </a:spcAft>
              <a:buSzPct val="100000"/>
              <a:buChar char="•"/>
            </a:pPr>
            <a:r>
              <a:rPr lang="en-US" sz="1200" dirty="0">
                <a:solidFill>
                  <a:srgbClr val="3F3F3A"/>
                </a:solidFill>
                <a:latin typeface="Calibri" pitchFamily="34" charset="0"/>
                <a:ea typeface="Calibri" pitchFamily="34" charset="-122"/>
                <a:cs typeface="Calibri" pitchFamily="34" charset="-120"/>
              </a:rPr>
              <a:t>75% employment · 90% pursue further education · &lt;5% recidivism.</a:t>
            </a:r>
            <a:endParaRPr lang="en-US" sz="1200" dirty="0"/>
          </a:p>
          <a:p>
            <a:pPr marL="342900" indent="-342900">
              <a:spcAft>
                <a:spcPts val="400"/>
              </a:spcAft>
              <a:buSzPct val="100000"/>
              <a:buChar char="•"/>
            </a:pPr>
            <a:r>
              <a:rPr lang="en-US" sz="1200" dirty="0">
                <a:solidFill>
                  <a:srgbClr val="3F3F3A"/>
                </a:solidFill>
                <a:latin typeface="Calibri" pitchFamily="34" charset="0"/>
                <a:ea typeface="Calibri" pitchFamily="34" charset="-122"/>
                <a:cs typeface="Calibri" pitchFamily="34" charset="-120"/>
              </a:rPr>
              <a:t>Donor-funded. Anthropic, Google.org, Salesforce, Slack, Kellogg.</a:t>
            </a:r>
            <a:endParaRPr lang="en-US" sz="1200" dirty="0"/>
          </a:p>
        </p:txBody>
      </p:sp>
      <p:sp>
        <p:nvSpPr>
          <p:cNvPr id="8" name="Shape 6"/>
          <p:cNvSpPr/>
          <p:nvPr/>
        </p:nvSpPr>
        <p:spPr>
          <a:xfrm>
            <a:off x="4663440" y="1783080"/>
            <a:ext cx="4023360" cy="2926080"/>
          </a:xfrm>
          <a:prstGeom prst="roundRect">
            <a:avLst>
              <a:gd name="adj" fmla="val 3125"/>
            </a:avLst>
          </a:prstGeom>
          <a:solidFill>
            <a:srgbClr val="F8F4EA"/>
          </a:solidFill>
          <a:ln w="12700">
            <a:solidFill>
              <a:srgbClr val="E5DBC2"/>
            </a:solidFill>
            <a:prstDash val="solid"/>
          </a:ln>
        </p:spPr>
      </p:sp>
      <p:sp>
        <p:nvSpPr>
          <p:cNvPr id="9" name="Text 7"/>
          <p:cNvSpPr/>
          <p:nvPr/>
        </p:nvSpPr>
        <p:spPr>
          <a:xfrm>
            <a:off x="4892040" y="1920240"/>
            <a:ext cx="3566160" cy="365760"/>
          </a:xfrm>
          <a:prstGeom prst="rect">
            <a:avLst/>
          </a:prstGeom>
          <a:noFill/>
          <a:ln/>
        </p:spPr>
        <p:txBody>
          <a:bodyPr wrap="square" rtlCol="0" anchor="ctr"/>
          <a:lstStyle/>
          <a:p>
            <a:pPr indent="0" marL="0">
              <a:buNone/>
            </a:pPr>
            <a:r>
              <a:rPr lang="en-US" sz="1700" b="1" dirty="0">
                <a:solidFill>
                  <a:srgbClr val="1F1F1F"/>
                </a:solidFill>
                <a:latin typeface="Georgia" pitchFamily="34" charset="0"/>
                <a:ea typeface="Georgia" pitchFamily="34" charset="-122"/>
                <a:cs typeface="Georgia" pitchFamily="34" charset="-120"/>
              </a:rPr>
              <a:t>tlmfinance.netlify.app</a:t>
            </a:r>
            <a:endParaRPr lang="en-US" sz="1700" dirty="0"/>
          </a:p>
        </p:txBody>
      </p:sp>
      <p:sp>
        <p:nvSpPr>
          <p:cNvPr id="10" name="Text 8"/>
          <p:cNvSpPr/>
          <p:nvPr/>
        </p:nvSpPr>
        <p:spPr>
          <a:xfrm>
            <a:off x="4892040" y="2286000"/>
            <a:ext cx="3566160" cy="274320"/>
          </a:xfrm>
          <a:prstGeom prst="rect">
            <a:avLst/>
          </a:prstGeom>
          <a:noFill/>
          <a:ln/>
        </p:spPr>
        <p:txBody>
          <a:bodyPr wrap="square" rtlCol="0" anchor="ctr"/>
          <a:lstStyle/>
          <a:p>
            <a:pPr indent="0" marL="0">
              <a:buNone/>
            </a:pPr>
            <a:r>
              <a:rPr lang="en-US" sz="1100" i="1" spc="400" kern="0" dirty="0">
                <a:solidFill>
                  <a:srgbClr val="8C6810"/>
                </a:solidFill>
                <a:latin typeface="Calibri" pitchFamily="34" charset="0"/>
                <a:ea typeface="Calibri" pitchFamily="34" charset="-122"/>
                <a:cs typeface="Calibri" pitchFamily="34" charset="-120"/>
              </a:rPr>
              <a:t>After release</a:t>
            </a:r>
            <a:endParaRPr lang="en-US" sz="1100" dirty="0"/>
          </a:p>
        </p:txBody>
      </p:sp>
      <p:sp>
        <p:nvSpPr>
          <p:cNvPr id="11" name="Text 9"/>
          <p:cNvSpPr/>
          <p:nvPr/>
        </p:nvSpPr>
        <p:spPr>
          <a:xfrm>
            <a:off x="4892040" y="2651760"/>
            <a:ext cx="3566160" cy="1920240"/>
          </a:xfrm>
          <a:prstGeom prst="rect">
            <a:avLst/>
          </a:prstGeom>
          <a:noFill/>
          <a:ln/>
        </p:spPr>
        <p:txBody>
          <a:bodyPr wrap="square" rtlCol="0" anchor="ctr"/>
          <a:lstStyle/>
          <a:p>
            <a:pPr marL="342900" indent="-342900">
              <a:spcAft>
                <a:spcPts val="400"/>
              </a:spcAft>
              <a:buSzPct val="100000"/>
              <a:buChar char="•"/>
            </a:pPr>
            <a:r>
              <a:rPr lang="en-US" sz="1200" dirty="0">
                <a:solidFill>
                  <a:srgbClr val="3F3F3A"/>
                </a:solidFill>
                <a:latin typeface="Calibri" pitchFamily="34" charset="0"/>
                <a:ea typeface="Calibri" pitchFamily="34" charset="-122"/>
                <a:cs typeface="Calibri" pitchFamily="34" charset="-120"/>
              </a:rPr>
              <a:t>90-day money planner, document checklist, AI helper, vetted resources.</a:t>
            </a:r>
            <a:endParaRPr lang="en-US" sz="1200" dirty="0"/>
          </a:p>
          <a:p>
            <a:pPr marL="342900" indent="-342900">
              <a:spcAft>
                <a:spcPts val="400"/>
              </a:spcAft>
              <a:buSzPct val="100000"/>
              <a:buChar char="•"/>
            </a:pPr>
            <a:r>
              <a:rPr lang="en-US" sz="1200" dirty="0">
                <a:solidFill>
                  <a:srgbClr val="3F3F3A"/>
                </a:solidFill>
                <a:latin typeface="Calibri" pitchFamily="34" charset="0"/>
                <a:ea typeface="Calibri" pitchFamily="34" charset="-122"/>
                <a:cs typeface="Calibri" pitchFamily="34" charset="-120"/>
              </a:rPr>
              <a:t>Privacy-first. Plan stays on the device unless the user signs in.</a:t>
            </a:r>
            <a:endParaRPr lang="en-US" sz="1200" dirty="0"/>
          </a:p>
          <a:p>
            <a:pPr marL="342900" indent="-342900">
              <a:spcAft>
                <a:spcPts val="400"/>
              </a:spcAft>
              <a:buSzPct val="100000"/>
              <a:buChar char="•"/>
            </a:pPr>
            <a:r>
              <a:rPr lang="en-US" sz="1200" dirty="0">
                <a:solidFill>
                  <a:srgbClr val="3F3F3A"/>
                </a:solidFill>
                <a:latin typeface="Calibri" pitchFamily="34" charset="0"/>
                <a:ea typeface="Calibri" pitchFamily="34" charset="-122"/>
                <a:cs typeface="Calibri" pitchFamily="34" charset="-120"/>
              </a:rPr>
              <a:t>Mobile-first PWA. Works offline. No analytics. No third-party fonts.</a:t>
            </a:r>
            <a:endParaRPr lang="en-US" sz="1200" dirty="0"/>
          </a:p>
          <a:p>
            <a:pPr marL="342900" indent="-342900">
              <a:spcAft>
                <a:spcPts val="400"/>
              </a:spcAft>
              <a:buSzPct val="100000"/>
              <a:buChar char="•"/>
            </a:pPr>
            <a:r>
              <a:rPr lang="en-US" sz="1200" dirty="0">
                <a:solidFill>
                  <a:srgbClr val="3F3F3A"/>
                </a:solidFill>
                <a:latin typeface="Calibri" pitchFamily="34" charset="0"/>
                <a:ea typeface="Calibri" pitchFamily="34" charset="-122"/>
                <a:cs typeface="Calibri" pitchFamily="34" charset="-120"/>
              </a:rPr>
              <a:t>Built to TLM's voice. Independent until permission lands.</a:t>
            </a:r>
            <a:endParaRPr lang="en-US" sz="1200" dirty="0"/>
          </a:p>
        </p:txBody>
      </p:sp>
      <p:sp>
        <p:nvSpPr>
          <p:cNvPr id="12" name="Text 10"/>
          <p:cNvSpPr/>
          <p:nvPr/>
        </p:nvSpPr>
        <p:spPr>
          <a:xfrm>
            <a:off x="457200" y="4818888"/>
            <a:ext cx="8229600" cy="274320"/>
          </a:xfrm>
          <a:prstGeom prst="rect">
            <a:avLst/>
          </a:prstGeom>
          <a:noFill/>
          <a:ln/>
        </p:spPr>
        <p:txBody>
          <a:bodyPr wrap="square" rtlCol="0" anchor="ctr"/>
          <a:lstStyle/>
          <a:p>
            <a:pPr algn="ctr" indent="0" marL="0">
              <a:buNone/>
            </a:pPr>
            <a:r>
              <a:rPr lang="en-US" sz="1200" i="1" dirty="0">
                <a:solidFill>
                  <a:srgbClr val="8C6810"/>
                </a:solidFill>
                <a:latin typeface="Calibri" pitchFamily="34" charset="0"/>
                <a:ea typeface="Calibri" pitchFamily="34" charset="-122"/>
                <a:cs typeface="Calibri" pitchFamily="34" charset="-120"/>
              </a:rPr>
              <a:t>Two surfaces, one population, one mission. Complementary — not competitive.</a:t>
            </a:r>
            <a:endParaRPr lang="en-US" sz="1200" dirty="0"/>
          </a:p>
        </p:txBody>
      </p:sp>
      <p:sp>
        <p:nvSpPr>
          <p:cNvPr id="13" name="Text 11"/>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05 / 30</a:t>
            </a:r>
            <a:endParaRPr lang="en-US" sz="900" dirty="0"/>
          </a:p>
        </p:txBody>
      </p:sp>
      <p:sp>
        <p:nvSpPr>
          <p:cNvPr id="14" name="Text 12"/>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SITE ARCHITECTURE</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F1F1F"/>
                </a:solidFill>
                <a:latin typeface="Georgia" pitchFamily="34" charset="0"/>
                <a:ea typeface="Georgia" pitchFamily="34" charset="-122"/>
                <a:cs typeface="Georgia" pitchFamily="34" charset="-120"/>
              </a:rPr>
              <a:t>13 pages. One coherent journey.</a:t>
            </a:r>
            <a:endParaRPr lang="en-US" sz="2800" dirty="0"/>
          </a:p>
        </p:txBody>
      </p:sp>
      <p:sp>
        <p:nvSpPr>
          <p:cNvPr id="4" name="Shape 2"/>
          <p:cNvSpPr/>
          <p:nvPr/>
        </p:nvSpPr>
        <p:spPr>
          <a:xfrm>
            <a:off x="457200" y="1554480"/>
            <a:ext cx="2697480" cy="640080"/>
          </a:xfrm>
          <a:prstGeom prst="roundRect">
            <a:avLst>
              <a:gd name="adj" fmla="val 11429"/>
            </a:avLst>
          </a:prstGeom>
          <a:solidFill>
            <a:srgbClr val="F8F4EA"/>
          </a:solidFill>
          <a:ln w="12700">
            <a:solidFill>
              <a:srgbClr val="E5DBC2"/>
            </a:solidFill>
            <a:prstDash val="solid"/>
          </a:ln>
        </p:spPr>
      </p:sp>
      <p:sp>
        <p:nvSpPr>
          <p:cNvPr id="5" name="Text 3"/>
          <p:cNvSpPr/>
          <p:nvPr/>
        </p:nvSpPr>
        <p:spPr>
          <a:xfrm>
            <a:off x="621792" y="1627632"/>
            <a:ext cx="2468880" cy="50292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Home</a:t>
            </a:r>
            <a:endParaRPr lang="en-US" sz="1300" dirty="0"/>
          </a:p>
          <a:p>
            <a:pPr indent="0" marL="0">
              <a:buNone/>
            </a:pPr>
            <a:r>
              <a:rPr lang="en-US" sz="950" dirty="0">
                <a:solidFill>
                  <a:srgbClr val="8C6810"/>
                </a:solidFill>
                <a:latin typeface="Calibri" pitchFamily="34" charset="0"/>
                <a:ea typeface="Calibri" pitchFamily="34" charset="-122"/>
                <a:cs typeface="Calibri" pitchFamily="34" charset="-120"/>
              </a:rPr>
              <a:t>index.html  ·  Landing</a:t>
            </a:r>
            <a:endParaRPr lang="en-US" sz="1300" dirty="0"/>
          </a:p>
        </p:txBody>
      </p:sp>
      <p:sp>
        <p:nvSpPr>
          <p:cNvPr id="6" name="Shape 4"/>
          <p:cNvSpPr/>
          <p:nvPr/>
        </p:nvSpPr>
        <p:spPr>
          <a:xfrm>
            <a:off x="3246120" y="1554480"/>
            <a:ext cx="2697480" cy="640080"/>
          </a:xfrm>
          <a:prstGeom prst="roundRect">
            <a:avLst>
              <a:gd name="adj" fmla="val 11429"/>
            </a:avLst>
          </a:prstGeom>
          <a:solidFill>
            <a:srgbClr val="F8F4EA"/>
          </a:solidFill>
          <a:ln w="12700">
            <a:solidFill>
              <a:srgbClr val="E5DBC2"/>
            </a:solidFill>
            <a:prstDash val="solid"/>
          </a:ln>
        </p:spPr>
      </p:sp>
      <p:sp>
        <p:nvSpPr>
          <p:cNvPr id="7" name="Text 5"/>
          <p:cNvSpPr/>
          <p:nvPr/>
        </p:nvSpPr>
        <p:spPr>
          <a:xfrm>
            <a:off x="3410712" y="1627632"/>
            <a:ext cx="2468880" cy="50292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Planner</a:t>
            </a:r>
            <a:endParaRPr lang="en-US" sz="1300" dirty="0"/>
          </a:p>
          <a:p>
            <a:pPr indent="0" marL="0">
              <a:buNone/>
            </a:pPr>
            <a:r>
              <a:rPr lang="en-US" sz="950" dirty="0">
                <a:solidFill>
                  <a:srgbClr val="8C6810"/>
                </a:solidFill>
                <a:latin typeface="Calibri" pitchFamily="34" charset="0"/>
                <a:ea typeface="Calibri" pitchFamily="34" charset="-122"/>
                <a:cs typeface="Calibri" pitchFamily="34" charset="-120"/>
              </a:rPr>
              <a:t>planner.html  ·  90-day plan</a:t>
            </a:r>
            <a:endParaRPr lang="en-US" sz="1300" dirty="0"/>
          </a:p>
        </p:txBody>
      </p:sp>
      <p:sp>
        <p:nvSpPr>
          <p:cNvPr id="8" name="Shape 6"/>
          <p:cNvSpPr/>
          <p:nvPr/>
        </p:nvSpPr>
        <p:spPr>
          <a:xfrm>
            <a:off x="6035040" y="1554480"/>
            <a:ext cx="2697480" cy="640080"/>
          </a:xfrm>
          <a:prstGeom prst="roundRect">
            <a:avLst>
              <a:gd name="adj" fmla="val 11429"/>
            </a:avLst>
          </a:prstGeom>
          <a:solidFill>
            <a:srgbClr val="F8F4EA"/>
          </a:solidFill>
          <a:ln w="12700">
            <a:solidFill>
              <a:srgbClr val="E5DBC2"/>
            </a:solidFill>
            <a:prstDash val="solid"/>
          </a:ln>
        </p:spPr>
      </p:sp>
      <p:sp>
        <p:nvSpPr>
          <p:cNvPr id="9" name="Text 7"/>
          <p:cNvSpPr/>
          <p:nvPr/>
        </p:nvSpPr>
        <p:spPr>
          <a:xfrm>
            <a:off x="6199632" y="1627632"/>
            <a:ext cx="2468880" cy="50292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My Plan</a:t>
            </a:r>
            <a:endParaRPr lang="en-US" sz="1300" dirty="0"/>
          </a:p>
          <a:p>
            <a:pPr indent="0" marL="0">
              <a:buNone/>
            </a:pPr>
            <a:r>
              <a:rPr lang="en-US" sz="950" dirty="0">
                <a:solidFill>
                  <a:srgbClr val="8C6810"/>
                </a:solidFill>
                <a:latin typeface="Calibri" pitchFamily="34" charset="0"/>
                <a:ea typeface="Calibri" pitchFamily="34" charset="-122"/>
                <a:cs typeface="Calibri" pitchFamily="34" charset="-120"/>
              </a:rPr>
              <a:t>plan.html  ·  Read-only</a:t>
            </a:r>
            <a:endParaRPr lang="en-US" sz="1300" dirty="0"/>
          </a:p>
        </p:txBody>
      </p:sp>
      <p:sp>
        <p:nvSpPr>
          <p:cNvPr id="10" name="Shape 8"/>
          <p:cNvSpPr/>
          <p:nvPr/>
        </p:nvSpPr>
        <p:spPr>
          <a:xfrm>
            <a:off x="457200" y="2267712"/>
            <a:ext cx="2697480" cy="640080"/>
          </a:xfrm>
          <a:prstGeom prst="roundRect">
            <a:avLst>
              <a:gd name="adj" fmla="val 11429"/>
            </a:avLst>
          </a:prstGeom>
          <a:solidFill>
            <a:srgbClr val="F8F4EA"/>
          </a:solidFill>
          <a:ln w="12700">
            <a:solidFill>
              <a:srgbClr val="E5DBC2"/>
            </a:solidFill>
            <a:prstDash val="solid"/>
          </a:ln>
        </p:spPr>
      </p:sp>
      <p:sp>
        <p:nvSpPr>
          <p:cNvPr id="11" name="Text 9"/>
          <p:cNvSpPr/>
          <p:nvPr/>
        </p:nvSpPr>
        <p:spPr>
          <a:xfrm>
            <a:off x="621792" y="2340864"/>
            <a:ext cx="2468880" cy="50292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Learn</a:t>
            </a:r>
            <a:endParaRPr lang="en-US" sz="1300" dirty="0"/>
          </a:p>
          <a:p>
            <a:pPr indent="0" marL="0">
              <a:buNone/>
            </a:pPr>
            <a:r>
              <a:rPr lang="en-US" sz="950" dirty="0">
                <a:solidFill>
                  <a:srgbClr val="8C6810"/>
                </a:solidFill>
                <a:latin typeface="Calibri" pitchFamily="34" charset="0"/>
                <a:ea typeface="Calibri" pitchFamily="34" charset="-122"/>
                <a:cs typeface="Calibri" pitchFamily="34" charset="-120"/>
              </a:rPr>
              <a:t>learn.html  ·  Lessons</a:t>
            </a:r>
            <a:endParaRPr lang="en-US" sz="1300" dirty="0"/>
          </a:p>
        </p:txBody>
      </p:sp>
      <p:sp>
        <p:nvSpPr>
          <p:cNvPr id="12" name="Shape 10"/>
          <p:cNvSpPr/>
          <p:nvPr/>
        </p:nvSpPr>
        <p:spPr>
          <a:xfrm>
            <a:off x="3246120" y="2267712"/>
            <a:ext cx="2697480" cy="640080"/>
          </a:xfrm>
          <a:prstGeom prst="roundRect">
            <a:avLst>
              <a:gd name="adj" fmla="val 11429"/>
            </a:avLst>
          </a:prstGeom>
          <a:solidFill>
            <a:srgbClr val="F8F4EA"/>
          </a:solidFill>
          <a:ln w="12700">
            <a:solidFill>
              <a:srgbClr val="E5DBC2"/>
            </a:solidFill>
            <a:prstDash val="solid"/>
          </a:ln>
        </p:spPr>
      </p:sp>
      <p:sp>
        <p:nvSpPr>
          <p:cNvPr id="13" name="Text 11"/>
          <p:cNvSpPr/>
          <p:nvPr/>
        </p:nvSpPr>
        <p:spPr>
          <a:xfrm>
            <a:off x="3410712" y="2340864"/>
            <a:ext cx="2468880" cy="50292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Hub</a:t>
            </a:r>
            <a:endParaRPr lang="en-US" sz="1300" dirty="0"/>
          </a:p>
          <a:p>
            <a:pPr indent="0" marL="0">
              <a:buNone/>
            </a:pPr>
            <a:r>
              <a:rPr lang="en-US" sz="950" dirty="0">
                <a:solidFill>
                  <a:srgbClr val="8C6810"/>
                </a:solidFill>
                <a:latin typeface="Calibri" pitchFamily="34" charset="0"/>
                <a:ea typeface="Calibri" pitchFamily="34" charset="-122"/>
                <a:cs typeface="Calibri" pitchFamily="34" charset="-120"/>
              </a:rPr>
              <a:t>hub.html  ·  Tracks</a:t>
            </a:r>
            <a:endParaRPr lang="en-US" sz="1300" dirty="0"/>
          </a:p>
        </p:txBody>
      </p:sp>
      <p:sp>
        <p:nvSpPr>
          <p:cNvPr id="14" name="Shape 12"/>
          <p:cNvSpPr/>
          <p:nvPr/>
        </p:nvSpPr>
        <p:spPr>
          <a:xfrm>
            <a:off x="6035040" y="2267712"/>
            <a:ext cx="2697480" cy="640080"/>
          </a:xfrm>
          <a:prstGeom prst="roundRect">
            <a:avLst>
              <a:gd name="adj" fmla="val 11429"/>
            </a:avLst>
          </a:prstGeom>
          <a:solidFill>
            <a:srgbClr val="F8F4EA"/>
          </a:solidFill>
          <a:ln w="12700">
            <a:solidFill>
              <a:srgbClr val="E5DBC2"/>
            </a:solidFill>
            <a:prstDash val="solid"/>
          </a:ln>
        </p:spPr>
      </p:sp>
      <p:sp>
        <p:nvSpPr>
          <p:cNvPr id="15" name="Text 13"/>
          <p:cNvSpPr/>
          <p:nvPr/>
        </p:nvSpPr>
        <p:spPr>
          <a:xfrm>
            <a:off x="6199632" y="2340864"/>
            <a:ext cx="2468880" cy="50292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Watch</a:t>
            </a:r>
            <a:endParaRPr lang="en-US" sz="1300" dirty="0"/>
          </a:p>
          <a:p>
            <a:pPr indent="0" marL="0">
              <a:buNone/>
            </a:pPr>
            <a:r>
              <a:rPr lang="en-US" sz="950" dirty="0">
                <a:solidFill>
                  <a:srgbClr val="8C6810"/>
                </a:solidFill>
                <a:latin typeface="Calibri" pitchFamily="34" charset="0"/>
                <a:ea typeface="Calibri" pitchFamily="34" charset="-122"/>
                <a:cs typeface="Calibri" pitchFamily="34" charset="-120"/>
              </a:rPr>
              <a:t>watch.html  ·  YouTube</a:t>
            </a:r>
            <a:endParaRPr lang="en-US" sz="1300" dirty="0"/>
          </a:p>
        </p:txBody>
      </p:sp>
      <p:sp>
        <p:nvSpPr>
          <p:cNvPr id="16" name="Shape 14"/>
          <p:cNvSpPr/>
          <p:nvPr/>
        </p:nvSpPr>
        <p:spPr>
          <a:xfrm>
            <a:off x="457200" y="2980944"/>
            <a:ext cx="2697480" cy="640080"/>
          </a:xfrm>
          <a:prstGeom prst="roundRect">
            <a:avLst>
              <a:gd name="adj" fmla="val 11429"/>
            </a:avLst>
          </a:prstGeom>
          <a:solidFill>
            <a:srgbClr val="F8F4EA"/>
          </a:solidFill>
          <a:ln w="12700">
            <a:solidFill>
              <a:srgbClr val="E5DBC2"/>
            </a:solidFill>
            <a:prstDash val="solid"/>
          </a:ln>
        </p:spPr>
      </p:sp>
      <p:sp>
        <p:nvSpPr>
          <p:cNvPr id="17" name="Text 15"/>
          <p:cNvSpPr/>
          <p:nvPr/>
        </p:nvSpPr>
        <p:spPr>
          <a:xfrm>
            <a:off x="621792" y="3054096"/>
            <a:ext cx="2468880" cy="50292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Feed</a:t>
            </a:r>
            <a:endParaRPr lang="en-US" sz="1300" dirty="0"/>
          </a:p>
          <a:p>
            <a:pPr indent="0" marL="0">
              <a:buNone/>
            </a:pPr>
            <a:r>
              <a:rPr lang="en-US" sz="950" dirty="0">
                <a:solidFill>
                  <a:srgbClr val="8C6810"/>
                </a:solidFill>
                <a:latin typeface="Calibri" pitchFamily="34" charset="0"/>
                <a:ea typeface="Calibri" pitchFamily="34" charset="-122"/>
                <a:cs typeface="Calibri" pitchFamily="34" charset="-120"/>
              </a:rPr>
              <a:t>feed.html  ·  Social timeline</a:t>
            </a:r>
            <a:endParaRPr lang="en-US" sz="1300" dirty="0"/>
          </a:p>
        </p:txBody>
      </p:sp>
      <p:sp>
        <p:nvSpPr>
          <p:cNvPr id="18" name="Shape 16"/>
          <p:cNvSpPr/>
          <p:nvPr/>
        </p:nvSpPr>
        <p:spPr>
          <a:xfrm>
            <a:off x="3246120" y="2980944"/>
            <a:ext cx="2697480" cy="640080"/>
          </a:xfrm>
          <a:prstGeom prst="roundRect">
            <a:avLst>
              <a:gd name="adj" fmla="val 11429"/>
            </a:avLst>
          </a:prstGeom>
          <a:solidFill>
            <a:srgbClr val="F8F4EA"/>
          </a:solidFill>
          <a:ln w="12700">
            <a:solidFill>
              <a:srgbClr val="E5DBC2"/>
            </a:solidFill>
            <a:prstDash val="solid"/>
          </a:ln>
        </p:spPr>
      </p:sp>
      <p:sp>
        <p:nvSpPr>
          <p:cNvPr id="19" name="Text 17"/>
          <p:cNvSpPr/>
          <p:nvPr/>
        </p:nvSpPr>
        <p:spPr>
          <a:xfrm>
            <a:off x="3410712" y="3054096"/>
            <a:ext cx="2468880" cy="50292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Radio</a:t>
            </a:r>
            <a:endParaRPr lang="en-US" sz="1300" dirty="0"/>
          </a:p>
          <a:p>
            <a:pPr indent="0" marL="0">
              <a:buNone/>
            </a:pPr>
            <a:r>
              <a:rPr lang="en-US" sz="950" dirty="0">
                <a:solidFill>
                  <a:srgbClr val="8C6810"/>
                </a:solidFill>
                <a:latin typeface="Calibri" pitchFamily="34" charset="0"/>
                <a:ea typeface="Calibri" pitchFamily="34" charset="-122"/>
                <a:cs typeface="Calibri" pitchFamily="34" charset="-120"/>
              </a:rPr>
              <a:t>radio.html  ·  TLM Radio</a:t>
            </a:r>
            <a:endParaRPr lang="en-US" sz="1300" dirty="0"/>
          </a:p>
        </p:txBody>
      </p:sp>
      <p:sp>
        <p:nvSpPr>
          <p:cNvPr id="20" name="Shape 18"/>
          <p:cNvSpPr/>
          <p:nvPr/>
        </p:nvSpPr>
        <p:spPr>
          <a:xfrm>
            <a:off x="6035040" y="2980944"/>
            <a:ext cx="2697480" cy="640080"/>
          </a:xfrm>
          <a:prstGeom prst="roundRect">
            <a:avLst>
              <a:gd name="adj" fmla="val 11429"/>
            </a:avLst>
          </a:prstGeom>
          <a:solidFill>
            <a:srgbClr val="F8F4EA"/>
          </a:solidFill>
          <a:ln w="12700">
            <a:solidFill>
              <a:srgbClr val="E5DBC2"/>
            </a:solidFill>
            <a:prstDash val="solid"/>
          </a:ln>
        </p:spPr>
      </p:sp>
      <p:sp>
        <p:nvSpPr>
          <p:cNvPr id="21" name="Text 19"/>
          <p:cNvSpPr/>
          <p:nvPr/>
        </p:nvSpPr>
        <p:spPr>
          <a:xfrm>
            <a:off x="6199632" y="3054096"/>
            <a:ext cx="2468880" cy="50292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Media</a:t>
            </a:r>
            <a:endParaRPr lang="en-US" sz="1300" dirty="0"/>
          </a:p>
          <a:p>
            <a:pPr indent="0" marL="0">
              <a:buNone/>
            </a:pPr>
            <a:r>
              <a:rPr lang="en-US" sz="950" dirty="0">
                <a:solidFill>
                  <a:srgbClr val="8C6810"/>
                </a:solidFill>
                <a:latin typeface="Calibri" pitchFamily="34" charset="0"/>
                <a:ea typeface="Calibri" pitchFamily="34" charset="-122"/>
                <a:cs typeface="Calibri" pitchFamily="34" charset="-120"/>
              </a:rPr>
              <a:t>media.html  ·  Press kit</a:t>
            </a:r>
            <a:endParaRPr lang="en-US" sz="1300" dirty="0"/>
          </a:p>
        </p:txBody>
      </p:sp>
      <p:sp>
        <p:nvSpPr>
          <p:cNvPr id="22" name="Shape 20"/>
          <p:cNvSpPr/>
          <p:nvPr/>
        </p:nvSpPr>
        <p:spPr>
          <a:xfrm>
            <a:off x="457200" y="3694176"/>
            <a:ext cx="2697480" cy="640080"/>
          </a:xfrm>
          <a:prstGeom prst="roundRect">
            <a:avLst>
              <a:gd name="adj" fmla="val 11429"/>
            </a:avLst>
          </a:prstGeom>
          <a:solidFill>
            <a:srgbClr val="F8F4EA"/>
          </a:solidFill>
          <a:ln w="12700">
            <a:solidFill>
              <a:srgbClr val="E5DBC2"/>
            </a:solidFill>
            <a:prstDash val="solid"/>
          </a:ln>
        </p:spPr>
      </p:sp>
      <p:sp>
        <p:nvSpPr>
          <p:cNvPr id="23" name="Text 21"/>
          <p:cNvSpPr/>
          <p:nvPr/>
        </p:nvSpPr>
        <p:spPr>
          <a:xfrm>
            <a:off x="621792" y="3767328"/>
            <a:ext cx="2468880" cy="50292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Privacy</a:t>
            </a:r>
            <a:endParaRPr lang="en-US" sz="1300" dirty="0"/>
          </a:p>
          <a:p>
            <a:pPr indent="0" marL="0">
              <a:buNone/>
            </a:pPr>
            <a:r>
              <a:rPr lang="en-US" sz="950" dirty="0">
                <a:solidFill>
                  <a:srgbClr val="8C6810"/>
                </a:solidFill>
                <a:latin typeface="Calibri" pitchFamily="34" charset="0"/>
                <a:ea typeface="Calibri" pitchFamily="34" charset="-122"/>
                <a:cs typeface="Calibri" pitchFamily="34" charset="-120"/>
              </a:rPr>
              <a:t>privacy.html  ·  Compliance</a:t>
            </a:r>
            <a:endParaRPr lang="en-US" sz="1300" dirty="0"/>
          </a:p>
        </p:txBody>
      </p:sp>
      <p:sp>
        <p:nvSpPr>
          <p:cNvPr id="24" name="Shape 22"/>
          <p:cNvSpPr/>
          <p:nvPr/>
        </p:nvSpPr>
        <p:spPr>
          <a:xfrm>
            <a:off x="3246120" y="3694176"/>
            <a:ext cx="2697480" cy="640080"/>
          </a:xfrm>
          <a:prstGeom prst="roundRect">
            <a:avLst>
              <a:gd name="adj" fmla="val 11429"/>
            </a:avLst>
          </a:prstGeom>
          <a:solidFill>
            <a:srgbClr val="F8F4EA"/>
          </a:solidFill>
          <a:ln w="12700">
            <a:solidFill>
              <a:srgbClr val="E5DBC2"/>
            </a:solidFill>
            <a:prstDash val="solid"/>
          </a:ln>
        </p:spPr>
      </p:sp>
      <p:sp>
        <p:nvSpPr>
          <p:cNvPr id="25" name="Text 23"/>
          <p:cNvSpPr/>
          <p:nvPr/>
        </p:nvSpPr>
        <p:spPr>
          <a:xfrm>
            <a:off x="3410712" y="3767328"/>
            <a:ext cx="2468880" cy="50292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Terms</a:t>
            </a:r>
            <a:endParaRPr lang="en-US" sz="1300" dirty="0"/>
          </a:p>
          <a:p>
            <a:pPr indent="0" marL="0">
              <a:buNone/>
            </a:pPr>
            <a:r>
              <a:rPr lang="en-US" sz="950" dirty="0">
                <a:solidFill>
                  <a:srgbClr val="8C6810"/>
                </a:solidFill>
                <a:latin typeface="Calibri" pitchFamily="34" charset="0"/>
                <a:ea typeface="Calibri" pitchFamily="34" charset="-122"/>
                <a:cs typeface="Calibri" pitchFamily="34" charset="-120"/>
              </a:rPr>
              <a:t>terms.html  ·  Compliance</a:t>
            </a:r>
            <a:endParaRPr lang="en-US" sz="1300" dirty="0"/>
          </a:p>
        </p:txBody>
      </p:sp>
      <p:sp>
        <p:nvSpPr>
          <p:cNvPr id="26" name="Shape 24"/>
          <p:cNvSpPr/>
          <p:nvPr/>
        </p:nvSpPr>
        <p:spPr>
          <a:xfrm>
            <a:off x="6035040" y="3694176"/>
            <a:ext cx="2697480" cy="640080"/>
          </a:xfrm>
          <a:prstGeom prst="roundRect">
            <a:avLst>
              <a:gd name="adj" fmla="val 11429"/>
            </a:avLst>
          </a:prstGeom>
          <a:solidFill>
            <a:srgbClr val="F8F4EA"/>
          </a:solidFill>
          <a:ln w="12700">
            <a:solidFill>
              <a:srgbClr val="E5DBC2"/>
            </a:solidFill>
            <a:prstDash val="solid"/>
          </a:ln>
        </p:spPr>
      </p:sp>
      <p:sp>
        <p:nvSpPr>
          <p:cNvPr id="27" name="Text 25"/>
          <p:cNvSpPr/>
          <p:nvPr/>
        </p:nvSpPr>
        <p:spPr>
          <a:xfrm>
            <a:off x="6199632" y="3767328"/>
            <a:ext cx="2468880" cy="50292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Data deletion</a:t>
            </a:r>
            <a:endParaRPr lang="en-US" sz="1300" dirty="0"/>
          </a:p>
          <a:p>
            <a:pPr indent="0" marL="0">
              <a:buNone/>
            </a:pPr>
            <a:r>
              <a:rPr lang="en-US" sz="950" dirty="0">
                <a:solidFill>
                  <a:srgbClr val="8C6810"/>
                </a:solidFill>
                <a:latin typeface="Calibri" pitchFamily="34" charset="0"/>
                <a:ea typeface="Calibri" pitchFamily="34" charset="-122"/>
                <a:cs typeface="Calibri" pitchFamily="34" charset="-120"/>
              </a:rPr>
              <a:t>data-deletion.html  ·  Compliance</a:t>
            </a:r>
            <a:endParaRPr lang="en-US" sz="1300" dirty="0"/>
          </a:p>
        </p:txBody>
      </p:sp>
      <p:sp>
        <p:nvSpPr>
          <p:cNvPr id="28" name="Text 26"/>
          <p:cNvSpPr/>
          <p:nvPr/>
        </p:nvSpPr>
        <p:spPr>
          <a:xfrm>
            <a:off x="457200" y="4572000"/>
            <a:ext cx="8229600" cy="274320"/>
          </a:xfrm>
          <a:prstGeom prst="rect">
            <a:avLst/>
          </a:prstGeom>
          <a:noFill/>
          <a:ln/>
        </p:spPr>
        <p:txBody>
          <a:bodyPr wrap="square" rtlCol="0" anchor="ctr"/>
          <a:lstStyle/>
          <a:p>
            <a:pPr algn="ctr" indent="0" marL="0">
              <a:buNone/>
            </a:pPr>
            <a:r>
              <a:rPr lang="en-US" sz="1100" i="1" dirty="0">
                <a:solidFill>
                  <a:srgbClr val="8C6810"/>
                </a:solidFill>
                <a:latin typeface="Calibri" pitchFamily="34" charset="0"/>
                <a:ea typeface="Calibri" pitchFamily="34" charset="-122"/>
                <a:cs typeface="Calibri" pitchFamily="34" charset="-120"/>
              </a:rPr>
              <a:t>+ admin.html (password-gated owner panel) + Mile High Club (internal presentation hub at /present.html)</a:t>
            </a:r>
            <a:endParaRPr lang="en-US" sz="1100" dirty="0"/>
          </a:p>
        </p:txBody>
      </p:sp>
      <p:sp>
        <p:nvSpPr>
          <p:cNvPr id="29" name="Text 27"/>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06 / 30</a:t>
            </a:r>
            <a:endParaRPr lang="en-US" sz="900" dirty="0"/>
          </a:p>
        </p:txBody>
      </p:sp>
      <p:sp>
        <p:nvSpPr>
          <p:cNvPr id="30" name="Text 28"/>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DAA520"/>
                </a:solidFill>
                <a:latin typeface="Calibri" pitchFamily="34" charset="0"/>
                <a:ea typeface="Calibri" pitchFamily="34" charset="-122"/>
                <a:cs typeface="Calibri" pitchFamily="34" charset="-120"/>
              </a:rPr>
              <a:t>WALKTHROUGH 1 · FREEDOM PLAN PANEL</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400" b="1" dirty="0">
                <a:solidFill>
                  <a:srgbClr val="FAF7EE"/>
                </a:solidFill>
                <a:latin typeface="Georgia" pitchFamily="34" charset="0"/>
                <a:ea typeface="Georgia" pitchFamily="34" charset="-122"/>
                <a:cs typeface="Georgia" pitchFamily="34" charset="-120"/>
              </a:rPr>
              <a:t>60-second micro plan. Pops up on every page.</a:t>
            </a:r>
            <a:endParaRPr lang="en-US" sz="2400" dirty="0"/>
          </a:p>
        </p:txBody>
      </p:sp>
      <p:sp>
        <p:nvSpPr>
          <p:cNvPr id="4" name="Shape 2"/>
          <p:cNvSpPr/>
          <p:nvPr/>
        </p:nvSpPr>
        <p:spPr>
          <a:xfrm>
            <a:off x="457200" y="1554480"/>
            <a:ext cx="8229600" cy="3108960"/>
          </a:xfrm>
          <a:prstGeom prst="roundRect">
            <a:avLst>
              <a:gd name="adj" fmla="val 5882"/>
            </a:avLst>
          </a:prstGeom>
          <a:solidFill>
            <a:srgbClr val="1A1A1A"/>
          </a:solidFill>
          <a:ln w="12700">
            <a:solidFill>
              <a:srgbClr val="DAA520"/>
            </a:solidFill>
            <a:prstDash val="solid"/>
          </a:ln>
        </p:spPr>
      </p:sp>
      <p:sp>
        <p:nvSpPr>
          <p:cNvPr id="5" name="Shape 3"/>
          <p:cNvSpPr/>
          <p:nvPr/>
        </p:nvSpPr>
        <p:spPr>
          <a:xfrm>
            <a:off x="4206240" y="1691640"/>
            <a:ext cx="731520" cy="73152"/>
          </a:xfrm>
          <a:prstGeom prst="roundRect">
            <a:avLst>
              <a:gd name="adj" fmla="val 50000"/>
            </a:avLst>
          </a:prstGeom>
          <a:solidFill>
            <a:srgbClr val="B5B0A8"/>
          </a:solidFill>
          <a:ln w="12700">
            <a:solidFill>
              <a:srgbClr val="B5B0A8"/>
            </a:solidFill>
            <a:prstDash val="solid"/>
          </a:ln>
        </p:spPr>
      </p:sp>
      <p:sp>
        <p:nvSpPr>
          <p:cNvPr id="6" name="Text 4"/>
          <p:cNvSpPr/>
          <p:nvPr/>
        </p:nvSpPr>
        <p:spPr>
          <a:xfrm>
            <a:off x="777240" y="1828800"/>
            <a:ext cx="4572000" cy="274320"/>
          </a:xfrm>
          <a:prstGeom prst="rect">
            <a:avLst/>
          </a:prstGeom>
          <a:noFill/>
          <a:ln/>
        </p:spPr>
        <p:txBody>
          <a:bodyPr wrap="square" rtlCol="0" anchor="ctr"/>
          <a:lstStyle/>
          <a:p>
            <a:pPr indent="0" marL="0">
              <a:buNone/>
            </a:pPr>
            <a:r>
              <a:rPr lang="en-US" sz="1100" b="1" spc="800" kern="0" dirty="0">
                <a:solidFill>
                  <a:srgbClr val="DAA520"/>
                </a:solidFill>
                <a:latin typeface="Calibri" pitchFamily="34" charset="0"/>
                <a:ea typeface="Calibri" pitchFamily="34" charset="-122"/>
                <a:cs typeface="Calibri" pitchFamily="34" charset="-120"/>
              </a:rPr>
              <a:t>FREEDOM PLAN PANEL</a:t>
            </a:r>
            <a:endParaRPr lang="en-US" sz="1100" dirty="0"/>
          </a:p>
        </p:txBody>
      </p:sp>
      <p:sp>
        <p:nvSpPr>
          <p:cNvPr id="7" name="Text 5"/>
          <p:cNvSpPr/>
          <p:nvPr/>
        </p:nvSpPr>
        <p:spPr>
          <a:xfrm>
            <a:off x="777240" y="2103120"/>
            <a:ext cx="7680960" cy="457200"/>
          </a:xfrm>
          <a:prstGeom prst="rect">
            <a:avLst/>
          </a:prstGeom>
          <a:noFill/>
          <a:ln/>
        </p:spPr>
        <p:txBody>
          <a:bodyPr wrap="square" rtlCol="0" anchor="ctr"/>
          <a:lstStyle/>
          <a:p>
            <a:pPr indent="0" marL="0">
              <a:buNone/>
            </a:pPr>
            <a:r>
              <a:rPr lang="en-US" sz="2200" b="1" dirty="0">
                <a:solidFill>
                  <a:srgbClr val="FAF7EE"/>
                </a:solidFill>
                <a:latin typeface="Georgia" pitchFamily="34" charset="0"/>
                <a:ea typeface="Georgia" pitchFamily="34" charset="-122"/>
                <a:cs typeface="Georgia" pitchFamily="34" charset="-120"/>
              </a:rPr>
              <a:t>What do you need first?</a:t>
            </a:r>
            <a:endParaRPr lang="en-US" sz="2200" dirty="0"/>
          </a:p>
        </p:txBody>
      </p:sp>
      <p:sp>
        <p:nvSpPr>
          <p:cNvPr id="8" name="Shape 6"/>
          <p:cNvSpPr/>
          <p:nvPr/>
        </p:nvSpPr>
        <p:spPr>
          <a:xfrm>
            <a:off x="777240" y="2697480"/>
            <a:ext cx="1691640" cy="411480"/>
          </a:xfrm>
          <a:prstGeom prst="roundRect">
            <a:avLst>
              <a:gd name="adj" fmla="val 17778"/>
            </a:avLst>
          </a:prstGeom>
          <a:solidFill>
            <a:srgbClr val="DAA520"/>
          </a:solidFill>
          <a:ln w="12700">
            <a:solidFill>
              <a:srgbClr val="DAA520"/>
            </a:solidFill>
            <a:prstDash val="solid"/>
          </a:ln>
        </p:spPr>
      </p:sp>
      <p:sp>
        <p:nvSpPr>
          <p:cNvPr id="9" name="Text 7"/>
          <p:cNvSpPr/>
          <p:nvPr/>
        </p:nvSpPr>
        <p:spPr>
          <a:xfrm>
            <a:off x="777240" y="2697480"/>
            <a:ext cx="1691640" cy="411480"/>
          </a:xfrm>
          <a:prstGeom prst="rect">
            <a:avLst/>
          </a:prstGeom>
          <a:noFill/>
          <a:ln/>
        </p:spPr>
        <p:txBody>
          <a:bodyPr wrap="square" rtlCol="0" anchor="ctr"/>
          <a:lstStyle/>
          <a:p>
            <a:pPr algn="ctr" indent="0" marL="0">
              <a:buNone/>
            </a:pPr>
            <a:r>
              <a:rPr lang="en-US" sz="1100" b="1" dirty="0">
                <a:solidFill>
                  <a:srgbClr val="0E0E0E"/>
                </a:solidFill>
                <a:latin typeface="Calibri" pitchFamily="34" charset="0"/>
                <a:ea typeface="Calibri" pitchFamily="34" charset="-122"/>
                <a:cs typeface="Calibri" pitchFamily="34" charset="-120"/>
              </a:rPr>
              <a:t>💵 Money plan</a:t>
            </a:r>
            <a:endParaRPr lang="en-US" sz="1100" dirty="0"/>
          </a:p>
        </p:txBody>
      </p:sp>
      <p:sp>
        <p:nvSpPr>
          <p:cNvPr id="10" name="Shape 8"/>
          <p:cNvSpPr/>
          <p:nvPr/>
        </p:nvSpPr>
        <p:spPr>
          <a:xfrm>
            <a:off x="2606040" y="2697480"/>
            <a:ext cx="1691640" cy="411480"/>
          </a:xfrm>
          <a:prstGeom prst="roundRect">
            <a:avLst>
              <a:gd name="adj" fmla="val 17778"/>
            </a:avLst>
          </a:prstGeom>
          <a:solidFill>
            <a:srgbClr val="DAA520"/>
          </a:solidFill>
          <a:ln w="12700">
            <a:solidFill>
              <a:srgbClr val="DAA520"/>
            </a:solidFill>
            <a:prstDash val="solid"/>
          </a:ln>
        </p:spPr>
      </p:sp>
      <p:sp>
        <p:nvSpPr>
          <p:cNvPr id="11" name="Text 9"/>
          <p:cNvSpPr/>
          <p:nvPr/>
        </p:nvSpPr>
        <p:spPr>
          <a:xfrm>
            <a:off x="2606040" y="2697480"/>
            <a:ext cx="1691640" cy="411480"/>
          </a:xfrm>
          <a:prstGeom prst="rect">
            <a:avLst/>
          </a:prstGeom>
          <a:noFill/>
          <a:ln/>
        </p:spPr>
        <p:txBody>
          <a:bodyPr wrap="square" rtlCol="0" anchor="ctr"/>
          <a:lstStyle/>
          <a:p>
            <a:pPr algn="ctr" indent="0" marL="0">
              <a:buNone/>
            </a:pPr>
            <a:r>
              <a:rPr lang="en-US" sz="1100" b="1" dirty="0">
                <a:solidFill>
                  <a:srgbClr val="0E0E0E"/>
                </a:solidFill>
                <a:latin typeface="Calibri" pitchFamily="34" charset="0"/>
                <a:ea typeface="Calibri" pitchFamily="34" charset="-122"/>
                <a:cs typeface="Calibri" pitchFamily="34" charset="-120"/>
              </a:rPr>
              <a:t>🪪 ID &amp; docs</a:t>
            </a:r>
            <a:endParaRPr lang="en-US" sz="1100" dirty="0"/>
          </a:p>
        </p:txBody>
      </p:sp>
      <p:sp>
        <p:nvSpPr>
          <p:cNvPr id="12" name="Shape 10"/>
          <p:cNvSpPr/>
          <p:nvPr/>
        </p:nvSpPr>
        <p:spPr>
          <a:xfrm>
            <a:off x="4434840" y="2697480"/>
            <a:ext cx="1691640" cy="411480"/>
          </a:xfrm>
          <a:prstGeom prst="roundRect">
            <a:avLst>
              <a:gd name="adj" fmla="val 17778"/>
            </a:avLst>
          </a:prstGeom>
          <a:solidFill>
            <a:srgbClr val="0E0E0E"/>
          </a:solidFill>
          <a:ln w="12700">
            <a:solidFill>
              <a:srgbClr val="DAA520"/>
            </a:solidFill>
            <a:prstDash val="solid"/>
          </a:ln>
        </p:spPr>
      </p:sp>
      <p:sp>
        <p:nvSpPr>
          <p:cNvPr id="13" name="Text 11"/>
          <p:cNvSpPr/>
          <p:nvPr/>
        </p:nvSpPr>
        <p:spPr>
          <a:xfrm>
            <a:off x="4434840" y="2697480"/>
            <a:ext cx="1691640" cy="411480"/>
          </a:xfrm>
          <a:prstGeom prst="rect">
            <a:avLst/>
          </a:prstGeom>
          <a:noFill/>
          <a:ln/>
        </p:spPr>
        <p:txBody>
          <a:bodyPr wrap="square" rtlCol="0" anchor="ctr"/>
          <a:lstStyle/>
          <a:p>
            <a:pPr algn="ctr" indent="0" marL="0">
              <a:buNone/>
            </a:pPr>
            <a:r>
              <a:rPr lang="en-US" sz="1100" b="1" dirty="0">
                <a:solidFill>
                  <a:srgbClr val="FAF7EE"/>
                </a:solidFill>
                <a:latin typeface="Calibri" pitchFamily="34" charset="0"/>
                <a:ea typeface="Calibri" pitchFamily="34" charset="-122"/>
                <a:cs typeface="Calibri" pitchFamily="34" charset="-120"/>
              </a:rPr>
              <a:t>🛠 Job path</a:t>
            </a:r>
            <a:endParaRPr lang="en-US" sz="1100" dirty="0"/>
          </a:p>
        </p:txBody>
      </p:sp>
      <p:sp>
        <p:nvSpPr>
          <p:cNvPr id="14" name="Shape 12"/>
          <p:cNvSpPr/>
          <p:nvPr/>
        </p:nvSpPr>
        <p:spPr>
          <a:xfrm>
            <a:off x="6263640" y="2697480"/>
            <a:ext cx="1691640" cy="411480"/>
          </a:xfrm>
          <a:prstGeom prst="roundRect">
            <a:avLst>
              <a:gd name="adj" fmla="val 17778"/>
            </a:avLst>
          </a:prstGeom>
          <a:solidFill>
            <a:srgbClr val="DAA520"/>
          </a:solidFill>
          <a:ln w="12700">
            <a:solidFill>
              <a:srgbClr val="DAA520"/>
            </a:solidFill>
            <a:prstDash val="solid"/>
          </a:ln>
        </p:spPr>
      </p:sp>
      <p:sp>
        <p:nvSpPr>
          <p:cNvPr id="15" name="Text 13"/>
          <p:cNvSpPr/>
          <p:nvPr/>
        </p:nvSpPr>
        <p:spPr>
          <a:xfrm>
            <a:off x="6263640" y="2697480"/>
            <a:ext cx="1691640" cy="411480"/>
          </a:xfrm>
          <a:prstGeom prst="rect">
            <a:avLst/>
          </a:prstGeom>
          <a:noFill/>
          <a:ln/>
        </p:spPr>
        <p:txBody>
          <a:bodyPr wrap="square" rtlCol="0" anchor="ctr"/>
          <a:lstStyle/>
          <a:p>
            <a:pPr algn="ctr" indent="0" marL="0">
              <a:buNone/>
            </a:pPr>
            <a:r>
              <a:rPr lang="en-US" sz="1100" b="1" dirty="0">
                <a:solidFill>
                  <a:srgbClr val="0E0E0E"/>
                </a:solidFill>
                <a:latin typeface="Calibri" pitchFamily="34" charset="0"/>
                <a:ea typeface="Calibri" pitchFamily="34" charset="-122"/>
                <a:cs typeface="Calibri" pitchFamily="34" charset="-120"/>
              </a:rPr>
              <a:t>🏠 Housing</a:t>
            </a:r>
            <a:endParaRPr lang="en-US" sz="1100" dirty="0"/>
          </a:p>
        </p:txBody>
      </p:sp>
      <p:sp>
        <p:nvSpPr>
          <p:cNvPr id="16" name="Shape 14"/>
          <p:cNvSpPr/>
          <p:nvPr/>
        </p:nvSpPr>
        <p:spPr>
          <a:xfrm>
            <a:off x="777240" y="3200400"/>
            <a:ext cx="1691640" cy="411480"/>
          </a:xfrm>
          <a:prstGeom prst="roundRect">
            <a:avLst>
              <a:gd name="adj" fmla="val 17778"/>
            </a:avLst>
          </a:prstGeom>
          <a:solidFill>
            <a:srgbClr val="0E0E0E"/>
          </a:solidFill>
          <a:ln w="12700">
            <a:solidFill>
              <a:srgbClr val="DAA520"/>
            </a:solidFill>
            <a:prstDash val="solid"/>
          </a:ln>
        </p:spPr>
      </p:sp>
      <p:sp>
        <p:nvSpPr>
          <p:cNvPr id="17" name="Text 15"/>
          <p:cNvSpPr/>
          <p:nvPr/>
        </p:nvSpPr>
        <p:spPr>
          <a:xfrm>
            <a:off x="777240" y="3200400"/>
            <a:ext cx="1691640" cy="411480"/>
          </a:xfrm>
          <a:prstGeom prst="rect">
            <a:avLst/>
          </a:prstGeom>
          <a:noFill/>
          <a:ln/>
        </p:spPr>
        <p:txBody>
          <a:bodyPr wrap="square" rtlCol="0" anchor="ctr"/>
          <a:lstStyle/>
          <a:p>
            <a:pPr algn="ctr" indent="0" marL="0">
              <a:buNone/>
            </a:pPr>
            <a:r>
              <a:rPr lang="en-US" sz="1100" b="1" dirty="0">
                <a:solidFill>
                  <a:srgbClr val="FAF7EE"/>
                </a:solidFill>
                <a:latin typeface="Calibri" pitchFamily="34" charset="0"/>
                <a:ea typeface="Calibri" pitchFamily="34" charset="-122"/>
                <a:cs typeface="Calibri" pitchFamily="34" charset="-120"/>
              </a:rPr>
              <a:t>🎓 Education</a:t>
            </a:r>
            <a:endParaRPr lang="en-US" sz="1100" dirty="0"/>
          </a:p>
        </p:txBody>
      </p:sp>
      <p:sp>
        <p:nvSpPr>
          <p:cNvPr id="18" name="Shape 16"/>
          <p:cNvSpPr/>
          <p:nvPr/>
        </p:nvSpPr>
        <p:spPr>
          <a:xfrm>
            <a:off x="2606040" y="3200400"/>
            <a:ext cx="1691640" cy="411480"/>
          </a:xfrm>
          <a:prstGeom prst="roundRect">
            <a:avLst>
              <a:gd name="adj" fmla="val 17778"/>
            </a:avLst>
          </a:prstGeom>
          <a:solidFill>
            <a:srgbClr val="0E0E0E"/>
          </a:solidFill>
          <a:ln w="12700">
            <a:solidFill>
              <a:srgbClr val="DAA520"/>
            </a:solidFill>
            <a:prstDash val="solid"/>
          </a:ln>
        </p:spPr>
      </p:sp>
      <p:sp>
        <p:nvSpPr>
          <p:cNvPr id="19" name="Text 17"/>
          <p:cNvSpPr/>
          <p:nvPr/>
        </p:nvSpPr>
        <p:spPr>
          <a:xfrm>
            <a:off x="2606040" y="3200400"/>
            <a:ext cx="1691640" cy="411480"/>
          </a:xfrm>
          <a:prstGeom prst="rect">
            <a:avLst/>
          </a:prstGeom>
          <a:noFill/>
          <a:ln/>
        </p:spPr>
        <p:txBody>
          <a:bodyPr wrap="square" rtlCol="0" anchor="ctr"/>
          <a:lstStyle/>
          <a:p>
            <a:pPr algn="ctr" indent="0" marL="0">
              <a:buNone/>
            </a:pPr>
            <a:r>
              <a:rPr lang="en-US" sz="1100" b="1" dirty="0">
                <a:solidFill>
                  <a:srgbClr val="FAF7EE"/>
                </a:solidFill>
                <a:latin typeface="Calibri" pitchFamily="34" charset="0"/>
                <a:ea typeface="Calibri" pitchFamily="34" charset="-122"/>
                <a:cs typeface="Calibri" pitchFamily="34" charset="-120"/>
              </a:rPr>
              <a:t>🚌 Transport</a:t>
            </a:r>
            <a:endParaRPr lang="en-US" sz="1100" dirty="0"/>
          </a:p>
        </p:txBody>
      </p:sp>
      <p:sp>
        <p:nvSpPr>
          <p:cNvPr id="20" name="Shape 18"/>
          <p:cNvSpPr/>
          <p:nvPr/>
        </p:nvSpPr>
        <p:spPr>
          <a:xfrm>
            <a:off x="4434840" y="3200400"/>
            <a:ext cx="1691640" cy="411480"/>
          </a:xfrm>
          <a:prstGeom prst="roundRect">
            <a:avLst>
              <a:gd name="adj" fmla="val 17778"/>
            </a:avLst>
          </a:prstGeom>
          <a:solidFill>
            <a:srgbClr val="0E0E0E"/>
          </a:solidFill>
          <a:ln w="12700">
            <a:solidFill>
              <a:srgbClr val="DAA520"/>
            </a:solidFill>
            <a:prstDash val="solid"/>
          </a:ln>
        </p:spPr>
      </p:sp>
      <p:sp>
        <p:nvSpPr>
          <p:cNvPr id="21" name="Text 19"/>
          <p:cNvSpPr/>
          <p:nvPr/>
        </p:nvSpPr>
        <p:spPr>
          <a:xfrm>
            <a:off x="4434840" y="3200400"/>
            <a:ext cx="1691640" cy="411480"/>
          </a:xfrm>
          <a:prstGeom prst="rect">
            <a:avLst/>
          </a:prstGeom>
          <a:noFill/>
          <a:ln/>
        </p:spPr>
        <p:txBody>
          <a:bodyPr wrap="square" rtlCol="0" anchor="ctr"/>
          <a:lstStyle/>
          <a:p>
            <a:pPr algn="ctr" indent="0" marL="0">
              <a:buNone/>
            </a:pPr>
            <a:r>
              <a:rPr lang="en-US" sz="1100" b="1" dirty="0">
                <a:solidFill>
                  <a:srgbClr val="FAF7EE"/>
                </a:solidFill>
                <a:latin typeface="Calibri" pitchFamily="34" charset="0"/>
                <a:ea typeface="Calibri" pitchFamily="34" charset="-122"/>
                <a:cs typeface="Calibri" pitchFamily="34" charset="-120"/>
              </a:rPr>
              <a:t>⚕ Health &amp; meds</a:t>
            </a:r>
            <a:endParaRPr lang="en-US" sz="1100" dirty="0"/>
          </a:p>
        </p:txBody>
      </p:sp>
      <p:sp>
        <p:nvSpPr>
          <p:cNvPr id="22" name="Shape 20"/>
          <p:cNvSpPr/>
          <p:nvPr/>
        </p:nvSpPr>
        <p:spPr>
          <a:xfrm>
            <a:off x="6263640" y="3200400"/>
            <a:ext cx="1691640" cy="411480"/>
          </a:xfrm>
          <a:prstGeom prst="roundRect">
            <a:avLst>
              <a:gd name="adj" fmla="val 17778"/>
            </a:avLst>
          </a:prstGeom>
          <a:solidFill>
            <a:srgbClr val="0E0E0E"/>
          </a:solidFill>
          <a:ln w="12700">
            <a:solidFill>
              <a:srgbClr val="DAA520"/>
            </a:solidFill>
            <a:prstDash val="solid"/>
          </a:ln>
        </p:spPr>
      </p:sp>
      <p:sp>
        <p:nvSpPr>
          <p:cNvPr id="23" name="Text 21"/>
          <p:cNvSpPr/>
          <p:nvPr/>
        </p:nvSpPr>
        <p:spPr>
          <a:xfrm>
            <a:off x="6263640" y="3200400"/>
            <a:ext cx="1691640" cy="411480"/>
          </a:xfrm>
          <a:prstGeom prst="rect">
            <a:avLst/>
          </a:prstGeom>
          <a:noFill/>
          <a:ln/>
        </p:spPr>
        <p:txBody>
          <a:bodyPr wrap="square" rtlCol="0" anchor="ctr"/>
          <a:lstStyle/>
          <a:p>
            <a:pPr algn="ctr" indent="0" marL="0">
              <a:buNone/>
            </a:pPr>
            <a:r>
              <a:rPr lang="en-US" sz="1100" b="1" dirty="0">
                <a:solidFill>
                  <a:srgbClr val="FAF7EE"/>
                </a:solidFill>
                <a:latin typeface="Calibri" pitchFamily="34" charset="0"/>
                <a:ea typeface="Calibri" pitchFamily="34" charset="-122"/>
                <a:cs typeface="Calibri" pitchFamily="34" charset="-120"/>
              </a:rPr>
              <a:t>🤝 Family</a:t>
            </a:r>
            <a:endParaRPr lang="en-US" sz="1100" dirty="0"/>
          </a:p>
        </p:txBody>
      </p:sp>
      <p:sp>
        <p:nvSpPr>
          <p:cNvPr id="24" name="Text 22"/>
          <p:cNvSpPr/>
          <p:nvPr/>
        </p:nvSpPr>
        <p:spPr>
          <a:xfrm>
            <a:off x="777240" y="3977640"/>
            <a:ext cx="7589520" cy="320040"/>
          </a:xfrm>
          <a:prstGeom prst="rect">
            <a:avLst/>
          </a:prstGeom>
          <a:noFill/>
          <a:ln/>
        </p:spPr>
        <p:txBody>
          <a:bodyPr wrap="square" rtlCol="0" anchor="ctr"/>
          <a:lstStyle/>
          <a:p>
            <a:pPr algn="ctr" indent="0" marL="0">
              <a:buNone/>
            </a:pPr>
            <a:r>
              <a:rPr lang="en-US" sz="1100" i="1" dirty="0">
                <a:solidFill>
                  <a:srgbClr val="DAA520"/>
                </a:solidFill>
                <a:latin typeface="Calibri" pitchFamily="34" charset="0"/>
                <a:ea typeface="Calibri" pitchFamily="34" charset="-122"/>
                <a:cs typeface="Calibri" pitchFamily="34" charset="-120"/>
              </a:rPr>
              <a:t>"Generate my 72-hour plan"  ·  "Open the customizable plan →"</a:t>
            </a:r>
            <a:endParaRPr lang="en-US" sz="1100" dirty="0"/>
          </a:p>
        </p:txBody>
      </p:sp>
      <p:sp>
        <p:nvSpPr>
          <p:cNvPr id="25" name="Text 23"/>
          <p:cNvSpPr/>
          <p:nvPr/>
        </p:nvSpPr>
        <p:spPr>
          <a:xfrm>
            <a:off x="457200" y="4754880"/>
            <a:ext cx="8229600" cy="365760"/>
          </a:xfrm>
          <a:prstGeom prst="rect">
            <a:avLst/>
          </a:prstGeom>
          <a:noFill/>
          <a:ln/>
        </p:spPr>
        <p:txBody>
          <a:bodyPr wrap="square" rtlCol="0" anchor="ctr"/>
          <a:lstStyle/>
          <a:p>
            <a:pPr algn="ctr" indent="0" marL="0">
              <a:buNone/>
            </a:pPr>
            <a:r>
              <a:rPr lang="en-US" sz="1200" i="1" dirty="0">
                <a:solidFill>
                  <a:srgbClr val="B5B0A8"/>
                </a:solidFill>
                <a:latin typeface="Calibri" pitchFamily="34" charset="0"/>
                <a:ea typeface="Calibri" pitchFamily="34" charset="-122"/>
                <a:cs typeface="Calibri" pitchFamily="34" charset="-120"/>
              </a:rPr>
              <a:t>The 72-hour plan it makes carries over to the customizable plan automatically — no re-entry.</a:t>
            </a:r>
            <a:endParaRPr lang="en-US" sz="1200" dirty="0"/>
          </a:p>
        </p:txBody>
      </p:sp>
      <p:sp>
        <p:nvSpPr>
          <p:cNvPr id="26" name="Text 24"/>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B5B0A8"/>
                </a:solidFill>
                <a:latin typeface="Calibri" pitchFamily="34" charset="0"/>
                <a:ea typeface="Calibri" pitchFamily="34" charset="-122"/>
                <a:cs typeface="Calibri" pitchFamily="34" charset="-120"/>
              </a:rPr>
              <a:t>07 / 30</a:t>
            </a:r>
            <a:endParaRPr lang="en-US" sz="900" dirty="0"/>
          </a:p>
        </p:txBody>
      </p:sp>
      <p:sp>
        <p:nvSpPr>
          <p:cNvPr id="27" name="Text 25"/>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B5B0A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WALKTHROUGH 2 · CUSTOMIZABLE PLAN — STEPS</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400" b="1" dirty="0">
                <a:solidFill>
                  <a:srgbClr val="1F1F1F"/>
                </a:solidFill>
                <a:latin typeface="Georgia" pitchFamily="34" charset="0"/>
                <a:ea typeface="Georgia" pitchFamily="34" charset="-122"/>
                <a:cs typeface="Georgia" pitchFamily="34" charset="-120"/>
              </a:rPr>
              <a:t>Seven steps. Each one a finished thought.</a:t>
            </a:r>
            <a:endParaRPr lang="en-US" sz="2400" dirty="0"/>
          </a:p>
        </p:txBody>
      </p:sp>
      <p:sp>
        <p:nvSpPr>
          <p:cNvPr id="4" name="Shape 2"/>
          <p:cNvSpPr/>
          <p:nvPr/>
        </p:nvSpPr>
        <p:spPr>
          <a:xfrm>
            <a:off x="502920" y="1645920"/>
            <a:ext cx="1084217" cy="1554480"/>
          </a:xfrm>
          <a:prstGeom prst="roundRect">
            <a:avLst>
              <a:gd name="adj" fmla="val 6747"/>
            </a:avLst>
          </a:prstGeom>
          <a:solidFill>
            <a:srgbClr val="F8F4EA"/>
          </a:solidFill>
          <a:ln w="12700">
            <a:solidFill>
              <a:srgbClr val="E5DBC2"/>
            </a:solidFill>
            <a:prstDash val="solid"/>
          </a:ln>
        </p:spPr>
      </p:sp>
      <p:sp>
        <p:nvSpPr>
          <p:cNvPr id="5" name="Text 3"/>
          <p:cNvSpPr/>
          <p:nvPr/>
        </p:nvSpPr>
        <p:spPr>
          <a:xfrm>
            <a:off x="502920" y="1783080"/>
            <a:ext cx="1084217" cy="457200"/>
          </a:xfrm>
          <a:prstGeom prst="rect">
            <a:avLst/>
          </a:prstGeom>
          <a:noFill/>
          <a:ln/>
        </p:spPr>
        <p:txBody>
          <a:bodyPr wrap="square" rtlCol="0" anchor="ctr"/>
          <a:lstStyle/>
          <a:p>
            <a:pPr algn="ctr" indent="0" marL="0">
              <a:buNone/>
            </a:pPr>
            <a:r>
              <a:rPr lang="en-US" sz="2200" dirty="0">
                <a:solidFill>
                  <a:srgbClr val="1F1F1F"/>
                </a:solidFill>
              </a:rPr>
              <a:t>💰</a:t>
            </a:r>
            <a:endParaRPr lang="en-US" sz="2200" dirty="0"/>
          </a:p>
        </p:txBody>
      </p:sp>
      <p:sp>
        <p:nvSpPr>
          <p:cNvPr id="6" name="Text 4"/>
          <p:cNvSpPr/>
          <p:nvPr/>
        </p:nvSpPr>
        <p:spPr>
          <a:xfrm>
            <a:off x="502920" y="2286000"/>
            <a:ext cx="1084217" cy="365760"/>
          </a:xfrm>
          <a:prstGeom prst="rect">
            <a:avLst/>
          </a:prstGeom>
          <a:noFill/>
          <a:ln/>
        </p:spPr>
        <p:txBody>
          <a:bodyPr wrap="square" rtlCol="0" anchor="ctr"/>
          <a:lstStyle/>
          <a:p>
            <a:pPr algn="ctr" indent="0" marL="0">
              <a:buNone/>
            </a:pPr>
            <a:r>
              <a:rPr lang="en-US" sz="1200" b="1" dirty="0">
                <a:solidFill>
                  <a:srgbClr val="1F1F1F"/>
                </a:solidFill>
              </a:rPr>
              <a:t>Income</a:t>
            </a:r>
            <a:endParaRPr lang="en-US" sz="1200" dirty="0"/>
          </a:p>
        </p:txBody>
      </p:sp>
      <p:sp>
        <p:nvSpPr>
          <p:cNvPr id="7" name="Text 5"/>
          <p:cNvSpPr/>
          <p:nvPr/>
        </p:nvSpPr>
        <p:spPr>
          <a:xfrm>
            <a:off x="502920" y="2651760"/>
            <a:ext cx="1084217" cy="457200"/>
          </a:xfrm>
          <a:prstGeom prst="rect">
            <a:avLst/>
          </a:prstGeom>
          <a:noFill/>
          <a:ln/>
        </p:spPr>
        <p:txBody>
          <a:bodyPr wrap="square" rtlCol="0" anchor="ctr"/>
          <a:lstStyle/>
          <a:p>
            <a:pPr algn="ctr" indent="0" marL="0">
              <a:buNone/>
            </a:pPr>
            <a:r>
              <a:rPr lang="en-US" sz="900" dirty="0">
                <a:solidFill>
                  <a:srgbClr val="6F6F65"/>
                </a:solidFill>
              </a:rPr>
              <a:t>What comes in</a:t>
            </a:r>
            <a:endParaRPr lang="en-US" sz="900" dirty="0"/>
          </a:p>
        </p:txBody>
      </p:sp>
      <p:sp>
        <p:nvSpPr>
          <p:cNvPr id="8" name="Shape 6"/>
          <p:cNvSpPr/>
          <p:nvPr/>
        </p:nvSpPr>
        <p:spPr>
          <a:xfrm>
            <a:off x="1678577" y="1645920"/>
            <a:ext cx="1084217" cy="1554480"/>
          </a:xfrm>
          <a:prstGeom prst="roundRect">
            <a:avLst>
              <a:gd name="adj" fmla="val 6747"/>
            </a:avLst>
          </a:prstGeom>
          <a:solidFill>
            <a:srgbClr val="F8F4EA"/>
          </a:solidFill>
          <a:ln w="12700">
            <a:solidFill>
              <a:srgbClr val="E5DBC2"/>
            </a:solidFill>
            <a:prstDash val="solid"/>
          </a:ln>
        </p:spPr>
      </p:sp>
      <p:sp>
        <p:nvSpPr>
          <p:cNvPr id="9" name="Text 7"/>
          <p:cNvSpPr/>
          <p:nvPr/>
        </p:nvSpPr>
        <p:spPr>
          <a:xfrm>
            <a:off x="1678577" y="1783080"/>
            <a:ext cx="1084217" cy="457200"/>
          </a:xfrm>
          <a:prstGeom prst="rect">
            <a:avLst/>
          </a:prstGeom>
          <a:noFill/>
          <a:ln/>
        </p:spPr>
        <p:txBody>
          <a:bodyPr wrap="square" rtlCol="0" anchor="ctr"/>
          <a:lstStyle/>
          <a:p>
            <a:pPr algn="ctr" indent="0" marL="0">
              <a:buNone/>
            </a:pPr>
            <a:r>
              <a:rPr lang="en-US" sz="2200" dirty="0">
                <a:solidFill>
                  <a:srgbClr val="1F1F1F"/>
                </a:solidFill>
              </a:rPr>
              <a:t>🎟</a:t>
            </a:r>
            <a:endParaRPr lang="en-US" sz="2200" dirty="0"/>
          </a:p>
        </p:txBody>
      </p:sp>
      <p:sp>
        <p:nvSpPr>
          <p:cNvPr id="10" name="Text 8"/>
          <p:cNvSpPr/>
          <p:nvPr/>
        </p:nvSpPr>
        <p:spPr>
          <a:xfrm>
            <a:off x="1678577" y="2286000"/>
            <a:ext cx="1084217" cy="365760"/>
          </a:xfrm>
          <a:prstGeom prst="rect">
            <a:avLst/>
          </a:prstGeom>
          <a:noFill/>
          <a:ln/>
        </p:spPr>
        <p:txBody>
          <a:bodyPr wrap="square" rtlCol="0" anchor="ctr"/>
          <a:lstStyle/>
          <a:p>
            <a:pPr algn="ctr" indent="0" marL="0">
              <a:buNone/>
            </a:pPr>
            <a:r>
              <a:rPr lang="en-US" sz="1200" b="1" dirty="0">
                <a:solidFill>
                  <a:srgbClr val="1F1F1F"/>
                </a:solidFill>
              </a:rPr>
              <a:t>Benefits</a:t>
            </a:r>
            <a:endParaRPr lang="en-US" sz="1200" dirty="0"/>
          </a:p>
        </p:txBody>
      </p:sp>
      <p:sp>
        <p:nvSpPr>
          <p:cNvPr id="11" name="Text 9"/>
          <p:cNvSpPr/>
          <p:nvPr/>
        </p:nvSpPr>
        <p:spPr>
          <a:xfrm>
            <a:off x="1678577" y="2651760"/>
            <a:ext cx="1084217" cy="457200"/>
          </a:xfrm>
          <a:prstGeom prst="rect">
            <a:avLst/>
          </a:prstGeom>
          <a:noFill/>
          <a:ln/>
        </p:spPr>
        <p:txBody>
          <a:bodyPr wrap="square" rtlCol="0" anchor="ctr"/>
          <a:lstStyle/>
          <a:p>
            <a:pPr algn="ctr" indent="0" marL="0">
              <a:buNone/>
            </a:pPr>
            <a:r>
              <a:rPr lang="en-US" sz="900" dirty="0">
                <a:solidFill>
                  <a:srgbClr val="6F6F65"/>
                </a:solidFill>
              </a:rPr>
              <a:t>Programs that help</a:t>
            </a:r>
            <a:endParaRPr lang="en-US" sz="900" dirty="0"/>
          </a:p>
        </p:txBody>
      </p:sp>
      <p:sp>
        <p:nvSpPr>
          <p:cNvPr id="12" name="Shape 10"/>
          <p:cNvSpPr/>
          <p:nvPr/>
        </p:nvSpPr>
        <p:spPr>
          <a:xfrm>
            <a:off x="2854234" y="1645920"/>
            <a:ext cx="1084217" cy="1554480"/>
          </a:xfrm>
          <a:prstGeom prst="roundRect">
            <a:avLst>
              <a:gd name="adj" fmla="val 6747"/>
            </a:avLst>
          </a:prstGeom>
          <a:solidFill>
            <a:srgbClr val="DAA520"/>
          </a:solidFill>
          <a:ln w="12700">
            <a:solidFill>
              <a:srgbClr val="E5DBC2"/>
            </a:solidFill>
            <a:prstDash val="solid"/>
          </a:ln>
        </p:spPr>
      </p:sp>
      <p:sp>
        <p:nvSpPr>
          <p:cNvPr id="13" name="Text 11"/>
          <p:cNvSpPr/>
          <p:nvPr/>
        </p:nvSpPr>
        <p:spPr>
          <a:xfrm>
            <a:off x="2854234" y="1783080"/>
            <a:ext cx="1084217" cy="457200"/>
          </a:xfrm>
          <a:prstGeom prst="rect">
            <a:avLst/>
          </a:prstGeom>
          <a:noFill/>
          <a:ln/>
        </p:spPr>
        <p:txBody>
          <a:bodyPr wrap="square" rtlCol="0" anchor="ctr"/>
          <a:lstStyle/>
          <a:p>
            <a:pPr algn="ctr" indent="0" marL="0">
              <a:buNone/>
            </a:pPr>
            <a:r>
              <a:rPr lang="en-US" sz="2200" dirty="0">
                <a:solidFill>
                  <a:srgbClr val="1F1F1F"/>
                </a:solidFill>
              </a:rPr>
              <a:t>📂</a:t>
            </a:r>
            <a:endParaRPr lang="en-US" sz="2200" dirty="0"/>
          </a:p>
        </p:txBody>
      </p:sp>
      <p:sp>
        <p:nvSpPr>
          <p:cNvPr id="14" name="Text 12"/>
          <p:cNvSpPr/>
          <p:nvPr/>
        </p:nvSpPr>
        <p:spPr>
          <a:xfrm>
            <a:off x="2854234" y="2286000"/>
            <a:ext cx="1084217" cy="365760"/>
          </a:xfrm>
          <a:prstGeom prst="rect">
            <a:avLst/>
          </a:prstGeom>
          <a:noFill/>
          <a:ln/>
        </p:spPr>
        <p:txBody>
          <a:bodyPr wrap="square" rtlCol="0" anchor="ctr"/>
          <a:lstStyle/>
          <a:p>
            <a:pPr algn="ctr" indent="0" marL="0">
              <a:buNone/>
            </a:pPr>
            <a:r>
              <a:rPr lang="en-US" sz="1200" b="1" dirty="0">
                <a:solidFill>
                  <a:srgbClr val="0E0E0E"/>
                </a:solidFill>
              </a:rPr>
              <a:t>Expenses</a:t>
            </a:r>
            <a:endParaRPr lang="en-US" sz="1200" dirty="0"/>
          </a:p>
        </p:txBody>
      </p:sp>
      <p:sp>
        <p:nvSpPr>
          <p:cNvPr id="15" name="Text 13"/>
          <p:cNvSpPr/>
          <p:nvPr/>
        </p:nvSpPr>
        <p:spPr>
          <a:xfrm>
            <a:off x="2854234" y="2651760"/>
            <a:ext cx="1084217" cy="457200"/>
          </a:xfrm>
          <a:prstGeom prst="rect">
            <a:avLst/>
          </a:prstGeom>
          <a:noFill/>
          <a:ln/>
        </p:spPr>
        <p:txBody>
          <a:bodyPr wrap="square" rtlCol="0" anchor="ctr"/>
          <a:lstStyle/>
          <a:p>
            <a:pPr algn="ctr" indent="0" marL="0">
              <a:buNone/>
            </a:pPr>
            <a:r>
              <a:rPr lang="en-US" sz="900" dirty="0">
                <a:solidFill>
                  <a:srgbClr val="0E0E0E"/>
                </a:solidFill>
              </a:rPr>
              <a:t>What goes out</a:t>
            </a:r>
            <a:endParaRPr lang="en-US" sz="900" dirty="0"/>
          </a:p>
        </p:txBody>
      </p:sp>
      <p:sp>
        <p:nvSpPr>
          <p:cNvPr id="16" name="Shape 14"/>
          <p:cNvSpPr/>
          <p:nvPr/>
        </p:nvSpPr>
        <p:spPr>
          <a:xfrm>
            <a:off x="4029891" y="1645920"/>
            <a:ext cx="1084217" cy="1554480"/>
          </a:xfrm>
          <a:prstGeom prst="roundRect">
            <a:avLst>
              <a:gd name="adj" fmla="val 6747"/>
            </a:avLst>
          </a:prstGeom>
          <a:solidFill>
            <a:srgbClr val="F8F4EA"/>
          </a:solidFill>
          <a:ln w="12700">
            <a:solidFill>
              <a:srgbClr val="E5DBC2"/>
            </a:solidFill>
            <a:prstDash val="solid"/>
          </a:ln>
        </p:spPr>
      </p:sp>
      <p:sp>
        <p:nvSpPr>
          <p:cNvPr id="17" name="Text 15"/>
          <p:cNvSpPr/>
          <p:nvPr/>
        </p:nvSpPr>
        <p:spPr>
          <a:xfrm>
            <a:off x="4029891" y="1783080"/>
            <a:ext cx="1084217" cy="457200"/>
          </a:xfrm>
          <a:prstGeom prst="rect">
            <a:avLst/>
          </a:prstGeom>
          <a:noFill/>
          <a:ln/>
        </p:spPr>
        <p:txBody>
          <a:bodyPr wrap="square" rtlCol="0" anchor="ctr"/>
          <a:lstStyle/>
          <a:p>
            <a:pPr algn="ctr" indent="0" marL="0">
              <a:buNone/>
            </a:pPr>
            <a:r>
              <a:rPr lang="en-US" sz="2200" dirty="0">
                <a:solidFill>
                  <a:srgbClr val="1F1F1F"/>
                </a:solidFill>
              </a:rPr>
              <a:t>💳</a:t>
            </a:r>
            <a:endParaRPr lang="en-US" sz="2200" dirty="0"/>
          </a:p>
        </p:txBody>
      </p:sp>
      <p:sp>
        <p:nvSpPr>
          <p:cNvPr id="18" name="Text 16"/>
          <p:cNvSpPr/>
          <p:nvPr/>
        </p:nvSpPr>
        <p:spPr>
          <a:xfrm>
            <a:off x="4029891" y="2286000"/>
            <a:ext cx="1084217" cy="365760"/>
          </a:xfrm>
          <a:prstGeom prst="rect">
            <a:avLst/>
          </a:prstGeom>
          <a:noFill/>
          <a:ln/>
        </p:spPr>
        <p:txBody>
          <a:bodyPr wrap="square" rtlCol="0" anchor="ctr"/>
          <a:lstStyle/>
          <a:p>
            <a:pPr algn="ctr" indent="0" marL="0">
              <a:buNone/>
            </a:pPr>
            <a:r>
              <a:rPr lang="en-US" sz="1200" b="1" dirty="0">
                <a:solidFill>
                  <a:srgbClr val="1F1F1F"/>
                </a:solidFill>
              </a:rPr>
              <a:t>Debts</a:t>
            </a:r>
            <a:endParaRPr lang="en-US" sz="1200" dirty="0"/>
          </a:p>
        </p:txBody>
      </p:sp>
      <p:sp>
        <p:nvSpPr>
          <p:cNvPr id="19" name="Text 17"/>
          <p:cNvSpPr/>
          <p:nvPr/>
        </p:nvSpPr>
        <p:spPr>
          <a:xfrm>
            <a:off x="4029891" y="2651760"/>
            <a:ext cx="1084217" cy="457200"/>
          </a:xfrm>
          <a:prstGeom prst="rect">
            <a:avLst/>
          </a:prstGeom>
          <a:noFill/>
          <a:ln/>
        </p:spPr>
        <p:txBody>
          <a:bodyPr wrap="square" rtlCol="0" anchor="ctr"/>
          <a:lstStyle/>
          <a:p>
            <a:pPr algn="ctr" indent="0" marL="0">
              <a:buNone/>
            </a:pPr>
            <a:r>
              <a:rPr lang="en-US" sz="900" dirty="0">
                <a:solidFill>
                  <a:srgbClr val="6F6F65"/>
                </a:solidFill>
              </a:rPr>
              <a:t>Where money goes</a:t>
            </a:r>
            <a:endParaRPr lang="en-US" sz="900" dirty="0"/>
          </a:p>
        </p:txBody>
      </p:sp>
      <p:sp>
        <p:nvSpPr>
          <p:cNvPr id="20" name="Shape 18"/>
          <p:cNvSpPr/>
          <p:nvPr/>
        </p:nvSpPr>
        <p:spPr>
          <a:xfrm>
            <a:off x="5205549" y="1645920"/>
            <a:ext cx="1084217" cy="1554480"/>
          </a:xfrm>
          <a:prstGeom prst="roundRect">
            <a:avLst>
              <a:gd name="adj" fmla="val 6747"/>
            </a:avLst>
          </a:prstGeom>
          <a:solidFill>
            <a:srgbClr val="F8F4EA"/>
          </a:solidFill>
          <a:ln w="12700">
            <a:solidFill>
              <a:srgbClr val="E5DBC2"/>
            </a:solidFill>
            <a:prstDash val="solid"/>
          </a:ln>
        </p:spPr>
      </p:sp>
      <p:sp>
        <p:nvSpPr>
          <p:cNvPr id="21" name="Text 19"/>
          <p:cNvSpPr/>
          <p:nvPr/>
        </p:nvSpPr>
        <p:spPr>
          <a:xfrm>
            <a:off x="5205549" y="1783080"/>
            <a:ext cx="1084217" cy="457200"/>
          </a:xfrm>
          <a:prstGeom prst="rect">
            <a:avLst/>
          </a:prstGeom>
          <a:noFill/>
          <a:ln/>
        </p:spPr>
        <p:txBody>
          <a:bodyPr wrap="square" rtlCol="0" anchor="ctr"/>
          <a:lstStyle/>
          <a:p>
            <a:pPr algn="ctr" indent="0" marL="0">
              <a:buNone/>
            </a:pPr>
            <a:r>
              <a:rPr lang="en-US" sz="2200" dirty="0">
                <a:solidFill>
                  <a:srgbClr val="1F1F1F"/>
                </a:solidFill>
              </a:rPr>
              <a:t>🎯</a:t>
            </a:r>
            <a:endParaRPr lang="en-US" sz="2200" dirty="0"/>
          </a:p>
        </p:txBody>
      </p:sp>
      <p:sp>
        <p:nvSpPr>
          <p:cNvPr id="22" name="Text 20"/>
          <p:cNvSpPr/>
          <p:nvPr/>
        </p:nvSpPr>
        <p:spPr>
          <a:xfrm>
            <a:off x="5205549" y="2286000"/>
            <a:ext cx="1084217" cy="365760"/>
          </a:xfrm>
          <a:prstGeom prst="rect">
            <a:avLst/>
          </a:prstGeom>
          <a:noFill/>
          <a:ln/>
        </p:spPr>
        <p:txBody>
          <a:bodyPr wrap="square" rtlCol="0" anchor="ctr"/>
          <a:lstStyle/>
          <a:p>
            <a:pPr algn="ctr" indent="0" marL="0">
              <a:buNone/>
            </a:pPr>
            <a:r>
              <a:rPr lang="en-US" sz="1200" b="1" dirty="0">
                <a:solidFill>
                  <a:srgbClr val="1F1F1F"/>
                </a:solidFill>
              </a:rPr>
              <a:t>Goals</a:t>
            </a:r>
            <a:endParaRPr lang="en-US" sz="1200" dirty="0"/>
          </a:p>
        </p:txBody>
      </p:sp>
      <p:sp>
        <p:nvSpPr>
          <p:cNvPr id="23" name="Text 21"/>
          <p:cNvSpPr/>
          <p:nvPr/>
        </p:nvSpPr>
        <p:spPr>
          <a:xfrm>
            <a:off x="5205549" y="2651760"/>
            <a:ext cx="1084217" cy="457200"/>
          </a:xfrm>
          <a:prstGeom prst="rect">
            <a:avLst/>
          </a:prstGeom>
          <a:noFill/>
          <a:ln/>
        </p:spPr>
        <p:txBody>
          <a:bodyPr wrap="square" rtlCol="0" anchor="ctr"/>
          <a:lstStyle/>
          <a:p>
            <a:pPr algn="ctr" indent="0" marL="0">
              <a:buNone/>
            </a:pPr>
            <a:r>
              <a:rPr lang="en-US" sz="900" dirty="0">
                <a:solidFill>
                  <a:srgbClr val="6F6F65"/>
                </a:solidFill>
              </a:rPr>
              <a:t>Where it should go</a:t>
            </a:r>
            <a:endParaRPr lang="en-US" sz="900" dirty="0"/>
          </a:p>
        </p:txBody>
      </p:sp>
      <p:sp>
        <p:nvSpPr>
          <p:cNvPr id="24" name="Shape 22"/>
          <p:cNvSpPr/>
          <p:nvPr/>
        </p:nvSpPr>
        <p:spPr>
          <a:xfrm>
            <a:off x="6381206" y="1645920"/>
            <a:ext cx="1084217" cy="1554480"/>
          </a:xfrm>
          <a:prstGeom prst="roundRect">
            <a:avLst>
              <a:gd name="adj" fmla="val 6747"/>
            </a:avLst>
          </a:prstGeom>
          <a:solidFill>
            <a:srgbClr val="F8F4EA"/>
          </a:solidFill>
          <a:ln w="12700">
            <a:solidFill>
              <a:srgbClr val="E5DBC2"/>
            </a:solidFill>
            <a:prstDash val="solid"/>
          </a:ln>
        </p:spPr>
      </p:sp>
      <p:sp>
        <p:nvSpPr>
          <p:cNvPr id="25" name="Text 23"/>
          <p:cNvSpPr/>
          <p:nvPr/>
        </p:nvSpPr>
        <p:spPr>
          <a:xfrm>
            <a:off x="6381206" y="1783080"/>
            <a:ext cx="1084217" cy="457200"/>
          </a:xfrm>
          <a:prstGeom prst="rect">
            <a:avLst/>
          </a:prstGeom>
          <a:noFill/>
          <a:ln/>
        </p:spPr>
        <p:txBody>
          <a:bodyPr wrap="square" rtlCol="0" anchor="ctr"/>
          <a:lstStyle/>
          <a:p>
            <a:pPr algn="ctr" indent="0" marL="0">
              <a:buNone/>
            </a:pPr>
            <a:r>
              <a:rPr lang="en-US" sz="2200" dirty="0">
                <a:solidFill>
                  <a:srgbClr val="1F1F1F"/>
                </a:solidFill>
              </a:rPr>
              <a:t>📋</a:t>
            </a:r>
            <a:endParaRPr lang="en-US" sz="2200" dirty="0"/>
          </a:p>
        </p:txBody>
      </p:sp>
      <p:sp>
        <p:nvSpPr>
          <p:cNvPr id="26" name="Text 24"/>
          <p:cNvSpPr/>
          <p:nvPr/>
        </p:nvSpPr>
        <p:spPr>
          <a:xfrm>
            <a:off x="6381206" y="2286000"/>
            <a:ext cx="1084217" cy="365760"/>
          </a:xfrm>
          <a:prstGeom prst="rect">
            <a:avLst/>
          </a:prstGeom>
          <a:noFill/>
          <a:ln/>
        </p:spPr>
        <p:txBody>
          <a:bodyPr wrap="square" rtlCol="0" anchor="ctr"/>
          <a:lstStyle/>
          <a:p>
            <a:pPr algn="ctr" indent="0" marL="0">
              <a:buNone/>
            </a:pPr>
            <a:r>
              <a:rPr lang="en-US" sz="1200" b="1" dirty="0">
                <a:solidFill>
                  <a:srgbClr val="1F1F1F"/>
                </a:solidFill>
              </a:rPr>
              <a:t>Documents</a:t>
            </a:r>
            <a:endParaRPr lang="en-US" sz="1200" dirty="0"/>
          </a:p>
        </p:txBody>
      </p:sp>
      <p:sp>
        <p:nvSpPr>
          <p:cNvPr id="27" name="Text 25"/>
          <p:cNvSpPr/>
          <p:nvPr/>
        </p:nvSpPr>
        <p:spPr>
          <a:xfrm>
            <a:off x="6381206" y="2651760"/>
            <a:ext cx="1084217" cy="457200"/>
          </a:xfrm>
          <a:prstGeom prst="rect">
            <a:avLst/>
          </a:prstGeom>
          <a:noFill/>
          <a:ln/>
        </p:spPr>
        <p:txBody>
          <a:bodyPr wrap="square" rtlCol="0" anchor="ctr"/>
          <a:lstStyle/>
          <a:p>
            <a:pPr algn="ctr" indent="0" marL="0">
              <a:buNone/>
            </a:pPr>
            <a:r>
              <a:rPr lang="en-US" sz="900" dirty="0">
                <a:solidFill>
                  <a:srgbClr val="6F6F65"/>
                </a:solidFill>
              </a:rPr>
              <a:t>Have / need</a:t>
            </a:r>
            <a:endParaRPr lang="en-US" sz="900" dirty="0"/>
          </a:p>
        </p:txBody>
      </p:sp>
      <p:sp>
        <p:nvSpPr>
          <p:cNvPr id="28" name="Shape 26"/>
          <p:cNvSpPr/>
          <p:nvPr/>
        </p:nvSpPr>
        <p:spPr>
          <a:xfrm>
            <a:off x="7556863" y="1645920"/>
            <a:ext cx="1084217" cy="1554480"/>
          </a:xfrm>
          <a:prstGeom prst="roundRect">
            <a:avLst>
              <a:gd name="adj" fmla="val 6747"/>
            </a:avLst>
          </a:prstGeom>
          <a:solidFill>
            <a:srgbClr val="F8F4EA"/>
          </a:solidFill>
          <a:ln w="12700">
            <a:solidFill>
              <a:srgbClr val="E5DBC2"/>
            </a:solidFill>
            <a:prstDash val="solid"/>
          </a:ln>
        </p:spPr>
      </p:sp>
      <p:sp>
        <p:nvSpPr>
          <p:cNvPr id="29" name="Text 27"/>
          <p:cNvSpPr/>
          <p:nvPr/>
        </p:nvSpPr>
        <p:spPr>
          <a:xfrm>
            <a:off x="7556863" y="1783080"/>
            <a:ext cx="1084217" cy="457200"/>
          </a:xfrm>
          <a:prstGeom prst="rect">
            <a:avLst/>
          </a:prstGeom>
          <a:noFill/>
          <a:ln/>
        </p:spPr>
        <p:txBody>
          <a:bodyPr wrap="square" rtlCol="0" anchor="ctr"/>
          <a:lstStyle/>
          <a:p>
            <a:pPr algn="ctr" indent="0" marL="0">
              <a:buNone/>
            </a:pPr>
            <a:r>
              <a:rPr lang="en-US" sz="2200" dirty="0">
                <a:solidFill>
                  <a:srgbClr val="1F1F1F"/>
                </a:solidFill>
              </a:rPr>
              <a:t>📅</a:t>
            </a:r>
            <a:endParaRPr lang="en-US" sz="2200" dirty="0"/>
          </a:p>
        </p:txBody>
      </p:sp>
      <p:sp>
        <p:nvSpPr>
          <p:cNvPr id="30" name="Text 28"/>
          <p:cNvSpPr/>
          <p:nvPr/>
        </p:nvSpPr>
        <p:spPr>
          <a:xfrm>
            <a:off x="7556863" y="2286000"/>
            <a:ext cx="1084217" cy="365760"/>
          </a:xfrm>
          <a:prstGeom prst="rect">
            <a:avLst/>
          </a:prstGeom>
          <a:noFill/>
          <a:ln/>
        </p:spPr>
        <p:txBody>
          <a:bodyPr wrap="square" rtlCol="0" anchor="ctr"/>
          <a:lstStyle/>
          <a:p>
            <a:pPr algn="ctr" indent="0" marL="0">
              <a:buNone/>
            </a:pPr>
            <a:r>
              <a:rPr lang="en-US" sz="1200" b="1" dirty="0">
                <a:solidFill>
                  <a:srgbClr val="1F1F1F"/>
                </a:solidFill>
              </a:rPr>
              <a:t>Sequence</a:t>
            </a:r>
            <a:endParaRPr lang="en-US" sz="1200" dirty="0"/>
          </a:p>
        </p:txBody>
      </p:sp>
      <p:sp>
        <p:nvSpPr>
          <p:cNvPr id="31" name="Text 29"/>
          <p:cNvSpPr/>
          <p:nvPr/>
        </p:nvSpPr>
        <p:spPr>
          <a:xfrm>
            <a:off x="7556863" y="2651760"/>
            <a:ext cx="1084217" cy="457200"/>
          </a:xfrm>
          <a:prstGeom prst="rect">
            <a:avLst/>
          </a:prstGeom>
          <a:noFill/>
          <a:ln/>
        </p:spPr>
        <p:txBody>
          <a:bodyPr wrap="square" rtlCol="0" anchor="ctr"/>
          <a:lstStyle/>
          <a:p>
            <a:pPr algn="ctr" indent="0" marL="0">
              <a:buNone/>
            </a:pPr>
            <a:r>
              <a:rPr lang="en-US" sz="900" dirty="0">
                <a:solidFill>
                  <a:srgbClr val="6F6F65"/>
                </a:solidFill>
              </a:rPr>
              <a:t>72h → 30 → 60 → 90</a:t>
            </a:r>
            <a:endParaRPr lang="en-US" sz="900" dirty="0"/>
          </a:p>
        </p:txBody>
      </p:sp>
      <p:sp>
        <p:nvSpPr>
          <p:cNvPr id="32" name="Text 30"/>
          <p:cNvSpPr/>
          <p:nvPr/>
        </p:nvSpPr>
        <p:spPr>
          <a:xfrm>
            <a:off x="457200" y="3520440"/>
            <a:ext cx="8229600" cy="457200"/>
          </a:xfrm>
          <a:prstGeom prst="rect">
            <a:avLst/>
          </a:prstGeom>
          <a:noFill/>
          <a:ln/>
        </p:spPr>
        <p:txBody>
          <a:bodyPr wrap="square" rtlCol="0" anchor="ctr"/>
          <a:lstStyle/>
          <a:p>
            <a:pPr algn="ctr" indent="0" marL="0">
              <a:buNone/>
            </a:pPr>
            <a:r>
              <a:rPr lang="en-US" sz="1300" dirty="0">
                <a:solidFill>
                  <a:srgbClr val="4A4A42"/>
                </a:solidFill>
                <a:latin typeface="Calibri" pitchFamily="34" charset="0"/>
                <a:ea typeface="Calibri" pitchFamily="34" charset="-122"/>
                <a:cs typeface="Calibri" pitchFamily="34" charset="-120"/>
              </a:rPr>
              <a:t>Each step has its own smart-suggestion chips and an "I don't have any" toggle.</a:t>
            </a:r>
            <a:endParaRPr lang="en-US" sz="1300" dirty="0"/>
          </a:p>
        </p:txBody>
      </p:sp>
      <p:sp>
        <p:nvSpPr>
          <p:cNvPr id="33" name="Text 31"/>
          <p:cNvSpPr/>
          <p:nvPr/>
        </p:nvSpPr>
        <p:spPr>
          <a:xfrm>
            <a:off x="457200" y="4160520"/>
            <a:ext cx="8229600" cy="365760"/>
          </a:xfrm>
          <a:prstGeom prst="rect">
            <a:avLst/>
          </a:prstGeom>
          <a:noFill/>
          <a:ln/>
        </p:spPr>
        <p:txBody>
          <a:bodyPr wrap="square" rtlCol="0" anchor="ctr"/>
          <a:lstStyle/>
          <a:p>
            <a:pPr algn="ctr" indent="0" marL="0">
              <a:buNone/>
            </a:pPr>
            <a:r>
              <a:rPr lang="en-US" sz="1200" i="1" dirty="0">
                <a:solidFill>
                  <a:srgbClr val="8C6810"/>
                </a:solidFill>
                <a:latin typeface="Calibri" pitchFamily="34" charset="0"/>
                <a:ea typeface="Calibri" pitchFamily="34" charset="-122"/>
                <a:cs typeface="Calibri" pitchFamily="34" charset="-120"/>
              </a:rPr>
              <a:t>Average completion time, full plan: ~7 minutes. Save Progress → cloud sync if signed in.</a:t>
            </a:r>
            <a:endParaRPr lang="en-US" sz="1200" dirty="0"/>
          </a:p>
        </p:txBody>
      </p:sp>
      <p:sp>
        <p:nvSpPr>
          <p:cNvPr id="34" name="Text 32"/>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08 / 30</a:t>
            </a:r>
            <a:endParaRPr lang="en-US" sz="900" dirty="0"/>
          </a:p>
        </p:txBody>
      </p:sp>
      <p:sp>
        <p:nvSpPr>
          <p:cNvPr id="35" name="Text 33"/>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WALKTHROUGH 2 · CHIPS + TEMPLATES</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200" b="1" dirty="0">
                <a:solidFill>
                  <a:srgbClr val="1F1F1F"/>
                </a:solidFill>
                <a:latin typeface="Georgia" pitchFamily="34" charset="0"/>
                <a:ea typeface="Georgia" pitchFamily="34" charset="-122"/>
                <a:cs typeface="Georgia" pitchFamily="34" charset="-120"/>
              </a:rPr>
              <a:t>Smart chips. Quick-start templates. No blank screens.</a:t>
            </a:r>
            <a:endParaRPr lang="en-US" sz="2200" dirty="0"/>
          </a:p>
        </p:txBody>
      </p:sp>
      <p:sp>
        <p:nvSpPr>
          <p:cNvPr id="4" name="Text 2"/>
          <p:cNvSpPr/>
          <p:nvPr/>
        </p:nvSpPr>
        <p:spPr>
          <a:xfrm>
            <a:off x="457200" y="1554480"/>
            <a:ext cx="8229600" cy="274320"/>
          </a:xfrm>
          <a:prstGeom prst="rect">
            <a:avLst/>
          </a:prstGeom>
          <a:noFill/>
          <a:ln/>
        </p:spPr>
        <p:txBody>
          <a:bodyPr wrap="square" rtlCol="0" anchor="ctr"/>
          <a:lstStyle/>
          <a:p>
            <a:pPr indent="0" marL="0">
              <a:buNone/>
            </a:pPr>
            <a:r>
              <a:rPr lang="en-US" sz="1300" b="1" dirty="0">
                <a:solidFill>
                  <a:srgbClr val="8C6810"/>
                </a:solidFill>
                <a:latin typeface="Calibri" pitchFamily="34" charset="0"/>
                <a:ea typeface="Calibri" pitchFamily="34" charset="-122"/>
                <a:cs typeface="Calibri" pitchFamily="34" charset="-120"/>
              </a:rPr>
              <a:t>Smart suggestion chips (~50 across the planner)</a:t>
            </a:r>
            <a:endParaRPr lang="en-US" sz="1300" dirty="0"/>
          </a:p>
        </p:txBody>
      </p:sp>
      <p:sp>
        <p:nvSpPr>
          <p:cNvPr id="5" name="Shape 3"/>
          <p:cNvSpPr/>
          <p:nvPr/>
        </p:nvSpPr>
        <p:spPr>
          <a:xfrm>
            <a:off x="457200" y="1874520"/>
            <a:ext cx="1325880" cy="329184"/>
          </a:xfrm>
          <a:prstGeom prst="roundRect">
            <a:avLst>
              <a:gd name="adj" fmla="val 50000"/>
            </a:avLst>
          </a:prstGeom>
          <a:solidFill>
            <a:srgbClr val="F8F4EA"/>
          </a:solidFill>
          <a:ln w="12700">
            <a:solidFill>
              <a:srgbClr val="DAA520"/>
            </a:solidFill>
            <a:prstDash val="solid"/>
          </a:ln>
        </p:spPr>
      </p:sp>
      <p:sp>
        <p:nvSpPr>
          <p:cNvPr id="6" name="Text 4"/>
          <p:cNvSpPr/>
          <p:nvPr/>
        </p:nvSpPr>
        <p:spPr>
          <a:xfrm>
            <a:off x="502920" y="1874520"/>
            <a:ext cx="1234440" cy="329184"/>
          </a:xfrm>
          <a:prstGeom prst="rect">
            <a:avLst/>
          </a:prstGeom>
          <a:noFill/>
          <a:ln/>
        </p:spPr>
        <p:txBody>
          <a:bodyPr wrap="square" rtlCol="0" anchor="ctr"/>
          <a:lstStyle/>
          <a:p>
            <a:pPr algn="ctr" indent="0" marL="0">
              <a:buNone/>
            </a:pPr>
            <a:r>
              <a:rPr lang="en-US" sz="1000" dirty="0">
                <a:solidFill>
                  <a:srgbClr val="1F1F1F"/>
                </a:solidFill>
                <a:latin typeface="Calibri" pitchFamily="34" charset="0"/>
                <a:ea typeface="Calibri" pitchFamily="34" charset="-122"/>
                <a:cs typeface="Calibri" pitchFamily="34" charset="-120"/>
              </a:rPr>
              <a:t>💵 Wages (job)</a:t>
            </a:r>
            <a:endParaRPr lang="en-US" sz="1000" dirty="0"/>
          </a:p>
        </p:txBody>
      </p:sp>
      <p:sp>
        <p:nvSpPr>
          <p:cNvPr id="7" name="Shape 5"/>
          <p:cNvSpPr/>
          <p:nvPr/>
        </p:nvSpPr>
        <p:spPr>
          <a:xfrm>
            <a:off x="1874520" y="1874520"/>
            <a:ext cx="1325880" cy="329184"/>
          </a:xfrm>
          <a:prstGeom prst="roundRect">
            <a:avLst>
              <a:gd name="adj" fmla="val 50000"/>
            </a:avLst>
          </a:prstGeom>
          <a:solidFill>
            <a:srgbClr val="F8F4EA"/>
          </a:solidFill>
          <a:ln w="12700">
            <a:solidFill>
              <a:srgbClr val="DAA520"/>
            </a:solidFill>
            <a:prstDash val="solid"/>
          </a:ln>
        </p:spPr>
      </p:sp>
      <p:sp>
        <p:nvSpPr>
          <p:cNvPr id="8" name="Text 6"/>
          <p:cNvSpPr/>
          <p:nvPr/>
        </p:nvSpPr>
        <p:spPr>
          <a:xfrm>
            <a:off x="1920240" y="1874520"/>
            <a:ext cx="1234440" cy="329184"/>
          </a:xfrm>
          <a:prstGeom prst="rect">
            <a:avLst/>
          </a:prstGeom>
          <a:noFill/>
          <a:ln/>
        </p:spPr>
        <p:txBody>
          <a:bodyPr wrap="square" rtlCol="0" anchor="ctr"/>
          <a:lstStyle/>
          <a:p>
            <a:pPr algn="ctr" indent="0" marL="0">
              <a:buNone/>
            </a:pPr>
            <a:r>
              <a:rPr lang="en-US" sz="1000" dirty="0">
                <a:solidFill>
                  <a:srgbClr val="1F1F1F"/>
                </a:solidFill>
                <a:latin typeface="Calibri" pitchFamily="34" charset="0"/>
                <a:ea typeface="Calibri" pitchFamily="34" charset="-122"/>
                <a:cs typeface="Calibri" pitchFamily="34" charset="-120"/>
              </a:rPr>
              <a:t>🚗 Gig (rideshare)</a:t>
            </a:r>
            <a:endParaRPr lang="en-US" sz="1000" dirty="0"/>
          </a:p>
        </p:txBody>
      </p:sp>
      <p:sp>
        <p:nvSpPr>
          <p:cNvPr id="9" name="Shape 7"/>
          <p:cNvSpPr/>
          <p:nvPr/>
        </p:nvSpPr>
        <p:spPr>
          <a:xfrm>
            <a:off x="3291840" y="1874520"/>
            <a:ext cx="1325880" cy="329184"/>
          </a:xfrm>
          <a:prstGeom prst="roundRect">
            <a:avLst>
              <a:gd name="adj" fmla="val 50000"/>
            </a:avLst>
          </a:prstGeom>
          <a:solidFill>
            <a:srgbClr val="F8F4EA"/>
          </a:solidFill>
          <a:ln w="12700">
            <a:solidFill>
              <a:srgbClr val="DAA520"/>
            </a:solidFill>
            <a:prstDash val="solid"/>
          </a:ln>
        </p:spPr>
      </p:sp>
      <p:sp>
        <p:nvSpPr>
          <p:cNvPr id="10" name="Text 8"/>
          <p:cNvSpPr/>
          <p:nvPr/>
        </p:nvSpPr>
        <p:spPr>
          <a:xfrm>
            <a:off x="3337560" y="1874520"/>
            <a:ext cx="1234440" cy="329184"/>
          </a:xfrm>
          <a:prstGeom prst="rect">
            <a:avLst/>
          </a:prstGeom>
          <a:noFill/>
          <a:ln/>
        </p:spPr>
        <p:txBody>
          <a:bodyPr wrap="square" rtlCol="0" anchor="ctr"/>
          <a:lstStyle/>
          <a:p>
            <a:pPr algn="ctr" indent="0" marL="0">
              <a:buNone/>
            </a:pPr>
            <a:r>
              <a:rPr lang="en-US" sz="1000" dirty="0">
                <a:solidFill>
                  <a:srgbClr val="1F1F1F"/>
                </a:solidFill>
                <a:latin typeface="Calibri" pitchFamily="34" charset="0"/>
                <a:ea typeface="Calibri" pitchFamily="34" charset="-122"/>
                <a:cs typeface="Calibri" pitchFamily="34" charset="-120"/>
              </a:rPr>
              <a:t>🤝 Family support</a:t>
            </a:r>
            <a:endParaRPr lang="en-US" sz="1000" dirty="0"/>
          </a:p>
        </p:txBody>
      </p:sp>
      <p:sp>
        <p:nvSpPr>
          <p:cNvPr id="11" name="Shape 9"/>
          <p:cNvSpPr/>
          <p:nvPr/>
        </p:nvSpPr>
        <p:spPr>
          <a:xfrm>
            <a:off x="4709160" y="1874520"/>
            <a:ext cx="1325880" cy="329184"/>
          </a:xfrm>
          <a:prstGeom prst="roundRect">
            <a:avLst>
              <a:gd name="adj" fmla="val 50000"/>
            </a:avLst>
          </a:prstGeom>
          <a:solidFill>
            <a:srgbClr val="F8F4EA"/>
          </a:solidFill>
          <a:ln w="12700">
            <a:solidFill>
              <a:srgbClr val="DAA520"/>
            </a:solidFill>
            <a:prstDash val="solid"/>
          </a:ln>
        </p:spPr>
      </p:sp>
      <p:sp>
        <p:nvSpPr>
          <p:cNvPr id="12" name="Text 10"/>
          <p:cNvSpPr/>
          <p:nvPr/>
        </p:nvSpPr>
        <p:spPr>
          <a:xfrm>
            <a:off x="4754880" y="1874520"/>
            <a:ext cx="1234440" cy="329184"/>
          </a:xfrm>
          <a:prstGeom prst="rect">
            <a:avLst/>
          </a:prstGeom>
          <a:noFill/>
          <a:ln/>
        </p:spPr>
        <p:txBody>
          <a:bodyPr wrap="square" rtlCol="0" anchor="ctr"/>
          <a:lstStyle/>
          <a:p>
            <a:pPr algn="ctr" indent="0" marL="0">
              <a:buNone/>
            </a:pPr>
            <a:r>
              <a:rPr lang="en-US" sz="1000" dirty="0">
                <a:solidFill>
                  <a:srgbClr val="1F1F1F"/>
                </a:solidFill>
                <a:latin typeface="Calibri" pitchFamily="34" charset="0"/>
                <a:ea typeface="Calibri" pitchFamily="34" charset="-122"/>
                <a:cs typeface="Calibri" pitchFamily="34" charset="-120"/>
              </a:rPr>
              <a:t>🪛 Side hustle</a:t>
            </a:r>
            <a:endParaRPr lang="en-US" sz="1000" dirty="0"/>
          </a:p>
        </p:txBody>
      </p:sp>
      <p:sp>
        <p:nvSpPr>
          <p:cNvPr id="13" name="Shape 11"/>
          <p:cNvSpPr/>
          <p:nvPr/>
        </p:nvSpPr>
        <p:spPr>
          <a:xfrm>
            <a:off x="6126480" y="1874520"/>
            <a:ext cx="1325880" cy="329184"/>
          </a:xfrm>
          <a:prstGeom prst="roundRect">
            <a:avLst>
              <a:gd name="adj" fmla="val 50000"/>
            </a:avLst>
          </a:prstGeom>
          <a:solidFill>
            <a:srgbClr val="F8F4EA"/>
          </a:solidFill>
          <a:ln w="12700">
            <a:solidFill>
              <a:srgbClr val="DAA520"/>
            </a:solidFill>
            <a:prstDash val="solid"/>
          </a:ln>
        </p:spPr>
      </p:sp>
      <p:sp>
        <p:nvSpPr>
          <p:cNvPr id="14" name="Text 12"/>
          <p:cNvSpPr/>
          <p:nvPr/>
        </p:nvSpPr>
        <p:spPr>
          <a:xfrm>
            <a:off x="6172200" y="1874520"/>
            <a:ext cx="1234440" cy="329184"/>
          </a:xfrm>
          <a:prstGeom prst="rect">
            <a:avLst/>
          </a:prstGeom>
          <a:noFill/>
          <a:ln/>
        </p:spPr>
        <p:txBody>
          <a:bodyPr wrap="square" rtlCol="0" anchor="ctr"/>
          <a:lstStyle/>
          <a:p>
            <a:pPr algn="ctr" indent="0" marL="0">
              <a:buNone/>
            </a:pPr>
            <a:r>
              <a:rPr lang="en-US" sz="1000" dirty="0">
                <a:solidFill>
                  <a:srgbClr val="1F1F1F"/>
                </a:solidFill>
                <a:latin typeface="Calibri" pitchFamily="34" charset="0"/>
                <a:ea typeface="Calibri" pitchFamily="34" charset="-122"/>
                <a:cs typeface="Calibri" pitchFamily="34" charset="-120"/>
              </a:rPr>
              <a:t>💳 Tips</a:t>
            </a:r>
            <a:endParaRPr lang="en-US" sz="1000" dirty="0"/>
          </a:p>
        </p:txBody>
      </p:sp>
      <p:sp>
        <p:nvSpPr>
          <p:cNvPr id="15" name="Shape 13"/>
          <p:cNvSpPr/>
          <p:nvPr/>
        </p:nvSpPr>
        <p:spPr>
          <a:xfrm>
            <a:off x="7543800" y="1874520"/>
            <a:ext cx="1325880" cy="329184"/>
          </a:xfrm>
          <a:prstGeom prst="roundRect">
            <a:avLst>
              <a:gd name="adj" fmla="val 50000"/>
            </a:avLst>
          </a:prstGeom>
          <a:solidFill>
            <a:srgbClr val="F8F4EA"/>
          </a:solidFill>
          <a:ln w="12700">
            <a:solidFill>
              <a:srgbClr val="DAA520"/>
            </a:solidFill>
            <a:prstDash val="solid"/>
          </a:ln>
        </p:spPr>
      </p:sp>
      <p:sp>
        <p:nvSpPr>
          <p:cNvPr id="16" name="Text 14"/>
          <p:cNvSpPr/>
          <p:nvPr/>
        </p:nvSpPr>
        <p:spPr>
          <a:xfrm>
            <a:off x="7589520" y="1874520"/>
            <a:ext cx="1234440" cy="329184"/>
          </a:xfrm>
          <a:prstGeom prst="rect">
            <a:avLst/>
          </a:prstGeom>
          <a:noFill/>
          <a:ln/>
        </p:spPr>
        <p:txBody>
          <a:bodyPr wrap="square" rtlCol="0" anchor="ctr"/>
          <a:lstStyle/>
          <a:p>
            <a:pPr algn="ctr" indent="0" marL="0">
              <a:buNone/>
            </a:pPr>
            <a:r>
              <a:rPr lang="en-US" sz="1000" dirty="0">
                <a:solidFill>
                  <a:srgbClr val="1F1F1F"/>
                </a:solidFill>
                <a:latin typeface="Calibri" pitchFamily="34" charset="0"/>
                <a:ea typeface="Calibri" pitchFamily="34" charset="-122"/>
                <a:cs typeface="Calibri" pitchFamily="34" charset="-120"/>
              </a:rPr>
              <a:t>🪜 Self-employed</a:t>
            </a:r>
            <a:endParaRPr lang="en-US" sz="1000" dirty="0"/>
          </a:p>
        </p:txBody>
      </p:sp>
      <p:sp>
        <p:nvSpPr>
          <p:cNvPr id="17" name="Shape 15"/>
          <p:cNvSpPr/>
          <p:nvPr/>
        </p:nvSpPr>
        <p:spPr>
          <a:xfrm>
            <a:off x="457200" y="2286000"/>
            <a:ext cx="1325880" cy="329184"/>
          </a:xfrm>
          <a:prstGeom prst="roundRect">
            <a:avLst>
              <a:gd name="adj" fmla="val 50000"/>
            </a:avLst>
          </a:prstGeom>
          <a:solidFill>
            <a:srgbClr val="F8F4EA"/>
          </a:solidFill>
          <a:ln w="12700">
            <a:solidFill>
              <a:srgbClr val="DAA520"/>
            </a:solidFill>
            <a:prstDash val="solid"/>
          </a:ln>
        </p:spPr>
      </p:sp>
      <p:sp>
        <p:nvSpPr>
          <p:cNvPr id="18" name="Text 16"/>
          <p:cNvSpPr/>
          <p:nvPr/>
        </p:nvSpPr>
        <p:spPr>
          <a:xfrm>
            <a:off x="502920" y="2286000"/>
            <a:ext cx="1234440" cy="329184"/>
          </a:xfrm>
          <a:prstGeom prst="rect">
            <a:avLst/>
          </a:prstGeom>
          <a:noFill/>
          <a:ln/>
        </p:spPr>
        <p:txBody>
          <a:bodyPr wrap="square" rtlCol="0" anchor="ctr"/>
          <a:lstStyle/>
          <a:p>
            <a:pPr algn="ctr" indent="0" marL="0">
              <a:buNone/>
            </a:pPr>
            <a:r>
              <a:rPr lang="en-US" sz="1000" dirty="0">
                <a:solidFill>
                  <a:srgbClr val="1F1F1F"/>
                </a:solidFill>
                <a:latin typeface="Calibri" pitchFamily="34" charset="0"/>
                <a:ea typeface="Calibri" pitchFamily="34" charset="-122"/>
                <a:cs typeface="Calibri" pitchFamily="34" charset="-120"/>
              </a:rPr>
              <a:t>🎓 Stipend</a:t>
            </a:r>
            <a:endParaRPr lang="en-US" sz="1000" dirty="0"/>
          </a:p>
        </p:txBody>
      </p:sp>
      <p:sp>
        <p:nvSpPr>
          <p:cNvPr id="19" name="Shape 17"/>
          <p:cNvSpPr/>
          <p:nvPr/>
        </p:nvSpPr>
        <p:spPr>
          <a:xfrm>
            <a:off x="1874520" y="2286000"/>
            <a:ext cx="1325880" cy="329184"/>
          </a:xfrm>
          <a:prstGeom prst="roundRect">
            <a:avLst>
              <a:gd name="adj" fmla="val 50000"/>
            </a:avLst>
          </a:prstGeom>
          <a:solidFill>
            <a:srgbClr val="F8F4EA"/>
          </a:solidFill>
          <a:ln w="12700">
            <a:solidFill>
              <a:srgbClr val="DAA520"/>
            </a:solidFill>
            <a:prstDash val="solid"/>
          </a:ln>
        </p:spPr>
      </p:sp>
      <p:sp>
        <p:nvSpPr>
          <p:cNvPr id="20" name="Text 18"/>
          <p:cNvSpPr/>
          <p:nvPr/>
        </p:nvSpPr>
        <p:spPr>
          <a:xfrm>
            <a:off x="1920240" y="2286000"/>
            <a:ext cx="1234440" cy="329184"/>
          </a:xfrm>
          <a:prstGeom prst="rect">
            <a:avLst/>
          </a:prstGeom>
          <a:noFill/>
          <a:ln/>
        </p:spPr>
        <p:txBody>
          <a:bodyPr wrap="square" rtlCol="0" anchor="ctr"/>
          <a:lstStyle/>
          <a:p>
            <a:pPr algn="ctr" indent="0" marL="0">
              <a:buNone/>
            </a:pPr>
            <a:r>
              <a:rPr lang="en-US" sz="1000" dirty="0">
                <a:solidFill>
                  <a:srgbClr val="1F1F1F"/>
                </a:solidFill>
                <a:latin typeface="Calibri" pitchFamily="34" charset="0"/>
                <a:ea typeface="Calibri" pitchFamily="34" charset="-122"/>
                <a:cs typeface="Calibri" pitchFamily="34" charset="-120"/>
              </a:rPr>
              <a:t>🏠 Rent</a:t>
            </a:r>
            <a:endParaRPr lang="en-US" sz="1000" dirty="0"/>
          </a:p>
        </p:txBody>
      </p:sp>
      <p:sp>
        <p:nvSpPr>
          <p:cNvPr id="21" name="Shape 19"/>
          <p:cNvSpPr/>
          <p:nvPr/>
        </p:nvSpPr>
        <p:spPr>
          <a:xfrm>
            <a:off x="3291840" y="2286000"/>
            <a:ext cx="1325880" cy="329184"/>
          </a:xfrm>
          <a:prstGeom prst="roundRect">
            <a:avLst>
              <a:gd name="adj" fmla="val 50000"/>
            </a:avLst>
          </a:prstGeom>
          <a:solidFill>
            <a:srgbClr val="F8F4EA"/>
          </a:solidFill>
          <a:ln w="12700">
            <a:solidFill>
              <a:srgbClr val="DAA520"/>
            </a:solidFill>
            <a:prstDash val="solid"/>
          </a:ln>
        </p:spPr>
      </p:sp>
      <p:sp>
        <p:nvSpPr>
          <p:cNvPr id="22" name="Text 20"/>
          <p:cNvSpPr/>
          <p:nvPr/>
        </p:nvSpPr>
        <p:spPr>
          <a:xfrm>
            <a:off x="3337560" y="2286000"/>
            <a:ext cx="1234440" cy="329184"/>
          </a:xfrm>
          <a:prstGeom prst="rect">
            <a:avLst/>
          </a:prstGeom>
          <a:noFill/>
          <a:ln/>
        </p:spPr>
        <p:txBody>
          <a:bodyPr wrap="square" rtlCol="0" anchor="ctr"/>
          <a:lstStyle/>
          <a:p>
            <a:pPr algn="ctr" indent="0" marL="0">
              <a:buNone/>
            </a:pPr>
            <a:r>
              <a:rPr lang="en-US" sz="1000" dirty="0">
                <a:solidFill>
                  <a:srgbClr val="1F1F1F"/>
                </a:solidFill>
                <a:latin typeface="Calibri" pitchFamily="34" charset="0"/>
                <a:ea typeface="Calibri" pitchFamily="34" charset="-122"/>
                <a:cs typeface="Calibri" pitchFamily="34" charset="-120"/>
              </a:rPr>
              <a:t>🍞 Food</a:t>
            </a:r>
            <a:endParaRPr lang="en-US" sz="1000" dirty="0"/>
          </a:p>
        </p:txBody>
      </p:sp>
      <p:sp>
        <p:nvSpPr>
          <p:cNvPr id="23" name="Shape 21"/>
          <p:cNvSpPr/>
          <p:nvPr/>
        </p:nvSpPr>
        <p:spPr>
          <a:xfrm>
            <a:off x="4709160" y="2286000"/>
            <a:ext cx="1325880" cy="329184"/>
          </a:xfrm>
          <a:prstGeom prst="roundRect">
            <a:avLst>
              <a:gd name="adj" fmla="val 50000"/>
            </a:avLst>
          </a:prstGeom>
          <a:solidFill>
            <a:srgbClr val="F8F4EA"/>
          </a:solidFill>
          <a:ln w="12700">
            <a:solidFill>
              <a:srgbClr val="DAA520"/>
            </a:solidFill>
            <a:prstDash val="solid"/>
          </a:ln>
        </p:spPr>
      </p:sp>
      <p:sp>
        <p:nvSpPr>
          <p:cNvPr id="24" name="Text 22"/>
          <p:cNvSpPr/>
          <p:nvPr/>
        </p:nvSpPr>
        <p:spPr>
          <a:xfrm>
            <a:off x="4754880" y="2286000"/>
            <a:ext cx="1234440" cy="329184"/>
          </a:xfrm>
          <a:prstGeom prst="rect">
            <a:avLst/>
          </a:prstGeom>
          <a:noFill/>
          <a:ln/>
        </p:spPr>
        <p:txBody>
          <a:bodyPr wrap="square" rtlCol="0" anchor="ctr"/>
          <a:lstStyle/>
          <a:p>
            <a:pPr algn="ctr" indent="0" marL="0">
              <a:buNone/>
            </a:pPr>
            <a:r>
              <a:rPr lang="en-US" sz="1000" dirty="0">
                <a:solidFill>
                  <a:srgbClr val="1F1F1F"/>
                </a:solidFill>
                <a:latin typeface="Calibri" pitchFamily="34" charset="0"/>
                <a:ea typeface="Calibri" pitchFamily="34" charset="-122"/>
                <a:cs typeface="Calibri" pitchFamily="34" charset="-120"/>
              </a:rPr>
              <a:t>⚡ Utilities</a:t>
            </a:r>
            <a:endParaRPr lang="en-US" sz="1000" dirty="0"/>
          </a:p>
        </p:txBody>
      </p:sp>
      <p:sp>
        <p:nvSpPr>
          <p:cNvPr id="25" name="Shape 23"/>
          <p:cNvSpPr/>
          <p:nvPr/>
        </p:nvSpPr>
        <p:spPr>
          <a:xfrm>
            <a:off x="6126480" y="2286000"/>
            <a:ext cx="1325880" cy="329184"/>
          </a:xfrm>
          <a:prstGeom prst="roundRect">
            <a:avLst>
              <a:gd name="adj" fmla="val 50000"/>
            </a:avLst>
          </a:prstGeom>
          <a:solidFill>
            <a:srgbClr val="F8F4EA"/>
          </a:solidFill>
          <a:ln w="12700">
            <a:solidFill>
              <a:srgbClr val="DAA520"/>
            </a:solidFill>
            <a:prstDash val="solid"/>
          </a:ln>
        </p:spPr>
      </p:sp>
      <p:sp>
        <p:nvSpPr>
          <p:cNvPr id="26" name="Text 24"/>
          <p:cNvSpPr/>
          <p:nvPr/>
        </p:nvSpPr>
        <p:spPr>
          <a:xfrm>
            <a:off x="6172200" y="2286000"/>
            <a:ext cx="1234440" cy="329184"/>
          </a:xfrm>
          <a:prstGeom prst="rect">
            <a:avLst/>
          </a:prstGeom>
          <a:noFill/>
          <a:ln/>
        </p:spPr>
        <p:txBody>
          <a:bodyPr wrap="square" rtlCol="0" anchor="ctr"/>
          <a:lstStyle/>
          <a:p>
            <a:pPr algn="ctr" indent="0" marL="0">
              <a:buNone/>
            </a:pPr>
            <a:r>
              <a:rPr lang="en-US" sz="1000" dirty="0">
                <a:solidFill>
                  <a:srgbClr val="1F1F1F"/>
                </a:solidFill>
                <a:latin typeface="Calibri" pitchFamily="34" charset="0"/>
                <a:ea typeface="Calibri" pitchFamily="34" charset="-122"/>
                <a:cs typeface="Calibri" pitchFamily="34" charset="-120"/>
              </a:rPr>
              <a:t>🚌 Transit</a:t>
            </a:r>
            <a:endParaRPr lang="en-US" sz="1000" dirty="0"/>
          </a:p>
        </p:txBody>
      </p:sp>
      <p:sp>
        <p:nvSpPr>
          <p:cNvPr id="27" name="Shape 25"/>
          <p:cNvSpPr/>
          <p:nvPr/>
        </p:nvSpPr>
        <p:spPr>
          <a:xfrm>
            <a:off x="7543800" y="2286000"/>
            <a:ext cx="1325880" cy="329184"/>
          </a:xfrm>
          <a:prstGeom prst="roundRect">
            <a:avLst>
              <a:gd name="adj" fmla="val 50000"/>
            </a:avLst>
          </a:prstGeom>
          <a:solidFill>
            <a:srgbClr val="F8F4EA"/>
          </a:solidFill>
          <a:ln w="12700">
            <a:solidFill>
              <a:srgbClr val="DAA520"/>
            </a:solidFill>
            <a:prstDash val="solid"/>
          </a:ln>
        </p:spPr>
      </p:sp>
      <p:sp>
        <p:nvSpPr>
          <p:cNvPr id="28" name="Text 26"/>
          <p:cNvSpPr/>
          <p:nvPr/>
        </p:nvSpPr>
        <p:spPr>
          <a:xfrm>
            <a:off x="7589520" y="2286000"/>
            <a:ext cx="1234440" cy="329184"/>
          </a:xfrm>
          <a:prstGeom prst="rect">
            <a:avLst/>
          </a:prstGeom>
          <a:noFill/>
          <a:ln/>
        </p:spPr>
        <p:txBody>
          <a:bodyPr wrap="square" rtlCol="0" anchor="ctr"/>
          <a:lstStyle/>
          <a:p>
            <a:pPr algn="ctr" indent="0" marL="0">
              <a:buNone/>
            </a:pPr>
            <a:r>
              <a:rPr lang="en-US" sz="1000" dirty="0">
                <a:solidFill>
                  <a:srgbClr val="1F1F1F"/>
                </a:solidFill>
                <a:latin typeface="Calibri" pitchFamily="34" charset="0"/>
                <a:ea typeface="Calibri" pitchFamily="34" charset="-122"/>
                <a:cs typeface="Calibri" pitchFamily="34" charset="-120"/>
              </a:rPr>
              <a:t>☎ Phone bill</a:t>
            </a:r>
            <a:endParaRPr lang="en-US" sz="1000" dirty="0"/>
          </a:p>
        </p:txBody>
      </p:sp>
      <p:sp>
        <p:nvSpPr>
          <p:cNvPr id="29" name="Text 27"/>
          <p:cNvSpPr/>
          <p:nvPr/>
        </p:nvSpPr>
        <p:spPr>
          <a:xfrm>
            <a:off x="457200" y="2926080"/>
            <a:ext cx="8229600" cy="274320"/>
          </a:xfrm>
          <a:prstGeom prst="rect">
            <a:avLst/>
          </a:prstGeom>
          <a:noFill/>
          <a:ln/>
        </p:spPr>
        <p:txBody>
          <a:bodyPr wrap="square" rtlCol="0" anchor="ctr"/>
          <a:lstStyle/>
          <a:p>
            <a:pPr indent="0" marL="0">
              <a:buNone/>
            </a:pPr>
            <a:r>
              <a:rPr lang="en-US" sz="1300" b="1" dirty="0">
                <a:solidFill>
                  <a:srgbClr val="8C6810"/>
                </a:solidFill>
                <a:latin typeface="Calibri" pitchFamily="34" charset="0"/>
                <a:ea typeface="Calibri" pitchFamily="34" charset="-122"/>
                <a:cs typeface="Calibri" pitchFamily="34" charset="-120"/>
              </a:rPr>
              <a:t>Quick-start templates (4)</a:t>
            </a:r>
            <a:endParaRPr lang="en-US" sz="1300" dirty="0"/>
          </a:p>
        </p:txBody>
      </p:sp>
      <p:sp>
        <p:nvSpPr>
          <p:cNvPr id="30" name="Shape 28"/>
          <p:cNvSpPr/>
          <p:nvPr/>
        </p:nvSpPr>
        <p:spPr>
          <a:xfrm>
            <a:off x="457200" y="3246120"/>
            <a:ext cx="2057400" cy="1097280"/>
          </a:xfrm>
          <a:prstGeom prst="roundRect">
            <a:avLst>
              <a:gd name="adj" fmla="val 8333"/>
            </a:avLst>
          </a:prstGeom>
          <a:solidFill>
            <a:srgbClr val="0E0E0E"/>
          </a:solidFill>
          <a:ln w="12700">
            <a:solidFill>
              <a:srgbClr val="DAA520"/>
            </a:solidFill>
            <a:prstDash val="solid"/>
          </a:ln>
        </p:spPr>
      </p:sp>
      <p:sp>
        <p:nvSpPr>
          <p:cNvPr id="31" name="Text 29"/>
          <p:cNvSpPr/>
          <p:nvPr/>
        </p:nvSpPr>
        <p:spPr>
          <a:xfrm>
            <a:off x="457200" y="3337560"/>
            <a:ext cx="2057400" cy="457200"/>
          </a:xfrm>
          <a:prstGeom prst="rect">
            <a:avLst/>
          </a:prstGeom>
          <a:noFill/>
          <a:ln/>
        </p:spPr>
        <p:txBody>
          <a:bodyPr wrap="square" rtlCol="0" anchor="ctr"/>
          <a:lstStyle/>
          <a:p>
            <a:pPr algn="ctr" indent="0" marL="0">
              <a:buNone/>
            </a:pPr>
            <a:r>
              <a:rPr lang="en-US" sz="2400" dirty="0">
                <a:solidFill>
                  <a:srgbClr val="DAA520"/>
                </a:solidFill>
              </a:rPr>
              <a:t>🆕</a:t>
            </a:r>
            <a:endParaRPr lang="en-US" sz="2400" dirty="0"/>
          </a:p>
        </p:txBody>
      </p:sp>
      <p:sp>
        <p:nvSpPr>
          <p:cNvPr id="32" name="Text 30"/>
          <p:cNvSpPr/>
          <p:nvPr/>
        </p:nvSpPr>
        <p:spPr>
          <a:xfrm>
            <a:off x="548640" y="3794760"/>
            <a:ext cx="1874520" cy="274320"/>
          </a:xfrm>
          <a:prstGeom prst="rect">
            <a:avLst/>
          </a:prstGeom>
          <a:noFill/>
          <a:ln/>
        </p:spPr>
        <p:txBody>
          <a:bodyPr wrap="square" rtlCol="0" anchor="ctr"/>
          <a:lstStyle/>
          <a:p>
            <a:pPr algn="ctr" indent="0" marL="0">
              <a:buNone/>
            </a:pPr>
            <a:r>
              <a:rPr lang="en-US" sz="1100" b="1" dirty="0">
                <a:solidFill>
                  <a:srgbClr val="FAF7EE"/>
                </a:solidFill>
                <a:latin typeface="Calibri" pitchFamily="34" charset="0"/>
                <a:ea typeface="Calibri" pitchFamily="34" charset="-122"/>
                <a:cs typeface="Calibri" pitchFamily="34" charset="-120"/>
              </a:rPr>
              <a:t>Just released</a:t>
            </a:r>
            <a:endParaRPr lang="en-US" sz="1100" dirty="0"/>
          </a:p>
        </p:txBody>
      </p:sp>
      <p:sp>
        <p:nvSpPr>
          <p:cNvPr id="33" name="Text 31"/>
          <p:cNvSpPr/>
          <p:nvPr/>
        </p:nvSpPr>
        <p:spPr>
          <a:xfrm>
            <a:off x="548640" y="4023360"/>
            <a:ext cx="1874520" cy="274320"/>
          </a:xfrm>
          <a:prstGeom prst="rect">
            <a:avLst/>
          </a:prstGeom>
          <a:noFill/>
          <a:ln/>
        </p:spPr>
        <p:txBody>
          <a:bodyPr wrap="square" rtlCol="0" anchor="ctr"/>
          <a:lstStyle/>
          <a:p>
            <a:pPr algn="ctr" indent="0" marL="0">
              <a:buNone/>
            </a:pPr>
            <a:r>
              <a:rPr lang="en-US" sz="900" dirty="0">
                <a:solidFill>
                  <a:srgbClr val="B5B0A8"/>
                </a:solidFill>
                <a:latin typeface="Calibri" pitchFamily="34" charset="0"/>
                <a:ea typeface="Calibri" pitchFamily="34" charset="-122"/>
                <a:cs typeface="Calibri" pitchFamily="34" charset="-120"/>
              </a:rPr>
              <a:t>No income yet</a:t>
            </a:r>
            <a:endParaRPr lang="en-US" sz="900" dirty="0"/>
          </a:p>
        </p:txBody>
      </p:sp>
      <p:sp>
        <p:nvSpPr>
          <p:cNvPr id="34" name="Shape 32"/>
          <p:cNvSpPr/>
          <p:nvPr/>
        </p:nvSpPr>
        <p:spPr>
          <a:xfrm>
            <a:off x="2606040" y="3246120"/>
            <a:ext cx="2057400" cy="1097280"/>
          </a:xfrm>
          <a:prstGeom prst="roundRect">
            <a:avLst>
              <a:gd name="adj" fmla="val 8333"/>
            </a:avLst>
          </a:prstGeom>
          <a:solidFill>
            <a:srgbClr val="0E0E0E"/>
          </a:solidFill>
          <a:ln w="12700">
            <a:solidFill>
              <a:srgbClr val="DAA520"/>
            </a:solidFill>
            <a:prstDash val="solid"/>
          </a:ln>
        </p:spPr>
      </p:sp>
      <p:sp>
        <p:nvSpPr>
          <p:cNvPr id="35" name="Text 33"/>
          <p:cNvSpPr/>
          <p:nvPr/>
        </p:nvSpPr>
        <p:spPr>
          <a:xfrm>
            <a:off x="2606040" y="3337560"/>
            <a:ext cx="2057400" cy="457200"/>
          </a:xfrm>
          <a:prstGeom prst="rect">
            <a:avLst/>
          </a:prstGeom>
          <a:noFill/>
          <a:ln/>
        </p:spPr>
        <p:txBody>
          <a:bodyPr wrap="square" rtlCol="0" anchor="ctr"/>
          <a:lstStyle/>
          <a:p>
            <a:pPr algn="ctr" indent="0" marL="0">
              <a:buNone/>
            </a:pPr>
            <a:r>
              <a:rPr lang="en-US" sz="2400" dirty="0">
                <a:solidFill>
                  <a:srgbClr val="DAA520"/>
                </a:solidFill>
              </a:rPr>
              <a:t>🛠</a:t>
            </a:r>
            <a:endParaRPr lang="en-US" sz="2400" dirty="0"/>
          </a:p>
        </p:txBody>
      </p:sp>
      <p:sp>
        <p:nvSpPr>
          <p:cNvPr id="36" name="Text 34"/>
          <p:cNvSpPr/>
          <p:nvPr/>
        </p:nvSpPr>
        <p:spPr>
          <a:xfrm>
            <a:off x="2697480" y="3794760"/>
            <a:ext cx="1874520" cy="274320"/>
          </a:xfrm>
          <a:prstGeom prst="rect">
            <a:avLst/>
          </a:prstGeom>
          <a:noFill/>
          <a:ln/>
        </p:spPr>
        <p:txBody>
          <a:bodyPr wrap="square" rtlCol="0" anchor="ctr"/>
          <a:lstStyle/>
          <a:p>
            <a:pPr algn="ctr" indent="0" marL="0">
              <a:buNone/>
            </a:pPr>
            <a:r>
              <a:rPr lang="en-US" sz="1100" b="1" dirty="0">
                <a:solidFill>
                  <a:srgbClr val="FAF7EE"/>
                </a:solidFill>
                <a:latin typeface="Calibri" pitchFamily="34" charset="0"/>
                <a:ea typeface="Calibri" pitchFamily="34" charset="-122"/>
                <a:cs typeface="Calibri" pitchFamily="34" charset="-120"/>
              </a:rPr>
              <a:t>Working part-time</a:t>
            </a:r>
            <a:endParaRPr lang="en-US" sz="1100" dirty="0"/>
          </a:p>
        </p:txBody>
      </p:sp>
      <p:sp>
        <p:nvSpPr>
          <p:cNvPr id="37" name="Text 35"/>
          <p:cNvSpPr/>
          <p:nvPr/>
        </p:nvSpPr>
        <p:spPr>
          <a:xfrm>
            <a:off x="2697480" y="4023360"/>
            <a:ext cx="1874520" cy="274320"/>
          </a:xfrm>
          <a:prstGeom prst="rect">
            <a:avLst/>
          </a:prstGeom>
          <a:noFill/>
          <a:ln/>
        </p:spPr>
        <p:txBody>
          <a:bodyPr wrap="square" rtlCol="0" anchor="ctr"/>
          <a:lstStyle/>
          <a:p>
            <a:pPr algn="ctr" indent="0" marL="0">
              <a:buNone/>
            </a:pPr>
            <a:r>
              <a:rPr lang="en-US" sz="900" dirty="0">
                <a:solidFill>
                  <a:srgbClr val="B5B0A8"/>
                </a:solidFill>
                <a:latin typeface="Calibri" pitchFamily="34" charset="0"/>
                <a:ea typeface="Calibri" pitchFamily="34" charset="-122"/>
                <a:cs typeface="Calibri" pitchFamily="34" charset="-120"/>
              </a:rPr>
              <a:t>Some wages, gaps</a:t>
            </a:r>
            <a:endParaRPr lang="en-US" sz="900" dirty="0"/>
          </a:p>
        </p:txBody>
      </p:sp>
      <p:sp>
        <p:nvSpPr>
          <p:cNvPr id="38" name="Shape 36"/>
          <p:cNvSpPr/>
          <p:nvPr/>
        </p:nvSpPr>
        <p:spPr>
          <a:xfrm>
            <a:off x="4754880" y="3246120"/>
            <a:ext cx="2057400" cy="1097280"/>
          </a:xfrm>
          <a:prstGeom prst="roundRect">
            <a:avLst>
              <a:gd name="adj" fmla="val 8333"/>
            </a:avLst>
          </a:prstGeom>
          <a:solidFill>
            <a:srgbClr val="0E0E0E"/>
          </a:solidFill>
          <a:ln w="12700">
            <a:solidFill>
              <a:srgbClr val="DAA520"/>
            </a:solidFill>
            <a:prstDash val="solid"/>
          </a:ln>
        </p:spPr>
      </p:sp>
      <p:sp>
        <p:nvSpPr>
          <p:cNvPr id="39" name="Text 37"/>
          <p:cNvSpPr/>
          <p:nvPr/>
        </p:nvSpPr>
        <p:spPr>
          <a:xfrm>
            <a:off x="4754880" y="3337560"/>
            <a:ext cx="2057400" cy="457200"/>
          </a:xfrm>
          <a:prstGeom prst="rect">
            <a:avLst/>
          </a:prstGeom>
          <a:noFill/>
          <a:ln/>
        </p:spPr>
        <p:txBody>
          <a:bodyPr wrap="square" rtlCol="0" anchor="ctr"/>
          <a:lstStyle/>
          <a:p>
            <a:pPr algn="ctr" indent="0" marL="0">
              <a:buNone/>
            </a:pPr>
            <a:r>
              <a:rPr lang="en-US" sz="2400" dirty="0">
                <a:solidFill>
                  <a:srgbClr val="DAA520"/>
                </a:solidFill>
              </a:rPr>
              <a:t>🎓</a:t>
            </a:r>
            <a:endParaRPr lang="en-US" sz="2400" dirty="0"/>
          </a:p>
        </p:txBody>
      </p:sp>
      <p:sp>
        <p:nvSpPr>
          <p:cNvPr id="40" name="Text 38"/>
          <p:cNvSpPr/>
          <p:nvPr/>
        </p:nvSpPr>
        <p:spPr>
          <a:xfrm>
            <a:off x="4846320" y="3794760"/>
            <a:ext cx="1874520" cy="274320"/>
          </a:xfrm>
          <a:prstGeom prst="rect">
            <a:avLst/>
          </a:prstGeom>
          <a:noFill/>
          <a:ln/>
        </p:spPr>
        <p:txBody>
          <a:bodyPr wrap="square" rtlCol="0" anchor="ctr"/>
          <a:lstStyle/>
          <a:p>
            <a:pPr algn="ctr" indent="0" marL="0">
              <a:buNone/>
            </a:pPr>
            <a:r>
              <a:rPr lang="en-US" sz="1100" b="1" dirty="0">
                <a:solidFill>
                  <a:srgbClr val="FAF7EE"/>
                </a:solidFill>
                <a:latin typeface="Calibri" pitchFamily="34" charset="0"/>
                <a:ea typeface="Calibri" pitchFamily="34" charset="-122"/>
                <a:cs typeface="Calibri" pitchFamily="34" charset="-120"/>
              </a:rPr>
              <a:t>School + side hustle</a:t>
            </a:r>
            <a:endParaRPr lang="en-US" sz="1100" dirty="0"/>
          </a:p>
        </p:txBody>
      </p:sp>
      <p:sp>
        <p:nvSpPr>
          <p:cNvPr id="41" name="Text 39"/>
          <p:cNvSpPr/>
          <p:nvPr/>
        </p:nvSpPr>
        <p:spPr>
          <a:xfrm>
            <a:off x="4846320" y="4023360"/>
            <a:ext cx="1874520" cy="274320"/>
          </a:xfrm>
          <a:prstGeom prst="rect">
            <a:avLst/>
          </a:prstGeom>
          <a:noFill/>
          <a:ln/>
        </p:spPr>
        <p:txBody>
          <a:bodyPr wrap="square" rtlCol="0" anchor="ctr"/>
          <a:lstStyle/>
          <a:p>
            <a:pPr algn="ctr" indent="0" marL="0">
              <a:buNone/>
            </a:pPr>
            <a:r>
              <a:rPr lang="en-US" sz="900" dirty="0">
                <a:solidFill>
                  <a:srgbClr val="B5B0A8"/>
                </a:solidFill>
                <a:latin typeface="Calibri" pitchFamily="34" charset="0"/>
                <a:ea typeface="Calibri" pitchFamily="34" charset="-122"/>
                <a:cs typeface="Calibri" pitchFamily="34" charset="-120"/>
              </a:rPr>
              <a:t>Stipend + gig</a:t>
            </a:r>
            <a:endParaRPr lang="en-US" sz="900" dirty="0"/>
          </a:p>
        </p:txBody>
      </p:sp>
      <p:sp>
        <p:nvSpPr>
          <p:cNvPr id="42" name="Shape 40"/>
          <p:cNvSpPr/>
          <p:nvPr/>
        </p:nvSpPr>
        <p:spPr>
          <a:xfrm>
            <a:off x="6903720" y="3246120"/>
            <a:ext cx="2057400" cy="1097280"/>
          </a:xfrm>
          <a:prstGeom prst="roundRect">
            <a:avLst>
              <a:gd name="adj" fmla="val 8333"/>
            </a:avLst>
          </a:prstGeom>
          <a:solidFill>
            <a:srgbClr val="0E0E0E"/>
          </a:solidFill>
          <a:ln w="12700">
            <a:solidFill>
              <a:srgbClr val="DAA520"/>
            </a:solidFill>
            <a:prstDash val="solid"/>
          </a:ln>
        </p:spPr>
      </p:sp>
      <p:sp>
        <p:nvSpPr>
          <p:cNvPr id="43" name="Text 41"/>
          <p:cNvSpPr/>
          <p:nvPr/>
        </p:nvSpPr>
        <p:spPr>
          <a:xfrm>
            <a:off x="6903720" y="3337560"/>
            <a:ext cx="2057400" cy="457200"/>
          </a:xfrm>
          <a:prstGeom prst="rect">
            <a:avLst/>
          </a:prstGeom>
          <a:noFill/>
          <a:ln/>
        </p:spPr>
        <p:txBody>
          <a:bodyPr wrap="square" rtlCol="0" anchor="ctr"/>
          <a:lstStyle/>
          <a:p>
            <a:pPr algn="ctr" indent="0" marL="0">
              <a:buNone/>
            </a:pPr>
            <a:r>
              <a:rPr lang="en-US" sz="2400" dirty="0">
                <a:solidFill>
                  <a:srgbClr val="DAA520"/>
                </a:solidFill>
              </a:rPr>
              <a:t>🤝</a:t>
            </a:r>
            <a:endParaRPr lang="en-US" sz="2400" dirty="0"/>
          </a:p>
        </p:txBody>
      </p:sp>
      <p:sp>
        <p:nvSpPr>
          <p:cNvPr id="44" name="Text 42"/>
          <p:cNvSpPr/>
          <p:nvPr/>
        </p:nvSpPr>
        <p:spPr>
          <a:xfrm>
            <a:off x="6995160" y="3794760"/>
            <a:ext cx="1874520" cy="274320"/>
          </a:xfrm>
          <a:prstGeom prst="rect">
            <a:avLst/>
          </a:prstGeom>
          <a:noFill/>
          <a:ln/>
        </p:spPr>
        <p:txBody>
          <a:bodyPr wrap="square" rtlCol="0" anchor="ctr"/>
          <a:lstStyle/>
          <a:p>
            <a:pPr algn="ctr" indent="0" marL="0">
              <a:buNone/>
            </a:pPr>
            <a:r>
              <a:rPr lang="en-US" sz="1100" b="1" dirty="0">
                <a:solidFill>
                  <a:srgbClr val="FAF7EE"/>
                </a:solidFill>
                <a:latin typeface="Calibri" pitchFamily="34" charset="0"/>
                <a:ea typeface="Calibri" pitchFamily="34" charset="-122"/>
                <a:cs typeface="Calibri" pitchFamily="34" charset="-120"/>
              </a:rPr>
              <a:t>Family support</a:t>
            </a:r>
            <a:endParaRPr lang="en-US" sz="1100" dirty="0"/>
          </a:p>
        </p:txBody>
      </p:sp>
      <p:sp>
        <p:nvSpPr>
          <p:cNvPr id="45" name="Text 43"/>
          <p:cNvSpPr/>
          <p:nvPr/>
        </p:nvSpPr>
        <p:spPr>
          <a:xfrm>
            <a:off x="6995160" y="4023360"/>
            <a:ext cx="1874520" cy="274320"/>
          </a:xfrm>
          <a:prstGeom prst="rect">
            <a:avLst/>
          </a:prstGeom>
          <a:noFill/>
          <a:ln/>
        </p:spPr>
        <p:txBody>
          <a:bodyPr wrap="square" rtlCol="0" anchor="ctr"/>
          <a:lstStyle/>
          <a:p>
            <a:pPr algn="ctr" indent="0" marL="0">
              <a:buNone/>
            </a:pPr>
            <a:r>
              <a:rPr lang="en-US" sz="900" dirty="0">
                <a:solidFill>
                  <a:srgbClr val="B5B0A8"/>
                </a:solidFill>
                <a:latin typeface="Calibri" pitchFamily="34" charset="0"/>
                <a:ea typeface="Calibri" pitchFamily="34" charset="-122"/>
                <a:cs typeface="Calibri" pitchFamily="34" charset="-120"/>
              </a:rPr>
              <a:t>Living with relative</a:t>
            </a:r>
            <a:endParaRPr lang="en-US" sz="900" dirty="0"/>
          </a:p>
        </p:txBody>
      </p:sp>
      <p:sp>
        <p:nvSpPr>
          <p:cNvPr id="46" name="Text 44"/>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09 / 30</a:t>
            </a:r>
            <a:endParaRPr lang="en-US" sz="900" dirty="0"/>
          </a:p>
        </p:txBody>
      </p:sp>
      <p:sp>
        <p:nvSpPr>
          <p:cNvPr id="47" name="Text 45"/>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WALKTHROUGH 2 · LIVE KPIs + PLAN HEALTH</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400" b="1" dirty="0">
                <a:solidFill>
                  <a:srgbClr val="1F1F1F"/>
                </a:solidFill>
                <a:latin typeface="Georgia" pitchFamily="34" charset="0"/>
                <a:ea typeface="Georgia" pitchFamily="34" charset="-122"/>
                <a:cs typeface="Georgia" pitchFamily="34" charset="-120"/>
              </a:rPr>
              <a:t>Live KPIs and a 0–100 plan-health score.</a:t>
            </a:r>
            <a:endParaRPr lang="en-US" sz="2400" dirty="0"/>
          </a:p>
        </p:txBody>
      </p:sp>
      <p:sp>
        <p:nvSpPr>
          <p:cNvPr id="4" name="Shape 2"/>
          <p:cNvSpPr/>
          <p:nvPr/>
        </p:nvSpPr>
        <p:spPr>
          <a:xfrm>
            <a:off x="457200" y="1554480"/>
            <a:ext cx="3657600" cy="3017520"/>
          </a:xfrm>
          <a:prstGeom prst="roundRect">
            <a:avLst>
              <a:gd name="adj" fmla="val 3636"/>
            </a:avLst>
          </a:prstGeom>
          <a:solidFill>
            <a:srgbClr val="0E0E0E"/>
          </a:solidFill>
          <a:ln w="12700">
            <a:solidFill>
              <a:srgbClr val="DAA520"/>
            </a:solidFill>
            <a:prstDash val="solid"/>
          </a:ln>
        </p:spPr>
      </p:sp>
      <p:sp>
        <p:nvSpPr>
          <p:cNvPr id="5" name="Text 3"/>
          <p:cNvSpPr/>
          <p:nvPr/>
        </p:nvSpPr>
        <p:spPr>
          <a:xfrm>
            <a:off x="640080" y="1691640"/>
            <a:ext cx="3291840" cy="274320"/>
          </a:xfrm>
          <a:prstGeom prst="rect">
            <a:avLst/>
          </a:prstGeom>
          <a:noFill/>
          <a:ln/>
        </p:spPr>
        <p:txBody>
          <a:bodyPr wrap="square" rtlCol="0" anchor="ctr"/>
          <a:lstStyle/>
          <a:p>
            <a:pPr indent="0" marL="0">
              <a:buNone/>
            </a:pPr>
            <a:r>
              <a:rPr lang="en-US" sz="1100" b="1" spc="800" kern="0" dirty="0">
                <a:solidFill>
                  <a:srgbClr val="DAA520"/>
                </a:solidFill>
                <a:latin typeface="Calibri" pitchFamily="34" charset="0"/>
                <a:ea typeface="Calibri" pitchFamily="34" charset="-122"/>
                <a:cs typeface="Calibri" pitchFamily="34" charset="-120"/>
              </a:rPr>
              <a:t>PLAN HEALTH</a:t>
            </a:r>
            <a:endParaRPr lang="en-US" sz="1100" dirty="0"/>
          </a:p>
        </p:txBody>
      </p:sp>
      <p:sp>
        <p:nvSpPr>
          <p:cNvPr id="6" name="Text 4"/>
          <p:cNvSpPr/>
          <p:nvPr/>
        </p:nvSpPr>
        <p:spPr>
          <a:xfrm>
            <a:off x="640080" y="1965960"/>
            <a:ext cx="3291840" cy="1463040"/>
          </a:xfrm>
          <a:prstGeom prst="rect">
            <a:avLst/>
          </a:prstGeom>
          <a:noFill/>
          <a:ln/>
        </p:spPr>
        <p:txBody>
          <a:bodyPr wrap="square" rtlCol="0" anchor="ctr"/>
          <a:lstStyle/>
          <a:p>
            <a:pPr algn="ctr" indent="0" marL="0">
              <a:buNone/>
            </a:pPr>
            <a:r>
              <a:rPr lang="en-US" sz="11000" b="1" dirty="0">
                <a:solidFill>
                  <a:srgbClr val="1F7A4D"/>
                </a:solidFill>
                <a:latin typeface="Georgia" pitchFamily="34" charset="0"/>
                <a:ea typeface="Georgia" pitchFamily="34" charset="-122"/>
                <a:cs typeface="Georgia" pitchFamily="34" charset="-120"/>
              </a:rPr>
              <a:t>84</a:t>
            </a:r>
            <a:endParaRPr lang="en-US" sz="11000" dirty="0"/>
          </a:p>
        </p:txBody>
      </p:sp>
      <p:sp>
        <p:nvSpPr>
          <p:cNvPr id="7" name="Text 5"/>
          <p:cNvSpPr/>
          <p:nvPr/>
        </p:nvSpPr>
        <p:spPr>
          <a:xfrm>
            <a:off x="640080" y="3520440"/>
            <a:ext cx="3291840" cy="457200"/>
          </a:xfrm>
          <a:prstGeom prst="rect">
            <a:avLst/>
          </a:prstGeom>
          <a:noFill/>
          <a:ln/>
        </p:spPr>
        <p:txBody>
          <a:bodyPr wrap="square" rtlCol="0" anchor="ctr"/>
          <a:lstStyle/>
          <a:p>
            <a:pPr algn="ctr" indent="0" marL="0">
              <a:buNone/>
            </a:pPr>
            <a:r>
              <a:rPr lang="en-US" sz="1800" i="1" dirty="0">
                <a:solidFill>
                  <a:srgbClr val="FAF7EE"/>
                </a:solidFill>
                <a:latin typeface="Calibri" pitchFamily="34" charset="0"/>
                <a:ea typeface="Calibri" pitchFamily="34" charset="-122"/>
                <a:cs typeface="Calibri" pitchFamily="34" charset="-120"/>
              </a:rPr>
              <a:t>Strong start.</a:t>
            </a:r>
            <a:endParaRPr lang="en-US" sz="1800" dirty="0"/>
          </a:p>
        </p:txBody>
      </p:sp>
      <p:sp>
        <p:nvSpPr>
          <p:cNvPr id="8" name="Text 6"/>
          <p:cNvSpPr/>
          <p:nvPr/>
        </p:nvSpPr>
        <p:spPr>
          <a:xfrm>
            <a:off x="640080" y="4023360"/>
            <a:ext cx="3291840" cy="457200"/>
          </a:xfrm>
          <a:prstGeom prst="rect">
            <a:avLst/>
          </a:prstGeom>
          <a:noFill/>
          <a:ln/>
        </p:spPr>
        <p:txBody>
          <a:bodyPr wrap="square" rtlCol="0" anchor="ctr"/>
          <a:lstStyle/>
          <a:p>
            <a:pPr algn="ctr" indent="0" marL="0">
              <a:buNone/>
            </a:pPr>
            <a:r>
              <a:rPr lang="en-US" sz="1000" dirty="0">
                <a:solidFill>
                  <a:srgbClr val="B5B0A8"/>
                </a:solidFill>
                <a:latin typeface="Calibri" pitchFamily="34" charset="0"/>
                <a:ea typeface="Calibri" pitchFamily="34" charset="-122"/>
                <a:cs typeface="Calibri" pitchFamily="34" charset="-120"/>
              </a:rPr>
              <a:t>Composite of step completion + cash-flow ratio + documents collected.</a:t>
            </a:r>
            <a:endParaRPr lang="en-US" sz="1000" dirty="0"/>
          </a:p>
        </p:txBody>
      </p:sp>
      <p:sp>
        <p:nvSpPr>
          <p:cNvPr id="9" name="Shape 7"/>
          <p:cNvSpPr/>
          <p:nvPr/>
        </p:nvSpPr>
        <p:spPr>
          <a:xfrm>
            <a:off x="4389120" y="1554480"/>
            <a:ext cx="2194560" cy="1371600"/>
          </a:xfrm>
          <a:prstGeom prst="roundRect">
            <a:avLst>
              <a:gd name="adj" fmla="val 5333"/>
            </a:avLst>
          </a:prstGeom>
          <a:solidFill>
            <a:srgbClr val="F8F4EA"/>
          </a:solidFill>
          <a:ln w="12700">
            <a:solidFill>
              <a:srgbClr val="E5DBC2"/>
            </a:solidFill>
            <a:prstDash val="solid"/>
          </a:ln>
        </p:spPr>
      </p:sp>
      <p:sp>
        <p:nvSpPr>
          <p:cNvPr id="10" name="Text 8"/>
          <p:cNvSpPr/>
          <p:nvPr/>
        </p:nvSpPr>
        <p:spPr>
          <a:xfrm>
            <a:off x="4480560" y="1737360"/>
            <a:ext cx="2011680" cy="640080"/>
          </a:xfrm>
          <a:prstGeom prst="rect">
            <a:avLst/>
          </a:prstGeom>
          <a:noFill/>
          <a:ln/>
        </p:spPr>
        <p:txBody>
          <a:bodyPr wrap="square" rtlCol="0" anchor="ctr"/>
          <a:lstStyle/>
          <a:p>
            <a:pPr algn="ctr" indent="0" marL="0">
              <a:buNone/>
            </a:pPr>
            <a:r>
              <a:rPr lang="en-US" sz="2600" b="1" dirty="0">
                <a:solidFill>
                  <a:srgbClr val="1F1F1F"/>
                </a:solidFill>
                <a:latin typeface="Georgia" pitchFamily="34" charset="0"/>
                <a:ea typeface="Georgia" pitchFamily="34" charset="-122"/>
                <a:cs typeface="Georgia" pitchFamily="34" charset="-120"/>
              </a:rPr>
              <a:t>$1,549</a:t>
            </a:r>
            <a:endParaRPr lang="en-US" sz="2600" dirty="0"/>
          </a:p>
        </p:txBody>
      </p:sp>
      <p:sp>
        <p:nvSpPr>
          <p:cNvPr id="11" name="Text 9"/>
          <p:cNvSpPr/>
          <p:nvPr/>
        </p:nvSpPr>
        <p:spPr>
          <a:xfrm>
            <a:off x="4480560" y="2423160"/>
            <a:ext cx="2011680" cy="411480"/>
          </a:xfrm>
          <a:prstGeom prst="rect">
            <a:avLst/>
          </a:prstGeom>
          <a:noFill/>
          <a:ln/>
        </p:spPr>
        <p:txBody>
          <a:bodyPr wrap="square" rtlCol="0" anchor="ctr"/>
          <a:lstStyle/>
          <a:p>
            <a:pPr algn="ctr" indent="0" marL="0">
              <a:buNone/>
            </a:pPr>
            <a:r>
              <a:rPr lang="en-US" sz="1000" spc="400" kern="0" dirty="0">
                <a:solidFill>
                  <a:srgbClr val="6F6F65"/>
                </a:solidFill>
                <a:latin typeface="Calibri" pitchFamily="34" charset="0"/>
                <a:ea typeface="Calibri" pitchFamily="34" charset="-122"/>
                <a:cs typeface="Calibri" pitchFamily="34" charset="-120"/>
              </a:rPr>
              <a:t>Monthly income</a:t>
            </a:r>
            <a:endParaRPr lang="en-US" sz="1000" dirty="0"/>
          </a:p>
        </p:txBody>
      </p:sp>
      <p:sp>
        <p:nvSpPr>
          <p:cNvPr id="12" name="Shape 10"/>
          <p:cNvSpPr/>
          <p:nvPr/>
        </p:nvSpPr>
        <p:spPr>
          <a:xfrm>
            <a:off x="6675120" y="1554480"/>
            <a:ext cx="2194560" cy="1371600"/>
          </a:xfrm>
          <a:prstGeom prst="roundRect">
            <a:avLst>
              <a:gd name="adj" fmla="val 5333"/>
            </a:avLst>
          </a:prstGeom>
          <a:solidFill>
            <a:srgbClr val="F8F4EA"/>
          </a:solidFill>
          <a:ln w="12700">
            <a:solidFill>
              <a:srgbClr val="E5DBC2"/>
            </a:solidFill>
            <a:prstDash val="solid"/>
          </a:ln>
        </p:spPr>
      </p:sp>
      <p:sp>
        <p:nvSpPr>
          <p:cNvPr id="13" name="Text 11"/>
          <p:cNvSpPr/>
          <p:nvPr/>
        </p:nvSpPr>
        <p:spPr>
          <a:xfrm>
            <a:off x="6766560" y="1737360"/>
            <a:ext cx="2011680" cy="640080"/>
          </a:xfrm>
          <a:prstGeom prst="rect">
            <a:avLst/>
          </a:prstGeom>
          <a:noFill/>
          <a:ln/>
        </p:spPr>
        <p:txBody>
          <a:bodyPr wrap="square" rtlCol="0" anchor="ctr"/>
          <a:lstStyle/>
          <a:p>
            <a:pPr algn="ctr" indent="0" marL="0">
              <a:buNone/>
            </a:pPr>
            <a:r>
              <a:rPr lang="en-US" sz="2600" b="1" dirty="0">
                <a:solidFill>
                  <a:srgbClr val="1F1F1F"/>
                </a:solidFill>
                <a:latin typeface="Georgia" pitchFamily="34" charset="0"/>
                <a:ea typeface="Georgia" pitchFamily="34" charset="-122"/>
                <a:cs typeface="Georgia" pitchFamily="34" charset="-120"/>
              </a:rPr>
              <a:t>$10</a:t>
            </a:r>
            <a:endParaRPr lang="en-US" sz="2600" dirty="0"/>
          </a:p>
        </p:txBody>
      </p:sp>
      <p:sp>
        <p:nvSpPr>
          <p:cNvPr id="14" name="Text 12"/>
          <p:cNvSpPr/>
          <p:nvPr/>
        </p:nvSpPr>
        <p:spPr>
          <a:xfrm>
            <a:off x="6766560" y="2423160"/>
            <a:ext cx="2011680" cy="411480"/>
          </a:xfrm>
          <a:prstGeom prst="rect">
            <a:avLst/>
          </a:prstGeom>
          <a:noFill/>
          <a:ln/>
        </p:spPr>
        <p:txBody>
          <a:bodyPr wrap="square" rtlCol="0" anchor="ctr"/>
          <a:lstStyle/>
          <a:p>
            <a:pPr algn="ctr" indent="0" marL="0">
              <a:buNone/>
            </a:pPr>
            <a:r>
              <a:rPr lang="en-US" sz="1000" spc="400" kern="0" dirty="0">
                <a:solidFill>
                  <a:srgbClr val="6F6F65"/>
                </a:solidFill>
                <a:latin typeface="Calibri" pitchFamily="34" charset="0"/>
                <a:ea typeface="Calibri" pitchFamily="34" charset="-122"/>
                <a:cs typeface="Calibri" pitchFamily="34" charset="-120"/>
              </a:rPr>
              <a:t>Monthly expenses</a:t>
            </a:r>
            <a:endParaRPr lang="en-US" sz="1000" dirty="0"/>
          </a:p>
        </p:txBody>
      </p:sp>
      <p:sp>
        <p:nvSpPr>
          <p:cNvPr id="15" name="Shape 13"/>
          <p:cNvSpPr/>
          <p:nvPr/>
        </p:nvSpPr>
        <p:spPr>
          <a:xfrm>
            <a:off x="4389120" y="3063240"/>
            <a:ext cx="2194560" cy="1371600"/>
          </a:xfrm>
          <a:prstGeom prst="roundRect">
            <a:avLst>
              <a:gd name="adj" fmla="val 5333"/>
            </a:avLst>
          </a:prstGeom>
          <a:solidFill>
            <a:srgbClr val="F8F4EA"/>
          </a:solidFill>
          <a:ln w="12700">
            <a:solidFill>
              <a:srgbClr val="E5DBC2"/>
            </a:solidFill>
            <a:prstDash val="solid"/>
          </a:ln>
        </p:spPr>
      </p:sp>
      <p:sp>
        <p:nvSpPr>
          <p:cNvPr id="16" name="Text 14"/>
          <p:cNvSpPr/>
          <p:nvPr/>
        </p:nvSpPr>
        <p:spPr>
          <a:xfrm>
            <a:off x="4480560" y="3246120"/>
            <a:ext cx="2011680" cy="640080"/>
          </a:xfrm>
          <a:prstGeom prst="rect">
            <a:avLst/>
          </a:prstGeom>
          <a:noFill/>
          <a:ln/>
        </p:spPr>
        <p:txBody>
          <a:bodyPr wrap="square" rtlCol="0" anchor="ctr"/>
          <a:lstStyle/>
          <a:p>
            <a:pPr algn="ctr" indent="0" marL="0">
              <a:buNone/>
            </a:pPr>
            <a:r>
              <a:rPr lang="en-US" sz="2600" b="1" dirty="0">
                <a:solidFill>
                  <a:srgbClr val="1F7A4D"/>
                </a:solidFill>
                <a:latin typeface="Georgia" pitchFamily="34" charset="0"/>
                <a:ea typeface="Georgia" pitchFamily="34" charset="-122"/>
                <a:cs typeface="Georgia" pitchFamily="34" charset="-120"/>
              </a:rPr>
              <a:t>$1,539</a:t>
            </a:r>
            <a:endParaRPr lang="en-US" sz="2600" dirty="0"/>
          </a:p>
        </p:txBody>
      </p:sp>
      <p:sp>
        <p:nvSpPr>
          <p:cNvPr id="17" name="Text 15"/>
          <p:cNvSpPr/>
          <p:nvPr/>
        </p:nvSpPr>
        <p:spPr>
          <a:xfrm>
            <a:off x="4480560" y="3931920"/>
            <a:ext cx="2011680" cy="411480"/>
          </a:xfrm>
          <a:prstGeom prst="rect">
            <a:avLst/>
          </a:prstGeom>
          <a:noFill/>
          <a:ln/>
        </p:spPr>
        <p:txBody>
          <a:bodyPr wrap="square" rtlCol="0" anchor="ctr"/>
          <a:lstStyle/>
          <a:p>
            <a:pPr algn="ctr" indent="0" marL="0">
              <a:buNone/>
            </a:pPr>
            <a:r>
              <a:rPr lang="en-US" sz="1000" spc="400" kern="0" dirty="0">
                <a:solidFill>
                  <a:srgbClr val="6F6F65"/>
                </a:solidFill>
                <a:latin typeface="Calibri" pitchFamily="34" charset="0"/>
                <a:ea typeface="Calibri" pitchFamily="34" charset="-122"/>
                <a:cs typeface="Calibri" pitchFamily="34" charset="-120"/>
              </a:rPr>
              <a:t>Net cash flow</a:t>
            </a:r>
            <a:endParaRPr lang="en-US" sz="1000" dirty="0"/>
          </a:p>
        </p:txBody>
      </p:sp>
      <p:sp>
        <p:nvSpPr>
          <p:cNvPr id="18" name="Shape 16"/>
          <p:cNvSpPr/>
          <p:nvPr/>
        </p:nvSpPr>
        <p:spPr>
          <a:xfrm>
            <a:off x="6675120" y="3063240"/>
            <a:ext cx="2194560" cy="1371600"/>
          </a:xfrm>
          <a:prstGeom prst="roundRect">
            <a:avLst>
              <a:gd name="adj" fmla="val 5333"/>
            </a:avLst>
          </a:prstGeom>
          <a:solidFill>
            <a:srgbClr val="F8F4EA"/>
          </a:solidFill>
          <a:ln w="12700">
            <a:solidFill>
              <a:srgbClr val="E5DBC2"/>
            </a:solidFill>
            <a:prstDash val="solid"/>
          </a:ln>
        </p:spPr>
      </p:sp>
      <p:sp>
        <p:nvSpPr>
          <p:cNvPr id="19" name="Text 17"/>
          <p:cNvSpPr/>
          <p:nvPr/>
        </p:nvSpPr>
        <p:spPr>
          <a:xfrm>
            <a:off x="6766560" y="3246120"/>
            <a:ext cx="2011680" cy="640080"/>
          </a:xfrm>
          <a:prstGeom prst="rect">
            <a:avLst/>
          </a:prstGeom>
          <a:noFill/>
          <a:ln/>
        </p:spPr>
        <p:txBody>
          <a:bodyPr wrap="square" rtlCol="0" anchor="ctr"/>
          <a:lstStyle/>
          <a:p>
            <a:pPr algn="ctr" indent="0" marL="0">
              <a:buNone/>
            </a:pPr>
            <a:r>
              <a:rPr lang="en-US" sz="2600" b="1" dirty="0">
                <a:solidFill>
                  <a:srgbClr val="1F1F1F"/>
                </a:solidFill>
                <a:latin typeface="Georgia" pitchFamily="34" charset="0"/>
                <a:ea typeface="Georgia" pitchFamily="34" charset="-122"/>
                <a:cs typeface="Georgia" pitchFamily="34" charset="-120"/>
              </a:rPr>
              <a:t>$2,000</a:t>
            </a:r>
            <a:endParaRPr lang="en-US" sz="2600" dirty="0"/>
          </a:p>
        </p:txBody>
      </p:sp>
      <p:sp>
        <p:nvSpPr>
          <p:cNvPr id="20" name="Text 18"/>
          <p:cNvSpPr/>
          <p:nvPr/>
        </p:nvSpPr>
        <p:spPr>
          <a:xfrm>
            <a:off x="6766560" y="3931920"/>
            <a:ext cx="2011680" cy="411480"/>
          </a:xfrm>
          <a:prstGeom prst="rect">
            <a:avLst/>
          </a:prstGeom>
          <a:noFill/>
          <a:ln/>
        </p:spPr>
        <p:txBody>
          <a:bodyPr wrap="square" rtlCol="0" anchor="ctr"/>
          <a:lstStyle/>
          <a:p>
            <a:pPr algn="ctr" indent="0" marL="0">
              <a:buNone/>
            </a:pPr>
            <a:r>
              <a:rPr lang="en-US" sz="1000" spc="400" kern="0" dirty="0">
                <a:solidFill>
                  <a:srgbClr val="6F6F65"/>
                </a:solidFill>
                <a:latin typeface="Calibri" pitchFamily="34" charset="0"/>
                <a:ea typeface="Calibri" pitchFamily="34" charset="-122"/>
                <a:cs typeface="Calibri" pitchFamily="34" charset="-120"/>
              </a:rPr>
              <a:t>Savings goal / month</a:t>
            </a:r>
            <a:endParaRPr lang="en-US" sz="1000" dirty="0"/>
          </a:p>
        </p:txBody>
      </p:sp>
      <p:sp>
        <p:nvSpPr>
          <p:cNvPr id="21" name="Text 19"/>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10 / 30</a:t>
            </a:r>
            <a:endParaRPr lang="en-US" sz="900" dirty="0"/>
          </a:p>
        </p:txBody>
      </p:sp>
      <p:sp>
        <p:nvSpPr>
          <p:cNvPr id="22" name="Text 20"/>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E0E"/>
        </a:solidFill>
      </p:bgPr>
    </p:bg>
    <p:spTree>
      <p:nvGrpSpPr>
        <p:cNvPr id="1" name=""/>
        <p:cNvGrpSpPr/>
        <p:nvPr/>
      </p:nvGrpSpPr>
      <p:grpSpPr>
        <a:xfrm>
          <a:off x="0" y="0"/>
          <a:ext cx="0" cy="0"/>
          <a:chOff x="0" y="0"/>
          <a:chExt cx="0" cy="0"/>
        </a:xfrm>
      </p:grpSpPr>
      <p:sp>
        <p:nvSpPr>
          <p:cNvPr id="2" name="Shape 0"/>
          <p:cNvSpPr/>
          <p:nvPr/>
        </p:nvSpPr>
        <p:spPr>
          <a:xfrm>
            <a:off x="-1371600" y="-1828800"/>
            <a:ext cx="6400800" cy="6400800"/>
          </a:xfrm>
          <a:prstGeom prst="ellipse">
            <a:avLst/>
          </a:prstGeom>
          <a:solidFill>
            <a:srgbClr val="DAA520">
              <a:alpha val="25000"/>
            </a:srgbClr>
          </a:solidFill>
          <a:ln w="12700">
            <a:solidFill>
              <a:srgbClr val="1A1A1A"/>
            </a:solidFill>
            <a:prstDash val="solid"/>
          </a:ln>
        </p:spPr>
      </p:sp>
      <p:sp>
        <p:nvSpPr>
          <p:cNvPr id="3" name="Text 1"/>
          <p:cNvSpPr/>
          <p:nvPr/>
        </p:nvSpPr>
        <p:spPr>
          <a:xfrm>
            <a:off x="5029200" y="731520"/>
            <a:ext cx="8229600" cy="274320"/>
          </a:xfrm>
          <a:prstGeom prst="rect">
            <a:avLst/>
          </a:prstGeom>
          <a:noFill/>
          <a:ln/>
        </p:spPr>
        <p:txBody>
          <a:bodyPr wrap="square" rtlCol="0" anchor="ctr"/>
          <a:lstStyle/>
          <a:p>
            <a:pPr indent="0" marL="0">
              <a:buNone/>
            </a:pPr>
            <a:r>
              <a:rPr lang="en-US" sz="1100" b="1" spc="600" kern="0" dirty="0">
                <a:solidFill>
                  <a:srgbClr val="DAA520"/>
                </a:solidFill>
                <a:latin typeface="Calibri" pitchFamily="34" charset="0"/>
                <a:ea typeface="Calibri" pitchFamily="34" charset="-122"/>
                <a:cs typeface="Calibri" pitchFamily="34" charset="-120"/>
              </a:rPr>
              <a:t>REAL-LIFE SIMULATION</a:t>
            </a:r>
            <a:endParaRPr lang="en-US" sz="1100" dirty="0"/>
          </a:p>
        </p:txBody>
      </p:sp>
      <p:sp>
        <p:nvSpPr>
          <p:cNvPr id="4" name="Text 2"/>
          <p:cNvSpPr/>
          <p:nvPr/>
        </p:nvSpPr>
        <p:spPr>
          <a:xfrm>
            <a:off x="5029200" y="1097280"/>
            <a:ext cx="3657600" cy="822960"/>
          </a:xfrm>
          <a:prstGeom prst="rect">
            <a:avLst/>
          </a:prstGeom>
          <a:noFill/>
          <a:ln/>
        </p:spPr>
        <p:txBody>
          <a:bodyPr wrap="square" rtlCol="0" anchor="ctr"/>
          <a:lstStyle/>
          <a:p>
            <a:pPr indent="0" marL="0">
              <a:buNone/>
            </a:pPr>
            <a:r>
              <a:rPr lang="en-US" sz="5200" b="1" dirty="0">
                <a:solidFill>
                  <a:srgbClr val="FAF7EE"/>
                </a:solidFill>
                <a:latin typeface="Georgia" pitchFamily="34" charset="0"/>
                <a:ea typeface="Georgia" pitchFamily="34" charset="-122"/>
                <a:cs typeface="Georgia" pitchFamily="34" charset="-120"/>
              </a:rPr>
              <a:t>Marcus, 34</a:t>
            </a:r>
            <a:endParaRPr lang="en-US" sz="5200" dirty="0"/>
          </a:p>
        </p:txBody>
      </p:sp>
      <p:sp>
        <p:nvSpPr>
          <p:cNvPr id="5" name="Text 3"/>
          <p:cNvSpPr/>
          <p:nvPr/>
        </p:nvSpPr>
        <p:spPr>
          <a:xfrm>
            <a:off x="5029200" y="2103120"/>
            <a:ext cx="3657600" cy="457200"/>
          </a:xfrm>
          <a:prstGeom prst="rect">
            <a:avLst/>
          </a:prstGeom>
          <a:noFill/>
          <a:ln/>
        </p:spPr>
        <p:txBody>
          <a:bodyPr wrap="square" rtlCol="0" anchor="ctr"/>
          <a:lstStyle/>
          <a:p>
            <a:pPr indent="0" marL="0">
              <a:buNone/>
            </a:pPr>
            <a:r>
              <a:rPr lang="en-US" sz="2200" i="1" dirty="0">
                <a:solidFill>
                  <a:srgbClr val="FFD970"/>
                </a:solidFill>
                <a:latin typeface="Georgia" pitchFamily="34" charset="0"/>
                <a:ea typeface="Georgia" pitchFamily="34" charset="-122"/>
                <a:cs typeface="Georgia" pitchFamily="34" charset="-120"/>
              </a:rPr>
              <a:t>Six days from release.</a:t>
            </a:r>
            <a:endParaRPr lang="en-US" sz="2200" dirty="0"/>
          </a:p>
        </p:txBody>
      </p:sp>
      <p:sp>
        <p:nvSpPr>
          <p:cNvPr id="6" name="Text 4"/>
          <p:cNvSpPr/>
          <p:nvPr/>
        </p:nvSpPr>
        <p:spPr>
          <a:xfrm>
            <a:off x="5029200" y="2697480"/>
            <a:ext cx="3657600" cy="2011680"/>
          </a:xfrm>
          <a:prstGeom prst="rect">
            <a:avLst/>
          </a:prstGeom>
          <a:noFill/>
          <a:ln/>
        </p:spPr>
        <p:txBody>
          <a:bodyPr wrap="square" rtlCol="0" anchor="ctr"/>
          <a:lstStyle/>
          <a:p>
            <a:pPr indent="0" marL="0">
              <a:spcAft>
                <a:spcPts val="400"/>
              </a:spcAft>
              <a:buNone/>
            </a:pPr>
            <a:r>
              <a:rPr lang="en-US" sz="1400" b="1" dirty="0">
                <a:solidFill>
                  <a:srgbClr val="FAF7EE"/>
                </a:solidFill>
                <a:latin typeface="Calibri" pitchFamily="34" charset="0"/>
                <a:ea typeface="Calibri" pitchFamily="34" charset="-122"/>
                <a:cs typeface="Calibri" pitchFamily="34" charset="-120"/>
              </a:rPr>
              <a:t>Four years served. </a:t>
            </a:r>
            <a:endParaRPr lang="en-US" sz="1400" dirty="0"/>
          </a:p>
          <a:p>
            <a:pPr indent="0" marL="0">
              <a:spcAft>
                <a:spcPts val="400"/>
              </a:spcAft>
              <a:buNone/>
            </a:pPr>
            <a:r>
              <a:rPr lang="en-US" sz="1400" dirty="0">
                <a:solidFill>
                  <a:srgbClr val="B5B0A8"/>
                </a:solidFill>
                <a:latin typeface="Calibri" pitchFamily="34" charset="0"/>
                <a:ea typeface="Calibri" pitchFamily="34" charset="-122"/>
                <a:cs typeface="Calibri" pitchFamily="34" charset="-120"/>
              </a:rPr>
              <a:t>A brother who can host him for two weeks.</a:t>
            </a:r>
            <a:endParaRPr lang="en-US" sz="1400" dirty="0"/>
          </a:p>
          <a:p>
            <a:pPr indent="0" marL="0">
              <a:spcAft>
                <a:spcPts val="400"/>
              </a:spcAft>
              <a:buNone/>
            </a:pPr>
            <a:r>
              <a:rPr lang="en-US" sz="1400" dirty="0">
                <a:solidFill>
                  <a:srgbClr val="B5B0A8"/>
                </a:solidFill>
                <a:latin typeface="Calibri" pitchFamily="34" charset="0"/>
                <a:ea typeface="Calibri" pitchFamily="34" charset="-122"/>
                <a:cs typeface="Calibri" pitchFamily="34" charset="-120"/>
              </a:rPr>
              <a:t>A state ID that expired in 2022.</a:t>
            </a:r>
            <a:endParaRPr lang="en-US" sz="1400" dirty="0"/>
          </a:p>
          <a:p>
            <a:pPr indent="0" marL="0">
              <a:spcAft>
                <a:spcPts val="400"/>
              </a:spcAft>
              <a:buNone/>
            </a:pPr>
            <a:r>
              <a:rPr lang="en-US" sz="1400" dirty="0">
                <a:solidFill>
                  <a:srgbClr val="B5B0A8"/>
                </a:solidFill>
                <a:latin typeface="Calibri" pitchFamily="34" charset="0"/>
                <a:ea typeface="Calibri" pitchFamily="34" charset="-122"/>
                <a:cs typeface="Calibri" pitchFamily="34" charset="-120"/>
              </a:rPr>
              <a:t>No bank account, no smartphone yet.</a:t>
            </a:r>
            <a:endParaRPr lang="en-US" sz="1400" dirty="0"/>
          </a:p>
          <a:p>
            <a:pPr indent="0" marL="0">
              <a:spcAft>
                <a:spcPts val="400"/>
              </a:spcAft>
              <a:buNone/>
            </a:pPr>
            <a:r>
              <a:rPr lang="en-US" sz="1400" dirty="0">
                <a:solidFill>
                  <a:srgbClr val="B5B0A8"/>
                </a:solidFill>
                <a:latin typeface="Calibri" pitchFamily="34" charset="0"/>
                <a:ea typeface="Calibri" pitchFamily="34" charset="-122"/>
                <a:cs typeface="Calibri" pitchFamily="34" charset="-120"/>
              </a:rPr>
              <a:t>A job interview he can probably get,</a:t>
            </a:r>
            <a:endParaRPr lang="en-US" sz="1400" dirty="0"/>
          </a:p>
          <a:p>
            <a:pPr indent="0" marL="0">
              <a:spcAft>
                <a:spcPts val="400"/>
              </a:spcAft>
              <a:buNone/>
            </a:pPr>
            <a:r>
              <a:rPr lang="en-US" sz="1400" dirty="0">
                <a:solidFill>
                  <a:srgbClr val="B5B0A8"/>
                </a:solidFill>
                <a:latin typeface="Calibri" pitchFamily="34" charset="0"/>
                <a:ea typeface="Calibri" pitchFamily="34" charset="-122"/>
                <a:cs typeface="Calibri" pitchFamily="34" charset="-120"/>
              </a:rPr>
              <a:t>if he can show up clean and on time.</a:t>
            </a:r>
            <a:endParaRPr lang="en-US" sz="1400" dirty="0"/>
          </a:p>
        </p:txBody>
      </p:sp>
      <p:sp>
        <p:nvSpPr>
          <p:cNvPr id="7" name="Text 5"/>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B5B0A8"/>
                </a:solidFill>
                <a:latin typeface="Calibri" pitchFamily="34" charset="0"/>
                <a:ea typeface="Calibri" pitchFamily="34" charset="-122"/>
                <a:cs typeface="Calibri" pitchFamily="34" charset="-120"/>
              </a:rPr>
              <a:t>11 / 30</a:t>
            </a:r>
            <a:endParaRPr lang="en-US" sz="900" dirty="0"/>
          </a:p>
        </p:txBody>
      </p:sp>
      <p:sp>
        <p:nvSpPr>
          <p:cNvPr id="8" name="Text 6"/>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B5B0A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MARCUS · DAY −6</a:t>
            </a:r>
            <a:endParaRPr lang="en-US" sz="1100" dirty="0"/>
          </a:p>
        </p:txBody>
      </p:sp>
      <p:sp>
        <p:nvSpPr>
          <p:cNvPr id="3" name="Text 1"/>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1F1F1F"/>
                </a:solidFill>
                <a:latin typeface="Georgia" pitchFamily="34" charset="0"/>
                <a:ea typeface="Georgia" pitchFamily="34" charset="-122"/>
                <a:cs typeface="Georgia" pitchFamily="34" charset="-120"/>
              </a:rPr>
              <a:t>Prison career center, shared tablet.</a:t>
            </a:r>
            <a:endParaRPr lang="en-US" sz="2400" dirty="0"/>
          </a:p>
        </p:txBody>
      </p:sp>
      <p:sp>
        <p:nvSpPr>
          <p:cNvPr id="4" name="Text 2"/>
          <p:cNvSpPr/>
          <p:nvPr/>
        </p:nvSpPr>
        <p:spPr>
          <a:xfrm>
            <a:off x="457200" y="1417320"/>
            <a:ext cx="8229600" cy="914400"/>
          </a:xfrm>
          <a:prstGeom prst="rect">
            <a:avLst/>
          </a:prstGeom>
          <a:noFill/>
          <a:ln/>
        </p:spPr>
        <p:txBody>
          <a:bodyPr wrap="square" rtlCol="0" anchor="ctr"/>
          <a:lstStyle/>
          <a:p>
            <a:pPr indent="0" marL="0">
              <a:buNone/>
            </a:pPr>
            <a:r>
              <a:rPr lang="en-US" sz="1400" dirty="0">
                <a:solidFill>
                  <a:srgbClr val="4A4A42"/>
                </a:solidFill>
                <a:latin typeface="Calibri" pitchFamily="34" charset="0"/>
                <a:ea typeface="Calibri" pitchFamily="34" charset="-122"/>
                <a:cs typeface="Calibri" pitchFamily="34" charset="-120"/>
              </a:rPr>
              <a:t>Marcus opens tlmfinance.netlify.app on the slow center Wi-Fi. The site loads in under two seconds because it's a static PWA. He taps "Generate planner" — bottom sheet slides up.</a:t>
            </a:r>
            <a:endParaRPr lang="en-US" sz="1400" dirty="0"/>
          </a:p>
        </p:txBody>
      </p:sp>
      <p:sp>
        <p:nvSpPr>
          <p:cNvPr id="5" name="Shape 3"/>
          <p:cNvSpPr/>
          <p:nvPr/>
        </p:nvSpPr>
        <p:spPr>
          <a:xfrm>
            <a:off x="457200" y="2468880"/>
            <a:ext cx="8229600" cy="1920240"/>
          </a:xfrm>
          <a:prstGeom prst="roundRect">
            <a:avLst>
              <a:gd name="adj" fmla="val 4762"/>
            </a:avLst>
          </a:prstGeom>
          <a:solidFill>
            <a:srgbClr val="F8F4EA"/>
          </a:solidFill>
          <a:ln w="12700">
            <a:solidFill>
              <a:srgbClr val="E5DBC2"/>
            </a:solidFill>
            <a:prstDash val="solid"/>
          </a:ln>
        </p:spPr>
      </p:sp>
      <p:sp>
        <p:nvSpPr>
          <p:cNvPr id="6" name="Text 4"/>
          <p:cNvSpPr/>
          <p:nvPr/>
        </p:nvSpPr>
        <p:spPr>
          <a:xfrm>
            <a:off x="777240" y="2651760"/>
            <a:ext cx="7589520" cy="1554480"/>
          </a:xfrm>
          <a:prstGeom prst="rect">
            <a:avLst/>
          </a:prstGeom>
          <a:noFill/>
          <a:ln/>
        </p:spPr>
        <p:txBody>
          <a:bodyPr wrap="square" rtlCol="0" anchor="t"/>
          <a:lstStyle/>
          <a:p>
            <a:pPr indent="0" marL="0">
              <a:buNone/>
            </a:pPr>
            <a:r>
              <a:rPr lang="en-US" sz="1100" b="1" spc="400" kern="0" dirty="0">
                <a:solidFill>
                  <a:srgbClr val="8C6810"/>
                </a:solidFill>
                <a:latin typeface="Calibri" pitchFamily="34" charset="0"/>
                <a:ea typeface="Calibri" pitchFamily="34" charset="-122"/>
                <a:cs typeface="Calibri" pitchFamily="34" charset="-120"/>
              </a:rPr>
              <a:t>On the screen:
</a:t>
            </a:r>
            <a:endParaRPr lang="en-US" sz="1100" dirty="0"/>
          </a:p>
          <a:p>
            <a:pPr indent="0" marL="0">
              <a:buNone/>
            </a:pPr>
            <a:r>
              <a:rPr lang="en-US" sz="1600" i="1" dirty="0">
                <a:solidFill>
                  <a:srgbClr val="1F1F1F"/>
                </a:solidFill>
                <a:latin typeface="Calibri" pitchFamily="34" charset="0"/>
                <a:ea typeface="Calibri" pitchFamily="34" charset="-122"/>
                <a:cs typeface="Calibri" pitchFamily="34" charset="-120"/>
              </a:rPr>
              <a:t>"Pick everything that applies. We'll generate a 72-hour plan and link to resources."
</a:t>
            </a:r>
            <a:endParaRPr lang="en-US" sz="11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300" dirty="0">
                <a:solidFill>
                  <a:srgbClr val="4A4A42"/>
                </a:solidFill>
                <a:latin typeface="Calibri" pitchFamily="34" charset="0"/>
                <a:ea typeface="Calibri" pitchFamily="34" charset="-122"/>
                <a:cs typeface="Calibri" pitchFamily="34" charset="-120"/>
              </a:rPr>
              <a:t>He selects: </a:t>
            </a:r>
            <a:pPr indent="0" marL="0">
              <a:buNone/>
            </a:pPr>
            <a:r>
              <a:rPr lang="en-US" sz="1300" b="1" dirty="0">
                <a:solidFill>
                  <a:srgbClr val="8C6810"/>
                </a:solidFill>
                <a:latin typeface="Calibri" pitchFamily="34" charset="0"/>
                <a:ea typeface="Calibri" pitchFamily="34" charset="-122"/>
                <a:cs typeface="Calibri" pitchFamily="34" charset="-120"/>
              </a:rPr>
              <a:t>Money plan · ID &amp; documents · Job path · Housing · Health &amp; meds</a:t>
            </a:r>
            <a:endParaRPr lang="en-US" sz="1100" dirty="0"/>
          </a:p>
        </p:txBody>
      </p:sp>
      <p:sp>
        <p:nvSpPr>
          <p:cNvPr id="7" name="Text 5"/>
          <p:cNvSpPr/>
          <p:nvPr/>
        </p:nvSpPr>
        <p:spPr>
          <a:xfrm>
            <a:off x="457200" y="4526280"/>
            <a:ext cx="8229600" cy="274320"/>
          </a:xfrm>
          <a:prstGeom prst="rect">
            <a:avLst/>
          </a:prstGeom>
          <a:noFill/>
          <a:ln/>
        </p:spPr>
        <p:txBody>
          <a:bodyPr wrap="square" rtlCol="0" anchor="ctr"/>
          <a:lstStyle/>
          <a:p>
            <a:pPr algn="ctr" indent="0" marL="0">
              <a:buNone/>
            </a:pPr>
            <a:r>
              <a:rPr lang="en-US" sz="1200" i="1" dirty="0">
                <a:solidFill>
                  <a:srgbClr val="1F7A4D"/>
                </a:solidFill>
                <a:latin typeface="Calibri" pitchFamily="34" charset="0"/>
                <a:ea typeface="Calibri" pitchFamily="34" charset="-122"/>
                <a:cs typeface="Calibri" pitchFamily="34" charset="-120"/>
              </a:rPr>
              <a:t>In two minutes he has a printable starter list.</a:t>
            </a:r>
            <a:endParaRPr lang="en-US" sz="1200" dirty="0"/>
          </a:p>
        </p:txBody>
      </p:sp>
      <p:sp>
        <p:nvSpPr>
          <p:cNvPr id="8" name="Text 6"/>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12 / 30</a:t>
            </a:r>
            <a:endParaRPr lang="en-US" sz="900" dirty="0"/>
          </a:p>
        </p:txBody>
      </p:sp>
      <p:sp>
        <p:nvSpPr>
          <p:cNvPr id="9" name="Text 7"/>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MARCUS · DAY −5</a:t>
            </a:r>
            <a:endParaRPr lang="en-US" sz="1100" dirty="0"/>
          </a:p>
        </p:txBody>
      </p:sp>
      <p:sp>
        <p:nvSpPr>
          <p:cNvPr id="3" name="Text 1"/>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1F1F1F"/>
                </a:solidFill>
                <a:latin typeface="Georgia" pitchFamily="34" charset="0"/>
                <a:ea typeface="Georgia" pitchFamily="34" charset="-122"/>
                <a:cs typeface="Georgia" pitchFamily="34" charset="-120"/>
              </a:rPr>
              <a:t>"Open the customizable plan →"</a:t>
            </a:r>
            <a:endParaRPr lang="en-US" sz="2400" dirty="0"/>
          </a:p>
        </p:txBody>
      </p:sp>
      <p:sp>
        <p:nvSpPr>
          <p:cNvPr id="4" name="Text 2"/>
          <p:cNvSpPr/>
          <p:nvPr/>
        </p:nvSpPr>
        <p:spPr>
          <a:xfrm>
            <a:off x="457200" y="1417320"/>
            <a:ext cx="8229600" cy="822960"/>
          </a:xfrm>
          <a:prstGeom prst="rect">
            <a:avLst/>
          </a:prstGeom>
          <a:noFill/>
          <a:ln/>
        </p:spPr>
        <p:txBody>
          <a:bodyPr wrap="square" rtlCol="0" anchor="ctr"/>
          <a:lstStyle/>
          <a:p>
            <a:pPr indent="0" marL="0">
              <a:buNone/>
            </a:pPr>
            <a:r>
              <a:rPr lang="en-US" sz="1300" dirty="0">
                <a:solidFill>
                  <a:srgbClr val="4A4A42"/>
                </a:solidFill>
                <a:latin typeface="Calibri" pitchFamily="34" charset="0"/>
                <a:ea typeface="Calibri" pitchFamily="34" charset="-122"/>
                <a:cs typeface="Calibri" pitchFamily="34" charset="-120"/>
              </a:rPr>
              <a:t>His 72-hour list carries over automatically. He picks the "Just released, no income yet" template; chips populate income with $0, expenses with phone bill, transit, food.</a:t>
            </a:r>
            <a:endParaRPr lang="en-US" sz="1300" dirty="0"/>
          </a:p>
        </p:txBody>
      </p:sp>
      <p:sp>
        <p:nvSpPr>
          <p:cNvPr id="5" name="Shape 3"/>
          <p:cNvSpPr/>
          <p:nvPr/>
        </p:nvSpPr>
        <p:spPr>
          <a:xfrm>
            <a:off x="457200" y="2468880"/>
            <a:ext cx="4114800" cy="1920240"/>
          </a:xfrm>
          <a:prstGeom prst="roundRect">
            <a:avLst>
              <a:gd name="adj" fmla="val 5714"/>
            </a:avLst>
          </a:prstGeom>
          <a:solidFill>
            <a:srgbClr val="0E0E0E"/>
          </a:solidFill>
          <a:ln w="12700">
            <a:solidFill>
              <a:srgbClr val="B23A1F"/>
            </a:solidFill>
            <a:prstDash val="solid"/>
          </a:ln>
        </p:spPr>
      </p:sp>
      <p:sp>
        <p:nvSpPr>
          <p:cNvPr id="6" name="Text 4"/>
          <p:cNvSpPr/>
          <p:nvPr/>
        </p:nvSpPr>
        <p:spPr>
          <a:xfrm>
            <a:off x="640080" y="2606040"/>
            <a:ext cx="3749040" cy="274320"/>
          </a:xfrm>
          <a:prstGeom prst="rect">
            <a:avLst/>
          </a:prstGeom>
          <a:noFill/>
          <a:ln/>
        </p:spPr>
        <p:txBody>
          <a:bodyPr wrap="square" rtlCol="0" anchor="ctr"/>
          <a:lstStyle/>
          <a:p>
            <a:pPr indent="0" marL="0">
              <a:buNone/>
            </a:pPr>
            <a:r>
              <a:rPr lang="en-US" sz="1000" b="1" spc="600" kern="0" dirty="0">
                <a:solidFill>
                  <a:srgbClr val="DAA520"/>
                </a:solidFill>
              </a:rPr>
              <a:t>PLAN HEALTH</a:t>
            </a:r>
            <a:endParaRPr lang="en-US" sz="1000" dirty="0"/>
          </a:p>
        </p:txBody>
      </p:sp>
      <p:sp>
        <p:nvSpPr>
          <p:cNvPr id="7" name="Text 5"/>
          <p:cNvSpPr/>
          <p:nvPr/>
        </p:nvSpPr>
        <p:spPr>
          <a:xfrm>
            <a:off x="640080" y="2788920"/>
            <a:ext cx="3749040" cy="1097280"/>
          </a:xfrm>
          <a:prstGeom prst="rect">
            <a:avLst/>
          </a:prstGeom>
          <a:noFill/>
          <a:ln/>
        </p:spPr>
        <p:txBody>
          <a:bodyPr wrap="square" rtlCol="0" anchor="ctr"/>
          <a:lstStyle/>
          <a:p>
            <a:pPr algn="ctr" indent="0" marL="0">
              <a:buNone/>
            </a:pPr>
            <a:r>
              <a:rPr lang="en-US" sz="7200" b="1" dirty="0">
                <a:solidFill>
                  <a:srgbClr val="B23A1F"/>
                </a:solidFill>
                <a:latin typeface="Georgia" pitchFamily="34" charset="0"/>
                <a:ea typeface="Georgia" pitchFamily="34" charset="-122"/>
                <a:cs typeface="Georgia" pitchFamily="34" charset="-120"/>
              </a:rPr>
              <a:t>32</a:t>
            </a:r>
            <a:endParaRPr lang="en-US" sz="7200" dirty="0"/>
          </a:p>
        </p:txBody>
      </p:sp>
      <p:sp>
        <p:nvSpPr>
          <p:cNvPr id="8" name="Text 6"/>
          <p:cNvSpPr/>
          <p:nvPr/>
        </p:nvSpPr>
        <p:spPr>
          <a:xfrm>
            <a:off x="640080" y="3931920"/>
            <a:ext cx="3749040" cy="365760"/>
          </a:xfrm>
          <a:prstGeom prst="rect">
            <a:avLst/>
          </a:prstGeom>
          <a:noFill/>
          <a:ln/>
        </p:spPr>
        <p:txBody>
          <a:bodyPr wrap="square" rtlCol="0" anchor="ctr"/>
          <a:lstStyle/>
          <a:p>
            <a:pPr algn="ctr" indent="0" marL="0">
              <a:buNone/>
            </a:pPr>
            <a:r>
              <a:rPr lang="en-US" sz="1100" i="1" dirty="0">
                <a:solidFill>
                  <a:srgbClr val="FAF7EE"/>
                </a:solidFill>
              </a:rPr>
              <a:t>Plenty to fill in. One section at a time.</a:t>
            </a:r>
            <a:endParaRPr lang="en-US" sz="1100" dirty="0"/>
          </a:p>
        </p:txBody>
      </p:sp>
      <p:sp>
        <p:nvSpPr>
          <p:cNvPr id="9" name="Text 7"/>
          <p:cNvSpPr/>
          <p:nvPr/>
        </p:nvSpPr>
        <p:spPr>
          <a:xfrm>
            <a:off x="4846320" y="2468880"/>
            <a:ext cx="3840480" cy="274320"/>
          </a:xfrm>
          <a:prstGeom prst="rect">
            <a:avLst/>
          </a:prstGeom>
          <a:noFill/>
          <a:ln/>
        </p:spPr>
        <p:txBody>
          <a:bodyPr wrap="square" rtlCol="0" anchor="ctr"/>
          <a:lstStyle/>
          <a:p>
            <a:pPr indent="0" marL="0">
              <a:buNone/>
            </a:pPr>
            <a:r>
              <a:rPr lang="en-US" sz="1200" b="1" dirty="0">
                <a:solidFill>
                  <a:srgbClr val="8C6810"/>
                </a:solidFill>
                <a:latin typeface="Calibri" pitchFamily="34" charset="0"/>
                <a:ea typeface="Calibri" pitchFamily="34" charset="-122"/>
                <a:cs typeface="Calibri" pitchFamily="34" charset="-120"/>
              </a:rPr>
              <a:t>Why low?</a:t>
            </a:r>
            <a:endParaRPr lang="en-US" sz="1200" dirty="0"/>
          </a:p>
        </p:txBody>
      </p:sp>
      <p:sp>
        <p:nvSpPr>
          <p:cNvPr id="10" name="Text 8"/>
          <p:cNvSpPr/>
          <p:nvPr/>
        </p:nvSpPr>
        <p:spPr>
          <a:xfrm>
            <a:off x="4846320" y="2743200"/>
            <a:ext cx="3840480" cy="1554480"/>
          </a:xfrm>
          <a:prstGeom prst="rect">
            <a:avLst/>
          </a:prstGeom>
          <a:noFill/>
          <a:ln/>
        </p:spPr>
        <p:txBody>
          <a:bodyPr wrap="square" rtlCol="0" anchor="ctr"/>
          <a:lstStyle/>
          <a:p>
            <a:pPr marL="342900" indent="-342900">
              <a:spcAft>
                <a:spcPts val="600"/>
              </a:spcAft>
              <a:buSzPct val="100000"/>
              <a:buChar char="•"/>
            </a:pPr>
            <a:r>
              <a:rPr lang="en-US" sz="1200" dirty="0">
                <a:solidFill>
                  <a:srgbClr val="4A4A42"/>
                </a:solidFill>
                <a:latin typeface="Calibri" pitchFamily="34" charset="0"/>
                <a:ea typeface="Calibri" pitchFamily="34" charset="-122"/>
                <a:cs typeface="Calibri" pitchFamily="34" charset="-120"/>
              </a:rPr>
              <a:t>No income captured yet </a:t>
            </a:r>
            <a:endParaRPr lang="en-US" sz="1200" dirty="0"/>
          </a:p>
          <a:p>
            <a:pPr marL="342900" indent="-342900">
              <a:spcAft>
                <a:spcPts val="600"/>
              </a:spcAft>
              <a:buSzPct val="100000"/>
              <a:buChar char="•"/>
            </a:pPr>
            <a:r>
              <a:rPr lang="en-US" sz="1200" dirty="0">
                <a:solidFill>
                  <a:srgbClr val="4A4A42"/>
                </a:solidFill>
                <a:latin typeface="Calibri" pitchFamily="34" charset="0"/>
                <a:ea typeface="Calibri" pitchFamily="34" charset="-122"/>
                <a:cs typeface="Calibri" pitchFamily="34" charset="-120"/>
              </a:rPr>
              <a:t>Documents at 2 / 12 </a:t>
            </a:r>
            <a:endParaRPr lang="en-US" sz="1200" dirty="0"/>
          </a:p>
          <a:p>
            <a:pPr marL="342900" indent="-342900">
              <a:spcAft>
                <a:spcPts val="600"/>
              </a:spcAft>
              <a:buSzPct val="100000"/>
              <a:buChar char="•"/>
            </a:pPr>
            <a:r>
              <a:rPr lang="en-US" sz="1200" dirty="0">
                <a:solidFill>
                  <a:srgbClr val="4A4A42"/>
                </a:solidFill>
                <a:latin typeface="Calibri" pitchFamily="34" charset="0"/>
                <a:ea typeface="Calibri" pitchFamily="34" charset="-122"/>
                <a:cs typeface="Calibri" pitchFamily="34" charset="-120"/>
              </a:rPr>
              <a:t>90-day sequence empty </a:t>
            </a:r>
            <a:endParaRPr lang="en-US" sz="1200" dirty="0"/>
          </a:p>
          <a:p>
            <a:pPr marL="342900" indent="-342900">
              <a:spcAft>
                <a:spcPts val="600"/>
              </a:spcAft>
              <a:buSzPct val="100000"/>
              <a:buChar char="•"/>
            </a:pPr>
            <a:r>
              <a:rPr lang="en-US" sz="1200" dirty="0">
                <a:solidFill>
                  <a:srgbClr val="4A4A42"/>
                </a:solidFill>
                <a:latin typeface="Calibri" pitchFamily="34" charset="0"/>
                <a:ea typeface="Calibri" pitchFamily="34" charset="-122"/>
                <a:cs typeface="Calibri" pitchFamily="34" charset="-120"/>
              </a:rPr>
              <a:t>Cash-flow ratio undefined</a:t>
            </a:r>
            <a:endParaRPr lang="en-US" sz="1200" dirty="0"/>
          </a:p>
        </p:txBody>
      </p:sp>
      <p:sp>
        <p:nvSpPr>
          <p:cNvPr id="11" name="Text 9"/>
          <p:cNvSpPr/>
          <p:nvPr/>
        </p:nvSpPr>
        <p:spPr>
          <a:xfrm>
            <a:off x="457200" y="4526280"/>
            <a:ext cx="8229600" cy="274320"/>
          </a:xfrm>
          <a:prstGeom prst="rect">
            <a:avLst/>
          </a:prstGeom>
          <a:noFill/>
          <a:ln/>
        </p:spPr>
        <p:txBody>
          <a:bodyPr wrap="square" rtlCol="0" anchor="ctr"/>
          <a:lstStyle/>
          <a:p>
            <a:pPr algn="ctr" indent="0" marL="0">
              <a:buNone/>
            </a:pPr>
            <a:r>
              <a:rPr lang="en-US" sz="1100" i="1" dirty="0">
                <a:solidFill>
                  <a:srgbClr val="8C6810"/>
                </a:solidFill>
                <a:latin typeface="Calibri" pitchFamily="34" charset="0"/>
                <a:ea typeface="Calibri" pitchFamily="34" charset="-122"/>
                <a:cs typeface="Calibri" pitchFamily="34" charset="-120"/>
              </a:rPr>
              <a:t>That's fine. The score is a guide, not a grade — it goes up the moment something real lands.</a:t>
            </a:r>
            <a:endParaRPr lang="en-US" sz="1100" dirty="0"/>
          </a:p>
        </p:txBody>
      </p:sp>
      <p:sp>
        <p:nvSpPr>
          <p:cNvPr id="12" name="Text 10"/>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13 / 30</a:t>
            </a:r>
            <a:endParaRPr lang="en-US" sz="900" dirty="0"/>
          </a:p>
        </p:txBody>
      </p:sp>
      <p:sp>
        <p:nvSpPr>
          <p:cNvPr id="13" name="Text 11"/>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MARCUS · DAY 0 → 7</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600" b="1" dirty="0">
                <a:solidFill>
                  <a:srgbClr val="1F1F1F"/>
                </a:solidFill>
                <a:latin typeface="Georgia" pitchFamily="34" charset="0"/>
                <a:ea typeface="Georgia" pitchFamily="34" charset="-122"/>
                <a:cs typeface="Georgia" pitchFamily="34" charset="-120"/>
              </a:rPr>
              <a:t>Released. The plan goes with him.</a:t>
            </a:r>
            <a:endParaRPr lang="en-US" sz="2600" dirty="0"/>
          </a:p>
        </p:txBody>
      </p:sp>
      <p:sp>
        <p:nvSpPr>
          <p:cNvPr id="4" name="Shape 2"/>
          <p:cNvSpPr/>
          <p:nvPr/>
        </p:nvSpPr>
        <p:spPr>
          <a:xfrm>
            <a:off x="457200" y="1645920"/>
            <a:ext cx="457200" cy="457200"/>
          </a:xfrm>
          <a:prstGeom prst="ellipse">
            <a:avLst/>
          </a:prstGeom>
          <a:solidFill>
            <a:srgbClr val="DAA520"/>
          </a:solidFill>
          <a:ln w="12700">
            <a:solidFill>
              <a:srgbClr val="DAA520"/>
            </a:solidFill>
            <a:prstDash val="solid"/>
          </a:ln>
        </p:spPr>
      </p:sp>
      <p:sp>
        <p:nvSpPr>
          <p:cNvPr id="5" name="Text 3"/>
          <p:cNvSpPr/>
          <p:nvPr/>
        </p:nvSpPr>
        <p:spPr>
          <a:xfrm>
            <a:off x="457200" y="1645920"/>
            <a:ext cx="457200" cy="457200"/>
          </a:xfrm>
          <a:prstGeom prst="rect">
            <a:avLst/>
          </a:prstGeom>
          <a:noFill/>
          <a:ln/>
        </p:spPr>
        <p:txBody>
          <a:bodyPr wrap="square" rtlCol="0" anchor="ctr"/>
          <a:lstStyle/>
          <a:p>
            <a:pPr algn="ctr" indent="0" marL="0">
              <a:buNone/>
            </a:pPr>
            <a:r>
              <a:rPr lang="en-US" sz="1800" b="1" dirty="0">
                <a:solidFill>
                  <a:srgbClr val="0E0E0E"/>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1097280" y="1600200"/>
            <a:ext cx="1463040" cy="36576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Day 0</a:t>
            </a:r>
            <a:endParaRPr lang="en-US" sz="1100" dirty="0"/>
          </a:p>
        </p:txBody>
      </p:sp>
      <p:sp>
        <p:nvSpPr>
          <p:cNvPr id="7" name="Text 5"/>
          <p:cNvSpPr/>
          <p:nvPr/>
        </p:nvSpPr>
        <p:spPr>
          <a:xfrm>
            <a:off x="1097280" y="1920240"/>
            <a:ext cx="3657600" cy="411480"/>
          </a:xfrm>
          <a:prstGeom prst="rect">
            <a:avLst/>
          </a:prstGeom>
          <a:noFill/>
          <a:ln/>
        </p:spPr>
        <p:txBody>
          <a:bodyPr wrap="square" rtlCol="0" anchor="ctr"/>
          <a:lstStyle/>
          <a:p>
            <a:pPr indent="0" marL="0">
              <a:buNone/>
            </a:pPr>
            <a:r>
              <a:rPr lang="en-US" sz="1400" b="1" dirty="0">
                <a:solidFill>
                  <a:srgbClr val="1F1F1F"/>
                </a:solidFill>
                <a:latin typeface="Calibri" pitchFamily="34" charset="0"/>
                <a:ea typeface="Calibri" pitchFamily="34" charset="-122"/>
                <a:cs typeface="Calibri" pitchFamily="34" charset="-120"/>
              </a:rPr>
              <a:t>Brother's house</a:t>
            </a:r>
            <a:endParaRPr lang="en-US" sz="1400" dirty="0"/>
          </a:p>
        </p:txBody>
      </p:sp>
      <p:sp>
        <p:nvSpPr>
          <p:cNvPr id="8" name="Text 6"/>
          <p:cNvSpPr/>
          <p:nvPr/>
        </p:nvSpPr>
        <p:spPr>
          <a:xfrm>
            <a:off x="4846320" y="1691640"/>
            <a:ext cx="4023360" cy="731520"/>
          </a:xfrm>
          <a:prstGeom prst="rect">
            <a:avLst/>
          </a:prstGeom>
          <a:noFill/>
          <a:ln/>
        </p:spPr>
        <p:txBody>
          <a:bodyPr wrap="square" rtlCol="0" anchor="ctr"/>
          <a:lstStyle/>
          <a:p>
            <a:pPr indent="0" marL="0">
              <a:buNone/>
            </a:pPr>
            <a:r>
              <a:rPr lang="en-US" sz="1200" dirty="0">
                <a:solidFill>
                  <a:srgbClr val="4A4A42"/>
                </a:solidFill>
                <a:latin typeface="Calibri" pitchFamily="34" charset="0"/>
                <a:ea typeface="Calibri" pitchFamily="34" charset="-122"/>
                <a:cs typeface="Calibri" pitchFamily="34" charset="-120"/>
              </a:rPr>
              <a:t>Signs in with email — plan syncs across devices. $40 prepaid SIM. Home address goes into the plan.</a:t>
            </a:r>
            <a:endParaRPr lang="en-US" sz="1200" dirty="0"/>
          </a:p>
        </p:txBody>
      </p:sp>
      <p:sp>
        <p:nvSpPr>
          <p:cNvPr id="9" name="Shape 7"/>
          <p:cNvSpPr/>
          <p:nvPr/>
        </p:nvSpPr>
        <p:spPr>
          <a:xfrm>
            <a:off x="457200" y="2606040"/>
            <a:ext cx="457200" cy="457200"/>
          </a:xfrm>
          <a:prstGeom prst="ellipse">
            <a:avLst/>
          </a:prstGeom>
          <a:solidFill>
            <a:srgbClr val="DAA520"/>
          </a:solidFill>
          <a:ln w="12700">
            <a:solidFill>
              <a:srgbClr val="DAA520"/>
            </a:solidFill>
            <a:prstDash val="solid"/>
          </a:ln>
        </p:spPr>
      </p:sp>
      <p:sp>
        <p:nvSpPr>
          <p:cNvPr id="10" name="Text 8"/>
          <p:cNvSpPr/>
          <p:nvPr/>
        </p:nvSpPr>
        <p:spPr>
          <a:xfrm>
            <a:off x="457200" y="2606040"/>
            <a:ext cx="457200" cy="457200"/>
          </a:xfrm>
          <a:prstGeom prst="rect">
            <a:avLst/>
          </a:prstGeom>
          <a:noFill/>
          <a:ln/>
        </p:spPr>
        <p:txBody>
          <a:bodyPr wrap="square" rtlCol="0" anchor="ctr"/>
          <a:lstStyle/>
          <a:p>
            <a:pPr algn="ctr" indent="0" marL="0">
              <a:buNone/>
            </a:pPr>
            <a:r>
              <a:rPr lang="en-US" sz="1800" b="1" dirty="0">
                <a:solidFill>
                  <a:srgbClr val="0E0E0E"/>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1097280" y="2560320"/>
            <a:ext cx="1463040" cy="36576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Day 1</a:t>
            </a:r>
            <a:endParaRPr lang="en-US" sz="1100" dirty="0"/>
          </a:p>
        </p:txBody>
      </p:sp>
      <p:sp>
        <p:nvSpPr>
          <p:cNvPr id="12" name="Text 10"/>
          <p:cNvSpPr/>
          <p:nvPr/>
        </p:nvSpPr>
        <p:spPr>
          <a:xfrm>
            <a:off x="1097280" y="2880360"/>
            <a:ext cx="3657600" cy="411480"/>
          </a:xfrm>
          <a:prstGeom prst="rect">
            <a:avLst/>
          </a:prstGeom>
          <a:noFill/>
          <a:ln/>
        </p:spPr>
        <p:txBody>
          <a:bodyPr wrap="square" rtlCol="0" anchor="ctr"/>
          <a:lstStyle/>
          <a:p>
            <a:pPr indent="0" marL="0">
              <a:buNone/>
            </a:pPr>
            <a:r>
              <a:rPr lang="en-US" sz="1400" b="1" dirty="0">
                <a:solidFill>
                  <a:srgbClr val="1F1F1F"/>
                </a:solidFill>
                <a:latin typeface="Calibri" pitchFamily="34" charset="0"/>
                <a:ea typeface="Calibri" pitchFamily="34" charset="-122"/>
                <a:cs typeface="Calibri" pitchFamily="34" charset="-120"/>
              </a:rPr>
              <a:t>DMV + SSA office</a:t>
            </a:r>
            <a:endParaRPr lang="en-US" sz="1400" dirty="0"/>
          </a:p>
        </p:txBody>
      </p:sp>
      <p:sp>
        <p:nvSpPr>
          <p:cNvPr id="13" name="Text 11"/>
          <p:cNvSpPr/>
          <p:nvPr/>
        </p:nvSpPr>
        <p:spPr>
          <a:xfrm>
            <a:off x="4846320" y="2651760"/>
            <a:ext cx="4023360" cy="731520"/>
          </a:xfrm>
          <a:prstGeom prst="rect">
            <a:avLst/>
          </a:prstGeom>
          <a:noFill/>
          <a:ln/>
        </p:spPr>
        <p:txBody>
          <a:bodyPr wrap="square" rtlCol="0" anchor="ctr"/>
          <a:lstStyle/>
          <a:p>
            <a:pPr indent="0" marL="0">
              <a:buNone/>
            </a:pPr>
            <a:r>
              <a:rPr lang="en-US" sz="1200" dirty="0">
                <a:solidFill>
                  <a:srgbClr val="4A4A42"/>
                </a:solidFill>
                <a:latin typeface="Calibri" pitchFamily="34" charset="0"/>
                <a:ea typeface="Calibri" pitchFamily="34" charset="-122"/>
                <a:cs typeface="Calibri" pitchFamily="34" charset="-120"/>
              </a:rPr>
              <a:t>Documents tab moves from 2 to 4 collected. Score climbs to 41.</a:t>
            </a:r>
            <a:endParaRPr lang="en-US" sz="1200" dirty="0"/>
          </a:p>
        </p:txBody>
      </p:sp>
      <p:sp>
        <p:nvSpPr>
          <p:cNvPr id="14" name="Shape 12"/>
          <p:cNvSpPr/>
          <p:nvPr/>
        </p:nvSpPr>
        <p:spPr>
          <a:xfrm>
            <a:off x="457200" y="3566160"/>
            <a:ext cx="457200" cy="457200"/>
          </a:xfrm>
          <a:prstGeom prst="ellipse">
            <a:avLst/>
          </a:prstGeom>
          <a:solidFill>
            <a:srgbClr val="DAA520"/>
          </a:solidFill>
          <a:ln w="12700">
            <a:solidFill>
              <a:srgbClr val="DAA520"/>
            </a:solidFill>
            <a:prstDash val="solid"/>
          </a:ln>
        </p:spPr>
      </p:sp>
      <p:sp>
        <p:nvSpPr>
          <p:cNvPr id="15" name="Text 13"/>
          <p:cNvSpPr/>
          <p:nvPr/>
        </p:nvSpPr>
        <p:spPr>
          <a:xfrm>
            <a:off x="457200" y="3566160"/>
            <a:ext cx="457200" cy="457200"/>
          </a:xfrm>
          <a:prstGeom prst="rect">
            <a:avLst/>
          </a:prstGeom>
          <a:noFill/>
          <a:ln/>
        </p:spPr>
        <p:txBody>
          <a:bodyPr wrap="square" rtlCol="0" anchor="ctr"/>
          <a:lstStyle/>
          <a:p>
            <a:pPr algn="ctr" indent="0" marL="0">
              <a:buNone/>
            </a:pPr>
            <a:r>
              <a:rPr lang="en-US" sz="1800" b="1" dirty="0">
                <a:solidFill>
                  <a:srgbClr val="0E0E0E"/>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097280" y="3520440"/>
            <a:ext cx="1463040" cy="36576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Day 7</a:t>
            </a:r>
            <a:endParaRPr lang="en-US" sz="1100" dirty="0"/>
          </a:p>
        </p:txBody>
      </p:sp>
      <p:sp>
        <p:nvSpPr>
          <p:cNvPr id="17" name="Text 15"/>
          <p:cNvSpPr/>
          <p:nvPr/>
        </p:nvSpPr>
        <p:spPr>
          <a:xfrm>
            <a:off x="1097280" y="3840480"/>
            <a:ext cx="3657600" cy="411480"/>
          </a:xfrm>
          <a:prstGeom prst="rect">
            <a:avLst/>
          </a:prstGeom>
          <a:noFill/>
          <a:ln/>
        </p:spPr>
        <p:txBody>
          <a:bodyPr wrap="square" rtlCol="0" anchor="ctr"/>
          <a:lstStyle/>
          <a:p>
            <a:pPr indent="0" marL="0">
              <a:buNone/>
            </a:pPr>
            <a:r>
              <a:rPr lang="en-US" sz="1400" b="1" dirty="0">
                <a:solidFill>
                  <a:srgbClr val="1F1F1F"/>
                </a:solidFill>
                <a:latin typeface="Calibri" pitchFamily="34" charset="0"/>
                <a:ea typeface="Calibri" pitchFamily="34" charset="-122"/>
                <a:cs typeface="Calibri" pitchFamily="34" charset="-120"/>
              </a:rPr>
              <a:t>Job interview hits</a:t>
            </a:r>
            <a:endParaRPr lang="en-US" sz="1400" dirty="0"/>
          </a:p>
        </p:txBody>
      </p:sp>
      <p:sp>
        <p:nvSpPr>
          <p:cNvPr id="18" name="Text 16"/>
          <p:cNvSpPr/>
          <p:nvPr/>
        </p:nvSpPr>
        <p:spPr>
          <a:xfrm>
            <a:off x="4846320" y="3611880"/>
            <a:ext cx="4023360" cy="731520"/>
          </a:xfrm>
          <a:prstGeom prst="rect">
            <a:avLst/>
          </a:prstGeom>
          <a:noFill/>
          <a:ln/>
        </p:spPr>
        <p:txBody>
          <a:bodyPr wrap="square" rtlCol="0" anchor="ctr"/>
          <a:lstStyle/>
          <a:p>
            <a:pPr indent="0" marL="0">
              <a:buNone/>
            </a:pPr>
            <a:r>
              <a:rPr lang="en-US" sz="1200" dirty="0">
                <a:solidFill>
                  <a:srgbClr val="4A4A42"/>
                </a:solidFill>
                <a:latin typeface="Calibri" pitchFamily="34" charset="0"/>
                <a:ea typeface="Calibri" pitchFamily="34" charset="-122"/>
                <a:cs typeface="Calibri" pitchFamily="34" charset="-120"/>
              </a:rPr>
              <a:t>Adds the role to Income via a chip. Sync pill: "Synced · 8:14 PM."</a:t>
            </a:r>
            <a:endParaRPr lang="en-US" sz="1200" dirty="0"/>
          </a:p>
        </p:txBody>
      </p:sp>
      <p:sp>
        <p:nvSpPr>
          <p:cNvPr id="19" name="Text 17"/>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14 / 30</a:t>
            </a:r>
            <a:endParaRPr lang="en-US" sz="900" dirty="0"/>
          </a:p>
        </p:txBody>
      </p:sp>
      <p:sp>
        <p:nvSpPr>
          <p:cNvPr id="20" name="Text 18"/>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MARCUS · DAY 30 → 90</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F1F1F"/>
                </a:solidFill>
                <a:latin typeface="Georgia" pitchFamily="34" charset="0"/>
                <a:ea typeface="Georgia" pitchFamily="34" charset="-122"/>
                <a:cs typeface="Georgia" pitchFamily="34" charset="-120"/>
              </a:rPr>
              <a:t>From red to green.</a:t>
            </a:r>
            <a:endParaRPr lang="en-US" sz="2800" dirty="0"/>
          </a:p>
        </p:txBody>
      </p:sp>
      <p:sp>
        <p:nvSpPr>
          <p:cNvPr id="4" name="Text 2"/>
          <p:cNvSpPr/>
          <p:nvPr/>
        </p:nvSpPr>
        <p:spPr>
          <a:xfrm>
            <a:off x="457200" y="1554480"/>
            <a:ext cx="914400" cy="365760"/>
          </a:xfrm>
          <a:prstGeom prst="rect">
            <a:avLst/>
          </a:prstGeom>
          <a:noFill/>
          <a:ln/>
        </p:spPr>
        <p:txBody>
          <a:bodyPr wrap="square" rtlCol="0" anchor="ctr"/>
          <a:lstStyle/>
          <a:p>
            <a:pPr indent="0" marL="0">
              <a:buNone/>
            </a:pPr>
            <a:r>
              <a:rPr lang="en-US" sz="1200" b="1" dirty="0">
                <a:solidFill>
                  <a:srgbClr val="4A4A42"/>
                </a:solidFill>
                <a:latin typeface="Calibri" pitchFamily="34" charset="0"/>
                <a:ea typeface="Calibri" pitchFamily="34" charset="-122"/>
                <a:cs typeface="Calibri" pitchFamily="34" charset="-120"/>
              </a:rPr>
              <a:t>Day  0</a:t>
            </a:r>
            <a:endParaRPr lang="en-US" sz="1200" dirty="0"/>
          </a:p>
        </p:txBody>
      </p:sp>
      <p:sp>
        <p:nvSpPr>
          <p:cNvPr id="5" name="Shape 3"/>
          <p:cNvSpPr/>
          <p:nvPr/>
        </p:nvSpPr>
        <p:spPr>
          <a:xfrm>
            <a:off x="1463040" y="1618488"/>
            <a:ext cx="5943600" cy="237744"/>
          </a:xfrm>
          <a:prstGeom prst="roundRect">
            <a:avLst>
              <a:gd name="adj" fmla="val 50000"/>
            </a:avLst>
          </a:prstGeom>
          <a:solidFill>
            <a:srgbClr val="F0E7C7"/>
          </a:solidFill>
          <a:ln w="12700">
            <a:solidFill>
              <a:srgbClr val="E5DBC2"/>
            </a:solidFill>
            <a:prstDash val="solid"/>
          </a:ln>
        </p:spPr>
      </p:sp>
      <p:sp>
        <p:nvSpPr>
          <p:cNvPr id="6" name="Shape 4"/>
          <p:cNvSpPr/>
          <p:nvPr/>
        </p:nvSpPr>
        <p:spPr>
          <a:xfrm>
            <a:off x="1463040" y="1618488"/>
            <a:ext cx="1901952" cy="237744"/>
          </a:xfrm>
          <a:prstGeom prst="roundRect">
            <a:avLst>
              <a:gd name="adj" fmla="val 50000"/>
            </a:avLst>
          </a:prstGeom>
          <a:solidFill>
            <a:srgbClr val="B23A1F"/>
          </a:solidFill>
          <a:ln w="12700">
            <a:solidFill>
              <a:srgbClr val="B23A1F"/>
            </a:solidFill>
            <a:prstDash val="solid"/>
          </a:ln>
        </p:spPr>
      </p:sp>
      <p:sp>
        <p:nvSpPr>
          <p:cNvPr id="7" name="Text 5"/>
          <p:cNvSpPr/>
          <p:nvPr/>
        </p:nvSpPr>
        <p:spPr>
          <a:xfrm>
            <a:off x="7498080" y="1554480"/>
            <a:ext cx="1280160" cy="365760"/>
          </a:xfrm>
          <a:prstGeom prst="rect">
            <a:avLst/>
          </a:prstGeom>
          <a:noFill/>
          <a:ln/>
        </p:spPr>
        <p:txBody>
          <a:bodyPr wrap="square" rtlCol="0" anchor="ctr"/>
          <a:lstStyle/>
          <a:p>
            <a:pPr indent="0" marL="0">
              <a:buNone/>
            </a:pPr>
            <a:r>
              <a:rPr lang="en-US" sz="1200" b="1" dirty="0">
                <a:solidFill>
                  <a:srgbClr val="B23A1F"/>
                </a:solidFill>
                <a:latin typeface="Calibri" pitchFamily="34" charset="0"/>
                <a:ea typeface="Calibri" pitchFamily="34" charset="-122"/>
                <a:cs typeface="Calibri" pitchFamily="34" charset="-120"/>
              </a:rPr>
              <a:t>32 / 100</a:t>
            </a:r>
            <a:endParaRPr lang="en-US" sz="1200" dirty="0"/>
          </a:p>
        </p:txBody>
      </p:sp>
      <p:sp>
        <p:nvSpPr>
          <p:cNvPr id="8" name="Text 6"/>
          <p:cNvSpPr/>
          <p:nvPr/>
        </p:nvSpPr>
        <p:spPr>
          <a:xfrm>
            <a:off x="457200" y="2057400"/>
            <a:ext cx="914400" cy="365760"/>
          </a:xfrm>
          <a:prstGeom prst="rect">
            <a:avLst/>
          </a:prstGeom>
          <a:noFill/>
          <a:ln/>
        </p:spPr>
        <p:txBody>
          <a:bodyPr wrap="square" rtlCol="0" anchor="ctr"/>
          <a:lstStyle/>
          <a:p>
            <a:pPr indent="0" marL="0">
              <a:buNone/>
            </a:pPr>
            <a:r>
              <a:rPr lang="en-US" sz="1200" b="1" dirty="0">
                <a:solidFill>
                  <a:srgbClr val="4A4A42"/>
                </a:solidFill>
                <a:latin typeface="Calibri" pitchFamily="34" charset="0"/>
                <a:ea typeface="Calibri" pitchFamily="34" charset="-122"/>
                <a:cs typeface="Calibri" pitchFamily="34" charset="-120"/>
              </a:rPr>
              <a:t>Day  7</a:t>
            </a:r>
            <a:endParaRPr lang="en-US" sz="1200" dirty="0"/>
          </a:p>
        </p:txBody>
      </p:sp>
      <p:sp>
        <p:nvSpPr>
          <p:cNvPr id="9" name="Shape 7"/>
          <p:cNvSpPr/>
          <p:nvPr/>
        </p:nvSpPr>
        <p:spPr>
          <a:xfrm>
            <a:off x="1463040" y="2121408"/>
            <a:ext cx="5943600" cy="237744"/>
          </a:xfrm>
          <a:prstGeom prst="roundRect">
            <a:avLst>
              <a:gd name="adj" fmla="val 50000"/>
            </a:avLst>
          </a:prstGeom>
          <a:solidFill>
            <a:srgbClr val="F0E7C7"/>
          </a:solidFill>
          <a:ln w="12700">
            <a:solidFill>
              <a:srgbClr val="E5DBC2"/>
            </a:solidFill>
            <a:prstDash val="solid"/>
          </a:ln>
        </p:spPr>
      </p:sp>
      <p:sp>
        <p:nvSpPr>
          <p:cNvPr id="10" name="Shape 8"/>
          <p:cNvSpPr/>
          <p:nvPr/>
        </p:nvSpPr>
        <p:spPr>
          <a:xfrm>
            <a:off x="1463040" y="2121408"/>
            <a:ext cx="2436876" cy="237744"/>
          </a:xfrm>
          <a:prstGeom prst="roundRect">
            <a:avLst>
              <a:gd name="adj" fmla="val 50000"/>
            </a:avLst>
          </a:prstGeom>
          <a:solidFill>
            <a:srgbClr val="B23A1F"/>
          </a:solidFill>
          <a:ln w="12700">
            <a:solidFill>
              <a:srgbClr val="B23A1F"/>
            </a:solidFill>
            <a:prstDash val="solid"/>
          </a:ln>
        </p:spPr>
      </p:sp>
      <p:sp>
        <p:nvSpPr>
          <p:cNvPr id="11" name="Text 9"/>
          <p:cNvSpPr/>
          <p:nvPr/>
        </p:nvSpPr>
        <p:spPr>
          <a:xfrm>
            <a:off x="7498080" y="2057400"/>
            <a:ext cx="1280160" cy="365760"/>
          </a:xfrm>
          <a:prstGeom prst="rect">
            <a:avLst/>
          </a:prstGeom>
          <a:noFill/>
          <a:ln/>
        </p:spPr>
        <p:txBody>
          <a:bodyPr wrap="square" rtlCol="0" anchor="ctr"/>
          <a:lstStyle/>
          <a:p>
            <a:pPr indent="0" marL="0">
              <a:buNone/>
            </a:pPr>
            <a:r>
              <a:rPr lang="en-US" sz="1200" b="1" dirty="0">
                <a:solidFill>
                  <a:srgbClr val="B23A1F"/>
                </a:solidFill>
                <a:latin typeface="Calibri" pitchFamily="34" charset="0"/>
                <a:ea typeface="Calibri" pitchFamily="34" charset="-122"/>
                <a:cs typeface="Calibri" pitchFamily="34" charset="-120"/>
              </a:rPr>
              <a:t>41 / 100</a:t>
            </a:r>
            <a:endParaRPr lang="en-US" sz="1200" dirty="0"/>
          </a:p>
        </p:txBody>
      </p:sp>
      <p:sp>
        <p:nvSpPr>
          <p:cNvPr id="12" name="Text 10"/>
          <p:cNvSpPr/>
          <p:nvPr/>
        </p:nvSpPr>
        <p:spPr>
          <a:xfrm>
            <a:off x="457200" y="2560320"/>
            <a:ext cx="914400" cy="365760"/>
          </a:xfrm>
          <a:prstGeom prst="rect">
            <a:avLst/>
          </a:prstGeom>
          <a:noFill/>
          <a:ln/>
        </p:spPr>
        <p:txBody>
          <a:bodyPr wrap="square" rtlCol="0" anchor="ctr"/>
          <a:lstStyle/>
          <a:p>
            <a:pPr indent="0" marL="0">
              <a:buNone/>
            </a:pPr>
            <a:r>
              <a:rPr lang="en-US" sz="1200" b="1" dirty="0">
                <a:solidFill>
                  <a:srgbClr val="4A4A42"/>
                </a:solidFill>
                <a:latin typeface="Calibri" pitchFamily="34" charset="0"/>
                <a:ea typeface="Calibri" pitchFamily="34" charset="-122"/>
                <a:cs typeface="Calibri" pitchFamily="34" charset="-120"/>
              </a:rPr>
              <a:t>Day 30</a:t>
            </a:r>
            <a:endParaRPr lang="en-US" sz="1200" dirty="0"/>
          </a:p>
        </p:txBody>
      </p:sp>
      <p:sp>
        <p:nvSpPr>
          <p:cNvPr id="13" name="Shape 11"/>
          <p:cNvSpPr/>
          <p:nvPr/>
        </p:nvSpPr>
        <p:spPr>
          <a:xfrm>
            <a:off x="1463040" y="2624328"/>
            <a:ext cx="5943600" cy="237744"/>
          </a:xfrm>
          <a:prstGeom prst="roundRect">
            <a:avLst>
              <a:gd name="adj" fmla="val 50000"/>
            </a:avLst>
          </a:prstGeom>
          <a:solidFill>
            <a:srgbClr val="F0E7C7"/>
          </a:solidFill>
          <a:ln w="12700">
            <a:solidFill>
              <a:srgbClr val="E5DBC2"/>
            </a:solidFill>
            <a:prstDash val="solid"/>
          </a:ln>
        </p:spPr>
      </p:sp>
      <p:sp>
        <p:nvSpPr>
          <p:cNvPr id="14" name="Shape 12"/>
          <p:cNvSpPr/>
          <p:nvPr/>
        </p:nvSpPr>
        <p:spPr>
          <a:xfrm>
            <a:off x="1463040" y="2624328"/>
            <a:ext cx="3268980" cy="237744"/>
          </a:xfrm>
          <a:prstGeom prst="roundRect">
            <a:avLst>
              <a:gd name="adj" fmla="val 50000"/>
            </a:avLst>
          </a:prstGeom>
          <a:solidFill>
            <a:srgbClr val="DAA520"/>
          </a:solidFill>
          <a:ln w="12700">
            <a:solidFill>
              <a:srgbClr val="DAA520"/>
            </a:solidFill>
            <a:prstDash val="solid"/>
          </a:ln>
        </p:spPr>
      </p:sp>
      <p:sp>
        <p:nvSpPr>
          <p:cNvPr id="15" name="Text 13"/>
          <p:cNvSpPr/>
          <p:nvPr/>
        </p:nvSpPr>
        <p:spPr>
          <a:xfrm>
            <a:off x="7498080" y="2560320"/>
            <a:ext cx="1280160" cy="365760"/>
          </a:xfrm>
          <a:prstGeom prst="rect">
            <a:avLst/>
          </a:prstGeom>
          <a:noFill/>
          <a:ln/>
        </p:spPr>
        <p:txBody>
          <a:bodyPr wrap="square" rtlCol="0" anchor="ctr"/>
          <a:lstStyle/>
          <a:p>
            <a:pPr indent="0" marL="0">
              <a:buNone/>
            </a:pPr>
            <a:r>
              <a:rPr lang="en-US" sz="1200" b="1" dirty="0">
                <a:solidFill>
                  <a:srgbClr val="DAA520"/>
                </a:solidFill>
                <a:latin typeface="Calibri" pitchFamily="34" charset="0"/>
                <a:ea typeface="Calibri" pitchFamily="34" charset="-122"/>
                <a:cs typeface="Calibri" pitchFamily="34" charset="-120"/>
              </a:rPr>
              <a:t>55 / 100</a:t>
            </a:r>
            <a:endParaRPr lang="en-US" sz="1200" dirty="0"/>
          </a:p>
        </p:txBody>
      </p:sp>
      <p:sp>
        <p:nvSpPr>
          <p:cNvPr id="16" name="Text 14"/>
          <p:cNvSpPr/>
          <p:nvPr/>
        </p:nvSpPr>
        <p:spPr>
          <a:xfrm>
            <a:off x="457200" y="3063240"/>
            <a:ext cx="914400" cy="365760"/>
          </a:xfrm>
          <a:prstGeom prst="rect">
            <a:avLst/>
          </a:prstGeom>
          <a:noFill/>
          <a:ln/>
        </p:spPr>
        <p:txBody>
          <a:bodyPr wrap="square" rtlCol="0" anchor="ctr"/>
          <a:lstStyle/>
          <a:p>
            <a:pPr indent="0" marL="0">
              <a:buNone/>
            </a:pPr>
            <a:r>
              <a:rPr lang="en-US" sz="1200" b="1" dirty="0">
                <a:solidFill>
                  <a:srgbClr val="4A4A42"/>
                </a:solidFill>
                <a:latin typeface="Calibri" pitchFamily="34" charset="0"/>
                <a:ea typeface="Calibri" pitchFamily="34" charset="-122"/>
                <a:cs typeface="Calibri" pitchFamily="34" charset="-120"/>
              </a:rPr>
              <a:t>Day 60</a:t>
            </a:r>
            <a:endParaRPr lang="en-US" sz="1200" dirty="0"/>
          </a:p>
        </p:txBody>
      </p:sp>
      <p:sp>
        <p:nvSpPr>
          <p:cNvPr id="17" name="Shape 15"/>
          <p:cNvSpPr/>
          <p:nvPr/>
        </p:nvSpPr>
        <p:spPr>
          <a:xfrm>
            <a:off x="1463040" y="3127248"/>
            <a:ext cx="5943600" cy="237744"/>
          </a:xfrm>
          <a:prstGeom prst="roundRect">
            <a:avLst>
              <a:gd name="adj" fmla="val 50000"/>
            </a:avLst>
          </a:prstGeom>
          <a:solidFill>
            <a:srgbClr val="F0E7C7"/>
          </a:solidFill>
          <a:ln w="12700">
            <a:solidFill>
              <a:srgbClr val="E5DBC2"/>
            </a:solidFill>
            <a:prstDash val="solid"/>
          </a:ln>
        </p:spPr>
      </p:sp>
      <p:sp>
        <p:nvSpPr>
          <p:cNvPr id="18" name="Shape 16"/>
          <p:cNvSpPr/>
          <p:nvPr/>
        </p:nvSpPr>
        <p:spPr>
          <a:xfrm>
            <a:off x="1463040" y="3127248"/>
            <a:ext cx="4279392" cy="237744"/>
          </a:xfrm>
          <a:prstGeom prst="roundRect">
            <a:avLst>
              <a:gd name="adj" fmla="val 50000"/>
            </a:avLst>
          </a:prstGeom>
          <a:solidFill>
            <a:srgbClr val="1F7A4D"/>
          </a:solidFill>
          <a:ln w="12700">
            <a:solidFill>
              <a:srgbClr val="1F7A4D"/>
            </a:solidFill>
            <a:prstDash val="solid"/>
          </a:ln>
        </p:spPr>
      </p:sp>
      <p:sp>
        <p:nvSpPr>
          <p:cNvPr id="19" name="Text 17"/>
          <p:cNvSpPr/>
          <p:nvPr/>
        </p:nvSpPr>
        <p:spPr>
          <a:xfrm>
            <a:off x="7498080" y="3063240"/>
            <a:ext cx="1280160" cy="365760"/>
          </a:xfrm>
          <a:prstGeom prst="rect">
            <a:avLst/>
          </a:prstGeom>
          <a:noFill/>
          <a:ln/>
        </p:spPr>
        <p:txBody>
          <a:bodyPr wrap="square" rtlCol="0" anchor="ctr"/>
          <a:lstStyle/>
          <a:p>
            <a:pPr indent="0" marL="0">
              <a:buNone/>
            </a:pPr>
            <a:r>
              <a:rPr lang="en-US" sz="1200" b="1" dirty="0">
                <a:solidFill>
                  <a:srgbClr val="1F7A4D"/>
                </a:solidFill>
                <a:latin typeface="Calibri" pitchFamily="34" charset="0"/>
                <a:ea typeface="Calibri" pitchFamily="34" charset="-122"/>
                <a:cs typeface="Calibri" pitchFamily="34" charset="-120"/>
              </a:rPr>
              <a:t>72 / 100</a:t>
            </a:r>
            <a:endParaRPr lang="en-US" sz="1200" dirty="0"/>
          </a:p>
        </p:txBody>
      </p:sp>
      <p:sp>
        <p:nvSpPr>
          <p:cNvPr id="20" name="Text 18"/>
          <p:cNvSpPr/>
          <p:nvPr/>
        </p:nvSpPr>
        <p:spPr>
          <a:xfrm>
            <a:off x="457200" y="3566160"/>
            <a:ext cx="914400" cy="365760"/>
          </a:xfrm>
          <a:prstGeom prst="rect">
            <a:avLst/>
          </a:prstGeom>
          <a:noFill/>
          <a:ln/>
        </p:spPr>
        <p:txBody>
          <a:bodyPr wrap="square" rtlCol="0" anchor="ctr"/>
          <a:lstStyle/>
          <a:p>
            <a:pPr indent="0" marL="0">
              <a:buNone/>
            </a:pPr>
            <a:r>
              <a:rPr lang="en-US" sz="1200" b="1" dirty="0">
                <a:solidFill>
                  <a:srgbClr val="4A4A42"/>
                </a:solidFill>
                <a:latin typeface="Calibri" pitchFamily="34" charset="0"/>
                <a:ea typeface="Calibri" pitchFamily="34" charset="-122"/>
                <a:cs typeface="Calibri" pitchFamily="34" charset="-120"/>
              </a:rPr>
              <a:t>Day 90</a:t>
            </a:r>
            <a:endParaRPr lang="en-US" sz="1200" dirty="0"/>
          </a:p>
        </p:txBody>
      </p:sp>
      <p:sp>
        <p:nvSpPr>
          <p:cNvPr id="21" name="Shape 19"/>
          <p:cNvSpPr/>
          <p:nvPr/>
        </p:nvSpPr>
        <p:spPr>
          <a:xfrm>
            <a:off x="1463040" y="3630168"/>
            <a:ext cx="5943600" cy="237744"/>
          </a:xfrm>
          <a:prstGeom prst="roundRect">
            <a:avLst>
              <a:gd name="adj" fmla="val 50000"/>
            </a:avLst>
          </a:prstGeom>
          <a:solidFill>
            <a:srgbClr val="F0E7C7"/>
          </a:solidFill>
          <a:ln w="12700">
            <a:solidFill>
              <a:srgbClr val="E5DBC2"/>
            </a:solidFill>
            <a:prstDash val="solid"/>
          </a:ln>
        </p:spPr>
      </p:sp>
      <p:sp>
        <p:nvSpPr>
          <p:cNvPr id="22" name="Shape 20"/>
          <p:cNvSpPr/>
          <p:nvPr/>
        </p:nvSpPr>
        <p:spPr>
          <a:xfrm>
            <a:off x="1463040" y="3630168"/>
            <a:ext cx="5111496" cy="237744"/>
          </a:xfrm>
          <a:prstGeom prst="roundRect">
            <a:avLst>
              <a:gd name="adj" fmla="val 50000"/>
            </a:avLst>
          </a:prstGeom>
          <a:solidFill>
            <a:srgbClr val="1F7A4D"/>
          </a:solidFill>
          <a:ln w="12700">
            <a:solidFill>
              <a:srgbClr val="1F7A4D"/>
            </a:solidFill>
            <a:prstDash val="solid"/>
          </a:ln>
        </p:spPr>
      </p:sp>
      <p:sp>
        <p:nvSpPr>
          <p:cNvPr id="23" name="Text 21"/>
          <p:cNvSpPr/>
          <p:nvPr/>
        </p:nvSpPr>
        <p:spPr>
          <a:xfrm>
            <a:off x="7498080" y="3566160"/>
            <a:ext cx="1280160" cy="365760"/>
          </a:xfrm>
          <a:prstGeom prst="rect">
            <a:avLst/>
          </a:prstGeom>
          <a:noFill/>
          <a:ln/>
        </p:spPr>
        <p:txBody>
          <a:bodyPr wrap="square" rtlCol="0" anchor="ctr"/>
          <a:lstStyle/>
          <a:p>
            <a:pPr indent="0" marL="0">
              <a:buNone/>
            </a:pPr>
            <a:r>
              <a:rPr lang="en-US" sz="1200" b="1" dirty="0">
                <a:solidFill>
                  <a:srgbClr val="1F7A4D"/>
                </a:solidFill>
                <a:latin typeface="Calibri" pitchFamily="34" charset="0"/>
                <a:ea typeface="Calibri" pitchFamily="34" charset="-122"/>
                <a:cs typeface="Calibri" pitchFamily="34" charset="-120"/>
              </a:rPr>
              <a:t>86 / 100</a:t>
            </a:r>
            <a:endParaRPr lang="en-US" sz="1200" dirty="0"/>
          </a:p>
        </p:txBody>
      </p:sp>
      <p:sp>
        <p:nvSpPr>
          <p:cNvPr id="24" name="Text 22"/>
          <p:cNvSpPr/>
          <p:nvPr/>
        </p:nvSpPr>
        <p:spPr>
          <a:xfrm>
            <a:off x="457200" y="4297680"/>
            <a:ext cx="8229600" cy="457200"/>
          </a:xfrm>
          <a:prstGeom prst="rect">
            <a:avLst/>
          </a:prstGeom>
          <a:noFill/>
          <a:ln/>
        </p:spPr>
        <p:txBody>
          <a:bodyPr wrap="square" rtlCol="0" anchor="ctr"/>
          <a:lstStyle/>
          <a:p>
            <a:pPr indent="0" marL="0">
              <a:buNone/>
            </a:pPr>
            <a:r>
              <a:rPr lang="en-US" sz="1300" b="1" i="1" dirty="0">
                <a:solidFill>
                  <a:srgbClr val="1F7A4D"/>
                </a:solidFill>
                <a:latin typeface="Calibri" pitchFamily="34" charset="0"/>
                <a:ea typeface="Calibri" pitchFamily="34" charset="-122"/>
                <a:cs typeface="Calibri" pitchFamily="34" charset="-120"/>
              </a:rPr>
              <a:t>Day 90: </a:t>
            </a:r>
            <a:pPr indent="0" marL="0">
              <a:buNone/>
            </a:pPr>
            <a:r>
              <a:rPr lang="en-US" sz="1300" i="1" dirty="0">
                <a:solidFill>
                  <a:srgbClr val="4A4A42"/>
                </a:solidFill>
                <a:latin typeface="Calibri" pitchFamily="34" charset="0"/>
                <a:ea typeface="Calibri" pitchFamily="34" charset="-122"/>
                <a:cs typeface="Calibri" pitchFamily="34" charset="-120"/>
              </a:rPr>
              <a:t>Net cash-flow positive. Documents 11/12. 90-day sequence 11 of 14 done. Prints a clean copy for the CSU Project Rebound advisor.</a:t>
            </a:r>
            <a:endParaRPr lang="en-US" sz="1300" dirty="0"/>
          </a:p>
        </p:txBody>
      </p:sp>
      <p:sp>
        <p:nvSpPr>
          <p:cNvPr id="25" name="Text 23"/>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15 / 30</a:t>
            </a:r>
            <a:endParaRPr lang="en-US" sz="900" dirty="0"/>
          </a:p>
        </p:txBody>
      </p:sp>
      <p:sp>
        <p:nvSpPr>
          <p:cNvPr id="26" name="Text 24"/>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DAA520"/>
                </a:solidFill>
                <a:latin typeface="Calibri" pitchFamily="34" charset="0"/>
                <a:ea typeface="Calibri" pitchFamily="34" charset="-122"/>
                <a:cs typeface="Calibri" pitchFamily="34" charset="-120"/>
              </a:rPr>
              <a:t>PRIVACY &amp; AUTH</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400" b="1" dirty="0">
                <a:solidFill>
                  <a:srgbClr val="FAF7EE"/>
                </a:solidFill>
                <a:latin typeface="Georgia" pitchFamily="34" charset="0"/>
                <a:ea typeface="Georgia" pitchFamily="34" charset="-122"/>
                <a:cs typeface="Georgia" pitchFamily="34" charset="-120"/>
              </a:rPr>
              <a:t>Sign-in is opt-in. Everything else is on-device.</a:t>
            </a:r>
            <a:endParaRPr lang="en-US" sz="2400" dirty="0"/>
          </a:p>
        </p:txBody>
      </p:sp>
      <p:sp>
        <p:nvSpPr>
          <p:cNvPr id="4" name="Shape 2"/>
          <p:cNvSpPr/>
          <p:nvPr/>
        </p:nvSpPr>
        <p:spPr>
          <a:xfrm>
            <a:off x="548640" y="1645920"/>
            <a:ext cx="594360" cy="594360"/>
          </a:xfrm>
          <a:prstGeom prst="ellipse">
            <a:avLst/>
          </a:prstGeom>
          <a:solidFill>
            <a:srgbClr val="DAA520"/>
          </a:solidFill>
          <a:ln w="12700">
            <a:solidFill>
              <a:srgbClr val="DAA520"/>
            </a:solidFill>
            <a:prstDash val="solid"/>
          </a:ln>
        </p:spPr>
      </p:sp>
      <p:sp>
        <p:nvSpPr>
          <p:cNvPr id="5" name="Text 3"/>
          <p:cNvSpPr/>
          <p:nvPr/>
        </p:nvSpPr>
        <p:spPr>
          <a:xfrm>
            <a:off x="548640" y="1645920"/>
            <a:ext cx="594360" cy="594360"/>
          </a:xfrm>
          <a:prstGeom prst="rect">
            <a:avLst/>
          </a:prstGeom>
          <a:noFill/>
          <a:ln/>
        </p:spPr>
        <p:txBody>
          <a:bodyPr wrap="square" rtlCol="0" anchor="ctr"/>
          <a:lstStyle/>
          <a:p>
            <a:pPr algn="ctr" indent="0" marL="0">
              <a:buNone/>
            </a:pPr>
            <a:r>
              <a:rPr lang="en-US" sz="2000" dirty="0">
                <a:solidFill>
                  <a:srgbClr val="0E0E0E"/>
                </a:solidFill>
              </a:rPr>
              <a:t>🔒</a:t>
            </a:r>
            <a:endParaRPr lang="en-US" sz="2000" dirty="0"/>
          </a:p>
        </p:txBody>
      </p:sp>
      <p:sp>
        <p:nvSpPr>
          <p:cNvPr id="6" name="Text 4"/>
          <p:cNvSpPr/>
          <p:nvPr/>
        </p:nvSpPr>
        <p:spPr>
          <a:xfrm>
            <a:off x="1371600" y="1645920"/>
            <a:ext cx="7315200" cy="320040"/>
          </a:xfrm>
          <a:prstGeom prst="rect">
            <a:avLst/>
          </a:prstGeom>
          <a:noFill/>
          <a:ln/>
        </p:spPr>
        <p:txBody>
          <a:bodyPr wrap="square" rtlCol="0" anchor="ctr"/>
          <a:lstStyle/>
          <a:p>
            <a:pPr indent="0" marL="0">
              <a:buNone/>
            </a:pPr>
            <a:r>
              <a:rPr lang="en-US" sz="1600" b="1" dirty="0">
                <a:solidFill>
                  <a:srgbClr val="FAF7EE"/>
                </a:solidFill>
                <a:latin typeface="Calibri" pitchFamily="34" charset="0"/>
                <a:ea typeface="Calibri" pitchFamily="34" charset="-122"/>
                <a:cs typeface="Calibri" pitchFamily="34" charset="-120"/>
              </a:rPr>
              <a:t>No analytics. No third-party fonts.</a:t>
            </a:r>
            <a:endParaRPr lang="en-US" sz="1600" dirty="0"/>
          </a:p>
        </p:txBody>
      </p:sp>
      <p:sp>
        <p:nvSpPr>
          <p:cNvPr id="7" name="Text 5"/>
          <p:cNvSpPr/>
          <p:nvPr/>
        </p:nvSpPr>
        <p:spPr>
          <a:xfrm>
            <a:off x="1371600" y="1965960"/>
            <a:ext cx="7315200" cy="365760"/>
          </a:xfrm>
          <a:prstGeom prst="rect">
            <a:avLst/>
          </a:prstGeom>
          <a:noFill/>
          <a:ln/>
        </p:spPr>
        <p:txBody>
          <a:bodyPr wrap="square" rtlCol="0" anchor="ctr"/>
          <a:lstStyle/>
          <a:p>
            <a:pPr indent="0" marL="0">
              <a:buNone/>
            </a:pPr>
            <a:r>
              <a:rPr lang="en-US" sz="1200" dirty="0">
                <a:solidFill>
                  <a:srgbClr val="B5B0A8"/>
                </a:solidFill>
                <a:latin typeface="Calibri" pitchFamily="34" charset="0"/>
                <a:ea typeface="Calibri" pitchFamily="34" charset="-122"/>
                <a:cs typeface="Calibri" pitchFamily="34" charset="-120"/>
              </a:rPr>
              <a:t>Nothing tracks the visitor, ever.</a:t>
            </a:r>
            <a:endParaRPr lang="en-US" sz="1200" dirty="0"/>
          </a:p>
        </p:txBody>
      </p:sp>
      <p:sp>
        <p:nvSpPr>
          <p:cNvPr id="8" name="Shape 6"/>
          <p:cNvSpPr/>
          <p:nvPr/>
        </p:nvSpPr>
        <p:spPr>
          <a:xfrm>
            <a:off x="548640" y="2423160"/>
            <a:ext cx="594360" cy="594360"/>
          </a:xfrm>
          <a:prstGeom prst="ellipse">
            <a:avLst/>
          </a:prstGeom>
          <a:solidFill>
            <a:srgbClr val="DAA520"/>
          </a:solidFill>
          <a:ln w="12700">
            <a:solidFill>
              <a:srgbClr val="DAA520"/>
            </a:solidFill>
            <a:prstDash val="solid"/>
          </a:ln>
        </p:spPr>
      </p:sp>
      <p:sp>
        <p:nvSpPr>
          <p:cNvPr id="9" name="Text 7"/>
          <p:cNvSpPr/>
          <p:nvPr/>
        </p:nvSpPr>
        <p:spPr>
          <a:xfrm>
            <a:off x="548640" y="2423160"/>
            <a:ext cx="594360" cy="594360"/>
          </a:xfrm>
          <a:prstGeom prst="rect">
            <a:avLst/>
          </a:prstGeom>
          <a:noFill/>
          <a:ln/>
        </p:spPr>
        <p:txBody>
          <a:bodyPr wrap="square" rtlCol="0" anchor="ctr"/>
          <a:lstStyle/>
          <a:p>
            <a:pPr algn="ctr" indent="0" marL="0">
              <a:buNone/>
            </a:pPr>
            <a:r>
              <a:rPr lang="en-US" sz="2000" dirty="0">
                <a:solidFill>
                  <a:srgbClr val="0E0E0E"/>
                </a:solidFill>
              </a:rPr>
              <a:t>💾</a:t>
            </a:r>
            <a:endParaRPr lang="en-US" sz="2000" dirty="0"/>
          </a:p>
        </p:txBody>
      </p:sp>
      <p:sp>
        <p:nvSpPr>
          <p:cNvPr id="10" name="Text 8"/>
          <p:cNvSpPr/>
          <p:nvPr/>
        </p:nvSpPr>
        <p:spPr>
          <a:xfrm>
            <a:off x="1371600" y="2423160"/>
            <a:ext cx="7315200" cy="320040"/>
          </a:xfrm>
          <a:prstGeom prst="rect">
            <a:avLst/>
          </a:prstGeom>
          <a:noFill/>
          <a:ln/>
        </p:spPr>
        <p:txBody>
          <a:bodyPr wrap="square" rtlCol="0" anchor="ctr"/>
          <a:lstStyle/>
          <a:p>
            <a:pPr indent="0" marL="0">
              <a:buNone/>
            </a:pPr>
            <a:r>
              <a:rPr lang="en-US" sz="1600" b="1" dirty="0">
                <a:solidFill>
                  <a:srgbClr val="FAF7EE"/>
                </a:solidFill>
                <a:latin typeface="Calibri" pitchFamily="34" charset="0"/>
                <a:ea typeface="Calibri" pitchFamily="34" charset="-122"/>
                <a:cs typeface="Calibri" pitchFamily="34" charset="-120"/>
              </a:rPr>
              <a:t>Plan saves to localStorage.</a:t>
            </a:r>
            <a:endParaRPr lang="en-US" sz="1600" dirty="0"/>
          </a:p>
        </p:txBody>
      </p:sp>
      <p:sp>
        <p:nvSpPr>
          <p:cNvPr id="11" name="Text 9"/>
          <p:cNvSpPr/>
          <p:nvPr/>
        </p:nvSpPr>
        <p:spPr>
          <a:xfrm>
            <a:off x="1371600" y="2743200"/>
            <a:ext cx="7315200" cy="365760"/>
          </a:xfrm>
          <a:prstGeom prst="rect">
            <a:avLst/>
          </a:prstGeom>
          <a:noFill/>
          <a:ln/>
        </p:spPr>
        <p:txBody>
          <a:bodyPr wrap="square" rtlCol="0" anchor="ctr"/>
          <a:lstStyle/>
          <a:p>
            <a:pPr indent="0" marL="0">
              <a:buNone/>
            </a:pPr>
            <a:r>
              <a:rPr lang="en-US" sz="1200" dirty="0">
                <a:solidFill>
                  <a:srgbClr val="B5B0A8"/>
                </a:solidFill>
                <a:latin typeface="Calibri" pitchFamily="34" charset="0"/>
                <a:ea typeface="Calibri" pitchFamily="34" charset="-122"/>
                <a:cs typeface="Calibri" pitchFamily="34" charset="-120"/>
              </a:rPr>
              <a:t>Auto-save on every keystroke. Stays on the device by default.</a:t>
            </a:r>
            <a:endParaRPr lang="en-US" sz="1200" dirty="0"/>
          </a:p>
        </p:txBody>
      </p:sp>
      <p:sp>
        <p:nvSpPr>
          <p:cNvPr id="12" name="Shape 10"/>
          <p:cNvSpPr/>
          <p:nvPr/>
        </p:nvSpPr>
        <p:spPr>
          <a:xfrm>
            <a:off x="548640" y="3200400"/>
            <a:ext cx="594360" cy="594360"/>
          </a:xfrm>
          <a:prstGeom prst="ellipse">
            <a:avLst/>
          </a:prstGeom>
          <a:solidFill>
            <a:srgbClr val="DAA520"/>
          </a:solidFill>
          <a:ln w="12700">
            <a:solidFill>
              <a:srgbClr val="DAA520"/>
            </a:solidFill>
            <a:prstDash val="solid"/>
          </a:ln>
        </p:spPr>
      </p:sp>
      <p:sp>
        <p:nvSpPr>
          <p:cNvPr id="13" name="Text 11"/>
          <p:cNvSpPr/>
          <p:nvPr/>
        </p:nvSpPr>
        <p:spPr>
          <a:xfrm>
            <a:off x="548640" y="3200400"/>
            <a:ext cx="594360" cy="594360"/>
          </a:xfrm>
          <a:prstGeom prst="rect">
            <a:avLst/>
          </a:prstGeom>
          <a:noFill/>
          <a:ln/>
        </p:spPr>
        <p:txBody>
          <a:bodyPr wrap="square" rtlCol="0" anchor="ctr"/>
          <a:lstStyle/>
          <a:p>
            <a:pPr algn="ctr" indent="0" marL="0">
              <a:buNone/>
            </a:pPr>
            <a:r>
              <a:rPr lang="en-US" sz="2000" dirty="0">
                <a:solidFill>
                  <a:srgbClr val="0E0E0E"/>
                </a:solidFill>
              </a:rPr>
              <a:t>☁️</a:t>
            </a:r>
            <a:endParaRPr lang="en-US" sz="2000" dirty="0"/>
          </a:p>
        </p:txBody>
      </p:sp>
      <p:sp>
        <p:nvSpPr>
          <p:cNvPr id="14" name="Text 12"/>
          <p:cNvSpPr/>
          <p:nvPr/>
        </p:nvSpPr>
        <p:spPr>
          <a:xfrm>
            <a:off x="1371600" y="3200400"/>
            <a:ext cx="7315200" cy="320040"/>
          </a:xfrm>
          <a:prstGeom prst="rect">
            <a:avLst/>
          </a:prstGeom>
          <a:noFill/>
          <a:ln/>
        </p:spPr>
        <p:txBody>
          <a:bodyPr wrap="square" rtlCol="0" anchor="ctr"/>
          <a:lstStyle/>
          <a:p>
            <a:pPr indent="0" marL="0">
              <a:buNone/>
            </a:pPr>
            <a:r>
              <a:rPr lang="en-US" sz="1600" b="1" dirty="0">
                <a:solidFill>
                  <a:srgbClr val="FAF7EE"/>
                </a:solidFill>
                <a:latin typeface="Calibri" pitchFamily="34" charset="0"/>
                <a:ea typeface="Calibri" pitchFamily="34" charset="-122"/>
                <a:cs typeface="Calibri" pitchFamily="34" charset="-120"/>
              </a:rPr>
              <a:t>Sign-in unlocks cloud sync.</a:t>
            </a:r>
            <a:endParaRPr lang="en-US" sz="1600" dirty="0"/>
          </a:p>
        </p:txBody>
      </p:sp>
      <p:sp>
        <p:nvSpPr>
          <p:cNvPr id="15" name="Text 13"/>
          <p:cNvSpPr/>
          <p:nvPr/>
        </p:nvSpPr>
        <p:spPr>
          <a:xfrm>
            <a:off x="1371600" y="3520440"/>
            <a:ext cx="7315200" cy="365760"/>
          </a:xfrm>
          <a:prstGeom prst="rect">
            <a:avLst/>
          </a:prstGeom>
          <a:noFill/>
          <a:ln/>
        </p:spPr>
        <p:txBody>
          <a:bodyPr wrap="square" rtlCol="0" anchor="ctr"/>
          <a:lstStyle/>
          <a:p>
            <a:pPr indent="0" marL="0">
              <a:buNone/>
            </a:pPr>
            <a:r>
              <a:rPr lang="en-US" sz="1200" dirty="0">
                <a:solidFill>
                  <a:srgbClr val="B5B0A8"/>
                </a:solidFill>
                <a:latin typeface="Calibri" pitchFamily="34" charset="0"/>
                <a:ea typeface="Calibri" pitchFamily="34" charset="-122"/>
                <a:cs typeface="Calibri" pitchFamily="34" charset="-120"/>
              </a:rPr>
              <a:t>Email + Google + Facebook OAuth via Supabase. Optional, never required.</a:t>
            </a:r>
            <a:endParaRPr lang="en-US" sz="1200" dirty="0"/>
          </a:p>
        </p:txBody>
      </p:sp>
      <p:sp>
        <p:nvSpPr>
          <p:cNvPr id="16" name="Shape 14"/>
          <p:cNvSpPr/>
          <p:nvPr/>
        </p:nvSpPr>
        <p:spPr>
          <a:xfrm>
            <a:off x="548640" y="3977640"/>
            <a:ext cx="594360" cy="594360"/>
          </a:xfrm>
          <a:prstGeom prst="ellipse">
            <a:avLst/>
          </a:prstGeom>
          <a:solidFill>
            <a:srgbClr val="DAA520"/>
          </a:solidFill>
          <a:ln w="12700">
            <a:solidFill>
              <a:srgbClr val="DAA520"/>
            </a:solidFill>
            <a:prstDash val="solid"/>
          </a:ln>
        </p:spPr>
      </p:sp>
      <p:sp>
        <p:nvSpPr>
          <p:cNvPr id="17" name="Text 15"/>
          <p:cNvSpPr/>
          <p:nvPr/>
        </p:nvSpPr>
        <p:spPr>
          <a:xfrm>
            <a:off x="548640" y="3977640"/>
            <a:ext cx="594360" cy="594360"/>
          </a:xfrm>
          <a:prstGeom prst="rect">
            <a:avLst/>
          </a:prstGeom>
          <a:noFill/>
          <a:ln/>
        </p:spPr>
        <p:txBody>
          <a:bodyPr wrap="square" rtlCol="0" anchor="ctr"/>
          <a:lstStyle/>
          <a:p>
            <a:pPr algn="ctr" indent="0" marL="0">
              <a:buNone/>
            </a:pPr>
            <a:r>
              <a:rPr lang="en-US" sz="2000" dirty="0">
                <a:solidFill>
                  <a:srgbClr val="0E0E0E"/>
                </a:solidFill>
              </a:rPr>
              <a:t>🛡</a:t>
            </a:r>
            <a:endParaRPr lang="en-US" sz="2000" dirty="0"/>
          </a:p>
        </p:txBody>
      </p:sp>
      <p:sp>
        <p:nvSpPr>
          <p:cNvPr id="18" name="Text 16"/>
          <p:cNvSpPr/>
          <p:nvPr/>
        </p:nvSpPr>
        <p:spPr>
          <a:xfrm>
            <a:off x="1371600" y="3977640"/>
            <a:ext cx="7315200" cy="320040"/>
          </a:xfrm>
          <a:prstGeom prst="rect">
            <a:avLst/>
          </a:prstGeom>
          <a:noFill/>
          <a:ln/>
        </p:spPr>
        <p:txBody>
          <a:bodyPr wrap="square" rtlCol="0" anchor="ctr"/>
          <a:lstStyle/>
          <a:p>
            <a:pPr indent="0" marL="0">
              <a:buNone/>
            </a:pPr>
            <a:r>
              <a:rPr lang="en-US" sz="1600" b="1" dirty="0">
                <a:solidFill>
                  <a:srgbClr val="FAF7EE"/>
                </a:solidFill>
                <a:latin typeface="Calibri" pitchFamily="34" charset="0"/>
                <a:ea typeface="Calibri" pitchFamily="34" charset="-122"/>
                <a:cs typeface="Calibri" pitchFamily="34" charset="-120"/>
              </a:rPr>
              <a:t>Row-Level Security on every table.</a:t>
            </a:r>
            <a:endParaRPr lang="en-US" sz="1600" dirty="0"/>
          </a:p>
        </p:txBody>
      </p:sp>
      <p:sp>
        <p:nvSpPr>
          <p:cNvPr id="19" name="Text 17"/>
          <p:cNvSpPr/>
          <p:nvPr/>
        </p:nvSpPr>
        <p:spPr>
          <a:xfrm>
            <a:off x="1371600" y="4297680"/>
            <a:ext cx="7315200" cy="365760"/>
          </a:xfrm>
          <a:prstGeom prst="rect">
            <a:avLst/>
          </a:prstGeom>
          <a:noFill/>
          <a:ln/>
        </p:spPr>
        <p:txBody>
          <a:bodyPr wrap="square" rtlCol="0" anchor="ctr"/>
          <a:lstStyle/>
          <a:p>
            <a:pPr indent="0" marL="0">
              <a:buNone/>
            </a:pPr>
            <a:r>
              <a:rPr lang="en-US" sz="1200" dirty="0">
                <a:solidFill>
                  <a:srgbClr val="B5B0A8"/>
                </a:solidFill>
                <a:latin typeface="Calibri" pitchFamily="34" charset="0"/>
                <a:ea typeface="Calibri" pitchFamily="34" charset="-122"/>
                <a:cs typeface="Calibri" pitchFamily="34" charset="-120"/>
              </a:rPr>
              <a:t>Only the row owner can read or write their own plan. Enforced at the database.</a:t>
            </a:r>
            <a:endParaRPr lang="en-US" sz="1200" dirty="0"/>
          </a:p>
        </p:txBody>
      </p:sp>
      <p:sp>
        <p:nvSpPr>
          <p:cNvPr id="20" name="Text 18"/>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B5B0A8"/>
                </a:solidFill>
                <a:latin typeface="Calibri" pitchFamily="34" charset="0"/>
                <a:ea typeface="Calibri" pitchFamily="34" charset="-122"/>
                <a:cs typeface="Calibri" pitchFamily="34" charset="-120"/>
              </a:rPr>
              <a:t>16 / 30</a:t>
            </a:r>
            <a:endParaRPr lang="en-US" sz="900" dirty="0"/>
          </a:p>
        </p:txBody>
      </p:sp>
      <p:sp>
        <p:nvSpPr>
          <p:cNvPr id="21" name="Text 19"/>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B5B0A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RESOURCES &amp; EDUCATION</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600" b="1" dirty="0">
                <a:solidFill>
                  <a:srgbClr val="1F1F1F"/>
                </a:solidFill>
                <a:latin typeface="Georgia" pitchFamily="34" charset="0"/>
                <a:ea typeface="Georgia" pitchFamily="34" charset="-122"/>
                <a:cs typeface="Georgia" pitchFamily="34" charset="-120"/>
              </a:rPr>
              <a:t>Real resources. Plain language.</a:t>
            </a:r>
            <a:endParaRPr lang="en-US" sz="2600" dirty="0"/>
          </a:p>
        </p:txBody>
      </p:sp>
      <p:sp>
        <p:nvSpPr>
          <p:cNvPr id="4" name="Shape 2"/>
          <p:cNvSpPr/>
          <p:nvPr/>
        </p:nvSpPr>
        <p:spPr>
          <a:xfrm>
            <a:off x="457200" y="1554480"/>
            <a:ext cx="4023360" cy="3108960"/>
          </a:xfrm>
          <a:prstGeom prst="roundRect">
            <a:avLst>
              <a:gd name="adj" fmla="val 2941"/>
            </a:avLst>
          </a:prstGeom>
          <a:solidFill>
            <a:srgbClr val="F8F4EA"/>
          </a:solidFill>
          <a:ln w="12700">
            <a:solidFill>
              <a:srgbClr val="E5DBC2"/>
            </a:solidFill>
            <a:prstDash val="solid"/>
          </a:ln>
        </p:spPr>
      </p:sp>
      <p:sp>
        <p:nvSpPr>
          <p:cNvPr id="5" name="Text 3"/>
          <p:cNvSpPr/>
          <p:nvPr/>
        </p:nvSpPr>
        <p:spPr>
          <a:xfrm>
            <a:off x="685800" y="1691640"/>
            <a:ext cx="3657600" cy="365760"/>
          </a:xfrm>
          <a:prstGeom prst="rect">
            <a:avLst/>
          </a:prstGeom>
          <a:noFill/>
          <a:ln/>
        </p:spPr>
        <p:txBody>
          <a:bodyPr wrap="square" rtlCol="0" anchor="ctr"/>
          <a:lstStyle/>
          <a:p>
            <a:pPr indent="0" marL="0">
              <a:buNone/>
            </a:pPr>
            <a:r>
              <a:rPr lang="en-US" sz="1700" b="1" dirty="0">
                <a:solidFill>
                  <a:srgbClr val="1F1F1F"/>
                </a:solidFill>
                <a:latin typeface="Georgia" pitchFamily="34" charset="0"/>
                <a:ea typeface="Georgia" pitchFamily="34" charset="-122"/>
                <a:cs typeface="Georgia" pitchFamily="34" charset="-120"/>
              </a:rPr>
              <a:t>Resource hub (25+)</a:t>
            </a:r>
            <a:endParaRPr lang="en-US" sz="1700" dirty="0"/>
          </a:p>
        </p:txBody>
      </p:sp>
      <p:sp>
        <p:nvSpPr>
          <p:cNvPr id="6" name="Text 4"/>
          <p:cNvSpPr/>
          <p:nvPr/>
        </p:nvSpPr>
        <p:spPr>
          <a:xfrm>
            <a:off x="685800" y="2103120"/>
            <a:ext cx="3657600" cy="2468880"/>
          </a:xfrm>
          <a:prstGeom prst="rect">
            <a:avLst/>
          </a:prstGeom>
          <a:noFill/>
          <a:ln/>
        </p:spPr>
        <p:txBody>
          <a:bodyPr wrap="square" rtlCol="0" anchor="ctr"/>
          <a:lstStyle/>
          <a:p>
            <a:pPr marL="342900" indent="-342900">
              <a:spcAft>
                <a:spcPts val="500"/>
              </a:spcAft>
              <a:buSzPct val="100000"/>
              <a:buChar char="•"/>
            </a:pPr>
            <a:r>
              <a:rPr lang="en-US" sz="1200" dirty="0">
                <a:solidFill>
                  <a:srgbClr val="4A4A42"/>
                </a:solidFill>
                <a:latin typeface="Calibri" pitchFamily="34" charset="0"/>
                <a:ea typeface="Calibri" pitchFamily="34" charset="-122"/>
                <a:cs typeface="Calibri" pitchFamily="34" charset="-120"/>
              </a:rPr>
              <a:t>Vetted reentry orgs — every card sourced + dated</a:t>
            </a:r>
            <a:endParaRPr lang="en-US" sz="1200" dirty="0"/>
          </a:p>
          <a:p>
            <a:pPr marL="342900" indent="-342900">
              <a:spcAft>
                <a:spcPts val="500"/>
              </a:spcAft>
              <a:buSzPct val="100000"/>
              <a:buChar char="•"/>
            </a:pPr>
            <a:r>
              <a:rPr lang="en-US" sz="1200" dirty="0">
                <a:solidFill>
                  <a:srgbClr val="4A4A42"/>
                </a:solidFill>
                <a:latin typeface="Calibri" pitchFamily="34" charset="0"/>
                <a:ea typeface="Calibri" pitchFamily="34" charset="-122"/>
                <a:cs typeface="Calibri" pitchFamily="34" charset="-120"/>
              </a:rPr>
              <a:t>CFPB · FDIC · SSA · DOL · 211</a:t>
            </a:r>
            <a:endParaRPr lang="en-US" sz="1200" dirty="0"/>
          </a:p>
          <a:p>
            <a:pPr marL="342900" indent="-342900">
              <a:spcAft>
                <a:spcPts val="500"/>
              </a:spcAft>
              <a:buSzPct val="100000"/>
              <a:buChar char="•"/>
            </a:pPr>
            <a:r>
              <a:rPr lang="en-US" sz="1200" dirty="0">
                <a:solidFill>
                  <a:srgbClr val="4A4A42"/>
                </a:solidFill>
                <a:latin typeface="Calibri" pitchFamily="34" charset="0"/>
                <a:ea typeface="Calibri" pitchFamily="34" charset="-122"/>
                <a:cs typeface="Calibri" pitchFamily="34" charset="-120"/>
              </a:rPr>
              <a:t>NRRC · Root &amp; Rebound · CSU Project Rebound</a:t>
            </a:r>
            <a:endParaRPr lang="en-US" sz="1200" dirty="0"/>
          </a:p>
          <a:p>
            <a:pPr marL="342900" indent="-342900">
              <a:spcAft>
                <a:spcPts val="500"/>
              </a:spcAft>
              <a:buSzPct val="100000"/>
              <a:buChar char="•"/>
            </a:pPr>
            <a:r>
              <a:rPr lang="en-US" sz="1200" dirty="0">
                <a:solidFill>
                  <a:srgbClr val="4A4A42"/>
                </a:solidFill>
                <a:latin typeface="Calibri" pitchFamily="34" charset="0"/>
                <a:ea typeface="Calibri" pitchFamily="34" charset="-122"/>
                <a:cs typeface="Calibri" pitchFamily="34" charset="-120"/>
              </a:rPr>
              <a:t>Filterable by category: jobs, ID, money, health, family, housing</a:t>
            </a:r>
            <a:endParaRPr lang="en-US" sz="1200" dirty="0"/>
          </a:p>
        </p:txBody>
      </p:sp>
      <p:sp>
        <p:nvSpPr>
          <p:cNvPr id="7" name="Shape 5"/>
          <p:cNvSpPr/>
          <p:nvPr/>
        </p:nvSpPr>
        <p:spPr>
          <a:xfrm>
            <a:off x="4663440" y="1554480"/>
            <a:ext cx="4023360" cy="3108960"/>
          </a:xfrm>
          <a:prstGeom prst="roundRect">
            <a:avLst>
              <a:gd name="adj" fmla="val 2941"/>
            </a:avLst>
          </a:prstGeom>
          <a:solidFill>
            <a:srgbClr val="F8F4EA"/>
          </a:solidFill>
          <a:ln w="12700">
            <a:solidFill>
              <a:srgbClr val="E5DBC2"/>
            </a:solidFill>
            <a:prstDash val="solid"/>
          </a:ln>
        </p:spPr>
      </p:sp>
      <p:sp>
        <p:nvSpPr>
          <p:cNvPr id="8" name="Text 6"/>
          <p:cNvSpPr/>
          <p:nvPr/>
        </p:nvSpPr>
        <p:spPr>
          <a:xfrm>
            <a:off x="4892040" y="1691640"/>
            <a:ext cx="3657600" cy="365760"/>
          </a:xfrm>
          <a:prstGeom prst="rect">
            <a:avLst/>
          </a:prstGeom>
          <a:noFill/>
          <a:ln/>
        </p:spPr>
        <p:txBody>
          <a:bodyPr wrap="square" rtlCol="0" anchor="ctr"/>
          <a:lstStyle/>
          <a:p>
            <a:pPr indent="0" marL="0">
              <a:buNone/>
            </a:pPr>
            <a:r>
              <a:rPr lang="en-US" sz="1700" b="1" dirty="0">
                <a:solidFill>
                  <a:srgbClr val="1F1F1F"/>
                </a:solidFill>
                <a:latin typeface="Georgia" pitchFamily="34" charset="0"/>
                <a:ea typeface="Georgia" pitchFamily="34" charset="-122"/>
                <a:cs typeface="Georgia" pitchFamily="34" charset="-120"/>
              </a:rPr>
              <a:t>Learn / Hub / Watch / Radio</a:t>
            </a:r>
            <a:endParaRPr lang="en-US" sz="1700" dirty="0"/>
          </a:p>
        </p:txBody>
      </p:sp>
      <p:sp>
        <p:nvSpPr>
          <p:cNvPr id="9" name="Text 7"/>
          <p:cNvSpPr/>
          <p:nvPr/>
        </p:nvSpPr>
        <p:spPr>
          <a:xfrm>
            <a:off x="4892040" y="2103120"/>
            <a:ext cx="3657600" cy="2468880"/>
          </a:xfrm>
          <a:prstGeom prst="rect">
            <a:avLst/>
          </a:prstGeom>
          <a:noFill/>
          <a:ln/>
        </p:spPr>
        <p:txBody>
          <a:bodyPr wrap="square" rtlCol="0" anchor="ctr"/>
          <a:lstStyle/>
          <a:p>
            <a:pPr marL="342900" indent="-342900">
              <a:spcAft>
                <a:spcPts val="500"/>
              </a:spcAft>
              <a:buSzPct val="100000"/>
              <a:buChar char="•"/>
            </a:pPr>
            <a:r>
              <a:rPr lang="en-US" sz="1200" dirty="0">
                <a:solidFill>
                  <a:srgbClr val="4A4A42"/>
                </a:solidFill>
                <a:latin typeface="Calibri" pitchFamily="34" charset="0"/>
                <a:ea typeface="Calibri" pitchFamily="34" charset="-122"/>
                <a:cs typeface="Calibri" pitchFamily="34" charset="-120"/>
              </a:rPr>
              <a:t>Banking · Credit · Savings · Money apps</a:t>
            </a:r>
            <a:endParaRPr lang="en-US" sz="1200" dirty="0"/>
          </a:p>
          <a:p>
            <a:pPr marL="342900" indent="-342900">
              <a:spcAft>
                <a:spcPts val="500"/>
              </a:spcAft>
              <a:buSzPct val="100000"/>
              <a:buChar char="•"/>
            </a:pPr>
            <a:r>
              <a:rPr lang="en-US" sz="1200" dirty="0">
                <a:solidFill>
                  <a:srgbClr val="4A4A42"/>
                </a:solidFill>
                <a:latin typeface="Calibri" pitchFamily="34" charset="0"/>
                <a:ea typeface="Calibri" pitchFamily="34" charset="-122"/>
                <a:cs typeface="Calibri" pitchFamily="34" charset="-120"/>
              </a:rPr>
              <a:t>Crypto basics · Scam avoidance</a:t>
            </a:r>
            <a:endParaRPr lang="en-US" sz="1200" dirty="0"/>
          </a:p>
          <a:p>
            <a:pPr marL="342900" indent="-342900">
              <a:spcAft>
                <a:spcPts val="500"/>
              </a:spcAft>
              <a:buSzPct val="100000"/>
              <a:buChar char="•"/>
            </a:pPr>
            <a:r>
              <a:rPr lang="en-US" sz="1200" dirty="0">
                <a:solidFill>
                  <a:srgbClr val="4A4A42"/>
                </a:solidFill>
                <a:latin typeface="Calibri" pitchFamily="34" charset="0"/>
                <a:ea typeface="Calibri" pitchFamily="34" charset="-122"/>
                <a:cs typeface="Calibri" pitchFamily="34" charset="-120"/>
              </a:rPr>
              <a:t>AI literacy (ChatGPT, Claude)</a:t>
            </a:r>
            <a:endParaRPr lang="en-US" sz="1200" dirty="0"/>
          </a:p>
          <a:p>
            <a:pPr marL="342900" indent="-342900">
              <a:spcAft>
                <a:spcPts val="500"/>
              </a:spcAft>
              <a:buSzPct val="100000"/>
              <a:buChar char="•"/>
            </a:pPr>
            <a:r>
              <a:rPr lang="en-US" sz="1200" dirty="0">
                <a:solidFill>
                  <a:srgbClr val="4A4A42"/>
                </a:solidFill>
                <a:latin typeface="Calibri" pitchFamily="34" charset="0"/>
                <a:ea typeface="Calibri" pitchFamily="34" charset="-122"/>
                <a:cs typeface="Calibri" pitchFamily="34" charset="-120"/>
              </a:rPr>
              <a:t>Modern tech jobs · TLM Radio + featured YouTube</a:t>
            </a:r>
            <a:endParaRPr lang="en-US" sz="1200" dirty="0"/>
          </a:p>
        </p:txBody>
      </p:sp>
      <p:sp>
        <p:nvSpPr>
          <p:cNvPr id="10" name="Text 8"/>
          <p:cNvSpPr/>
          <p:nvPr/>
        </p:nvSpPr>
        <p:spPr>
          <a:xfrm>
            <a:off x="457200" y="4754880"/>
            <a:ext cx="8229600" cy="274320"/>
          </a:xfrm>
          <a:prstGeom prst="rect">
            <a:avLst/>
          </a:prstGeom>
          <a:noFill/>
          <a:ln/>
        </p:spPr>
        <p:txBody>
          <a:bodyPr wrap="square" rtlCol="0" anchor="ctr"/>
          <a:lstStyle/>
          <a:p>
            <a:pPr algn="ctr" indent="0" marL="0">
              <a:buNone/>
            </a:pPr>
            <a:r>
              <a:rPr lang="en-US" sz="1100" i="1" dirty="0">
                <a:solidFill>
                  <a:srgbClr val="8C6810"/>
                </a:solidFill>
                <a:latin typeface="Calibri" pitchFamily="34" charset="0"/>
                <a:ea typeface="Calibri" pitchFamily="34" charset="-122"/>
                <a:cs typeface="Calibri" pitchFamily="34" charset="-120"/>
              </a:rPr>
              <a:t>Every URL has a lastChecked date in SOURCE_MAP.json — quarterly link audit on the punch list.</a:t>
            </a:r>
            <a:endParaRPr lang="en-US" sz="1100" dirty="0"/>
          </a:p>
        </p:txBody>
      </p:sp>
      <p:sp>
        <p:nvSpPr>
          <p:cNvPr id="11" name="Text 9"/>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17 / 30</a:t>
            </a:r>
            <a:endParaRPr lang="en-US" sz="900" dirty="0"/>
          </a:p>
        </p:txBody>
      </p:sp>
      <p:sp>
        <p:nvSpPr>
          <p:cNvPr id="12" name="Text 10"/>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AI HELPER</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200" b="1" dirty="0">
                <a:solidFill>
                  <a:srgbClr val="1F1F1F"/>
                </a:solidFill>
                <a:latin typeface="Georgia" pitchFamily="34" charset="0"/>
                <a:ea typeface="Georgia" pitchFamily="34" charset="-122"/>
                <a:cs typeface="Georgia" pitchFamily="34" charset="-120"/>
              </a:rPr>
              <a:t>13 free models. Five fallback tiers. Zero keys in the page.</a:t>
            </a:r>
            <a:endParaRPr lang="en-US" sz="2200" dirty="0"/>
          </a:p>
        </p:txBody>
      </p:sp>
      <p:sp>
        <p:nvSpPr>
          <p:cNvPr id="4" name="Text 2"/>
          <p:cNvSpPr/>
          <p:nvPr/>
        </p:nvSpPr>
        <p:spPr>
          <a:xfrm>
            <a:off x="457200" y="1554480"/>
            <a:ext cx="3657600" cy="274320"/>
          </a:xfrm>
          <a:prstGeom prst="rect">
            <a:avLst/>
          </a:prstGeom>
          <a:noFill/>
          <a:ln/>
        </p:spPr>
        <p:txBody>
          <a:bodyPr wrap="square" rtlCol="0" anchor="ctr"/>
          <a:lstStyle/>
          <a:p>
            <a:pPr indent="0" marL="0">
              <a:buNone/>
            </a:pPr>
            <a:r>
              <a:rPr lang="en-US" sz="1200" b="1" dirty="0">
                <a:solidFill>
                  <a:srgbClr val="8C6810"/>
                </a:solidFill>
                <a:latin typeface="Calibri" pitchFamily="34" charset="0"/>
                <a:ea typeface="Calibri" pitchFamily="34" charset="-122"/>
                <a:cs typeface="Calibri" pitchFamily="34" charset="-120"/>
              </a:rPr>
              <a:t>Rotated server-side</a:t>
            </a:r>
            <a:endParaRPr lang="en-US" sz="1200" dirty="0"/>
          </a:p>
        </p:txBody>
      </p:sp>
      <p:sp>
        <p:nvSpPr>
          <p:cNvPr id="5" name="Text 3"/>
          <p:cNvSpPr/>
          <p:nvPr/>
        </p:nvSpPr>
        <p:spPr>
          <a:xfrm>
            <a:off x="457200" y="1874520"/>
            <a:ext cx="3657600" cy="2743200"/>
          </a:xfrm>
          <a:prstGeom prst="rect">
            <a:avLst/>
          </a:prstGeom>
          <a:noFill/>
          <a:ln/>
        </p:spPr>
        <p:txBody>
          <a:bodyPr wrap="square" rtlCol="0" anchor="ctr"/>
          <a:lstStyle/>
          <a:p>
            <a:pPr marL="342900" indent="-342900">
              <a:spcAft>
                <a:spcPts val="200"/>
              </a:spcAft>
              <a:buSzPct val="100000"/>
              <a:buChar char="•"/>
            </a:pPr>
            <a:r>
              <a:rPr lang="en-US" sz="1100" dirty="0">
                <a:solidFill>
                  <a:srgbClr val="4A4A42"/>
                </a:solidFill>
                <a:latin typeface="Calibri" pitchFamily="34" charset="0"/>
                <a:ea typeface="Calibri" pitchFamily="34" charset="-122"/>
                <a:cs typeface="Calibri" pitchFamily="34" charset="-120"/>
              </a:rPr>
              <a:t>Llama-3.3-70B</a:t>
            </a:r>
            <a:endParaRPr lang="en-US" sz="1100" dirty="0"/>
          </a:p>
          <a:p>
            <a:pPr marL="342900" indent="-342900">
              <a:spcAft>
                <a:spcPts val="200"/>
              </a:spcAft>
              <a:buSzPct val="100000"/>
              <a:buChar char="•"/>
            </a:pPr>
            <a:r>
              <a:rPr lang="en-US" sz="1100" dirty="0">
                <a:solidFill>
                  <a:srgbClr val="4A4A42"/>
                </a:solidFill>
                <a:latin typeface="Calibri" pitchFamily="34" charset="0"/>
                <a:ea typeface="Calibri" pitchFamily="34" charset="-122"/>
                <a:cs typeface="Calibri" pitchFamily="34" charset="-120"/>
              </a:rPr>
              <a:t>DeepSeek-V3</a:t>
            </a:r>
            <a:endParaRPr lang="en-US" sz="1100" dirty="0"/>
          </a:p>
          <a:p>
            <a:pPr marL="342900" indent="-342900">
              <a:spcAft>
                <a:spcPts val="200"/>
              </a:spcAft>
              <a:buSzPct val="100000"/>
              <a:buChar char="•"/>
            </a:pPr>
            <a:r>
              <a:rPr lang="en-US" sz="1100" dirty="0">
                <a:solidFill>
                  <a:srgbClr val="4A4A42"/>
                </a:solidFill>
                <a:latin typeface="Calibri" pitchFamily="34" charset="0"/>
                <a:ea typeface="Calibri" pitchFamily="34" charset="-122"/>
                <a:cs typeface="Calibri" pitchFamily="34" charset="-120"/>
              </a:rPr>
              <a:t>DeepSeek-R1</a:t>
            </a:r>
            <a:endParaRPr lang="en-US" sz="1100" dirty="0"/>
          </a:p>
          <a:p>
            <a:pPr marL="342900" indent="-342900">
              <a:spcAft>
                <a:spcPts val="200"/>
              </a:spcAft>
              <a:buSzPct val="100000"/>
              <a:buChar char="•"/>
            </a:pPr>
            <a:r>
              <a:rPr lang="en-US" sz="1100" dirty="0">
                <a:solidFill>
                  <a:srgbClr val="4A4A42"/>
                </a:solidFill>
                <a:latin typeface="Calibri" pitchFamily="34" charset="0"/>
                <a:ea typeface="Calibri" pitchFamily="34" charset="-122"/>
                <a:cs typeface="Calibri" pitchFamily="34" charset="-120"/>
              </a:rPr>
              <a:t>Qwen-2.5-72B</a:t>
            </a:r>
            <a:endParaRPr lang="en-US" sz="1100" dirty="0"/>
          </a:p>
          <a:p>
            <a:pPr marL="342900" indent="-342900">
              <a:spcAft>
                <a:spcPts val="200"/>
              </a:spcAft>
              <a:buSzPct val="100000"/>
              <a:buChar char="•"/>
            </a:pPr>
            <a:r>
              <a:rPr lang="en-US" sz="1100" dirty="0">
                <a:solidFill>
                  <a:srgbClr val="4A4A42"/>
                </a:solidFill>
                <a:latin typeface="Calibri" pitchFamily="34" charset="0"/>
                <a:ea typeface="Calibri" pitchFamily="34" charset="-122"/>
                <a:cs typeface="Calibri" pitchFamily="34" charset="-120"/>
              </a:rPr>
              <a:t>Qwen-QwQ-32B</a:t>
            </a:r>
            <a:endParaRPr lang="en-US" sz="1100" dirty="0"/>
          </a:p>
          <a:p>
            <a:pPr marL="342900" indent="-342900">
              <a:spcAft>
                <a:spcPts val="200"/>
              </a:spcAft>
              <a:buSzPct val="100000"/>
              <a:buChar char="•"/>
            </a:pPr>
            <a:r>
              <a:rPr lang="en-US" sz="1100" dirty="0">
                <a:solidFill>
                  <a:srgbClr val="4A4A42"/>
                </a:solidFill>
                <a:latin typeface="Calibri" pitchFamily="34" charset="0"/>
                <a:ea typeface="Calibri" pitchFamily="34" charset="-122"/>
                <a:cs typeface="Calibri" pitchFamily="34" charset="-120"/>
              </a:rPr>
              <a:t>Gemini 2.0 Flash</a:t>
            </a:r>
            <a:endParaRPr lang="en-US" sz="1100" dirty="0"/>
          </a:p>
          <a:p>
            <a:pPr marL="342900" indent="-342900">
              <a:spcAft>
                <a:spcPts val="200"/>
              </a:spcAft>
              <a:buSzPct val="100000"/>
              <a:buChar char="•"/>
            </a:pPr>
            <a:r>
              <a:rPr lang="en-US" sz="1100" dirty="0">
                <a:solidFill>
                  <a:srgbClr val="4A4A42"/>
                </a:solidFill>
                <a:latin typeface="Calibri" pitchFamily="34" charset="0"/>
                <a:ea typeface="Calibri" pitchFamily="34" charset="-122"/>
                <a:cs typeface="Calibri" pitchFamily="34" charset="-120"/>
              </a:rPr>
              <a:t>Hermes-3-405B</a:t>
            </a:r>
            <a:endParaRPr lang="en-US" sz="1100" dirty="0"/>
          </a:p>
          <a:p>
            <a:pPr marL="342900" indent="-342900">
              <a:spcAft>
                <a:spcPts val="200"/>
              </a:spcAft>
              <a:buSzPct val="100000"/>
              <a:buChar char="•"/>
            </a:pPr>
            <a:r>
              <a:rPr lang="en-US" sz="1100" dirty="0">
                <a:solidFill>
                  <a:srgbClr val="4A4A42"/>
                </a:solidFill>
                <a:latin typeface="Calibri" pitchFamily="34" charset="0"/>
                <a:ea typeface="Calibri" pitchFamily="34" charset="-122"/>
                <a:cs typeface="Calibri" pitchFamily="34" charset="-120"/>
              </a:rPr>
              <a:t>Nemotron-70B</a:t>
            </a:r>
            <a:endParaRPr lang="en-US" sz="1100" dirty="0"/>
          </a:p>
          <a:p>
            <a:pPr marL="342900" indent="-342900">
              <a:spcAft>
                <a:spcPts val="200"/>
              </a:spcAft>
              <a:buSzPct val="100000"/>
              <a:buChar char="•"/>
            </a:pPr>
            <a:r>
              <a:rPr lang="en-US" sz="1100" dirty="0">
                <a:solidFill>
                  <a:srgbClr val="4A4A42"/>
                </a:solidFill>
                <a:latin typeface="Calibri" pitchFamily="34" charset="0"/>
                <a:ea typeface="Calibri" pitchFamily="34" charset="-122"/>
                <a:cs typeface="Calibri" pitchFamily="34" charset="-120"/>
              </a:rPr>
              <a:t>Gemma-2-9B</a:t>
            </a:r>
            <a:endParaRPr lang="en-US" sz="1100" dirty="0"/>
          </a:p>
          <a:p>
            <a:pPr marL="342900" indent="-342900">
              <a:spcAft>
                <a:spcPts val="200"/>
              </a:spcAft>
              <a:buSzPct val="100000"/>
              <a:buChar char="•"/>
            </a:pPr>
            <a:r>
              <a:rPr lang="en-US" sz="1100" dirty="0">
                <a:solidFill>
                  <a:srgbClr val="4A4A42"/>
                </a:solidFill>
                <a:latin typeface="Calibri" pitchFamily="34" charset="0"/>
                <a:ea typeface="Calibri" pitchFamily="34" charset="-122"/>
                <a:cs typeface="Calibri" pitchFamily="34" charset="-120"/>
              </a:rPr>
              <a:t>Phi-3</a:t>
            </a:r>
            <a:endParaRPr lang="en-US" sz="1100" dirty="0"/>
          </a:p>
          <a:p>
            <a:pPr marL="342900" indent="-342900">
              <a:spcAft>
                <a:spcPts val="200"/>
              </a:spcAft>
              <a:buSzPct val="100000"/>
              <a:buChar char="•"/>
            </a:pPr>
            <a:r>
              <a:rPr lang="en-US" sz="1100" dirty="0">
                <a:solidFill>
                  <a:srgbClr val="4A4A42"/>
                </a:solidFill>
                <a:latin typeface="Calibri" pitchFamily="34" charset="0"/>
                <a:ea typeface="Calibri" pitchFamily="34" charset="-122"/>
                <a:cs typeface="Calibri" pitchFamily="34" charset="-120"/>
              </a:rPr>
              <a:t>Llama-3.2-3B</a:t>
            </a:r>
            <a:endParaRPr lang="en-US" sz="1100" dirty="0"/>
          </a:p>
          <a:p>
            <a:pPr marL="342900" indent="-342900">
              <a:spcAft>
                <a:spcPts val="200"/>
              </a:spcAft>
              <a:buSzPct val="100000"/>
              <a:buChar char="•"/>
            </a:pPr>
            <a:r>
              <a:rPr lang="en-US" sz="1100" dirty="0">
                <a:solidFill>
                  <a:srgbClr val="4A4A42"/>
                </a:solidFill>
                <a:latin typeface="Calibri" pitchFamily="34" charset="0"/>
                <a:ea typeface="Calibri" pitchFamily="34" charset="-122"/>
                <a:cs typeface="Calibri" pitchFamily="34" charset="-120"/>
              </a:rPr>
              <a:t>Mistral-7B</a:t>
            </a:r>
            <a:endParaRPr lang="en-US" sz="1100" dirty="0"/>
          </a:p>
          <a:p>
            <a:pPr marL="342900" indent="-342900">
              <a:spcAft>
                <a:spcPts val="200"/>
              </a:spcAft>
              <a:buSzPct val="100000"/>
              <a:buChar char="•"/>
            </a:pPr>
            <a:r>
              <a:rPr lang="en-US" sz="1100" dirty="0">
                <a:solidFill>
                  <a:srgbClr val="4A4A42"/>
                </a:solidFill>
                <a:latin typeface="Calibri" pitchFamily="34" charset="0"/>
                <a:ea typeface="Calibri" pitchFamily="34" charset="-122"/>
                <a:cs typeface="Calibri" pitchFamily="34" charset="-120"/>
              </a:rPr>
              <a:t>OpenChat</a:t>
            </a:r>
            <a:endParaRPr lang="en-US" sz="1100" dirty="0"/>
          </a:p>
        </p:txBody>
      </p:sp>
      <p:sp>
        <p:nvSpPr>
          <p:cNvPr id="6" name="Text 4"/>
          <p:cNvSpPr/>
          <p:nvPr/>
        </p:nvSpPr>
        <p:spPr>
          <a:xfrm>
            <a:off x="4572000" y="1554480"/>
            <a:ext cx="4114800" cy="274320"/>
          </a:xfrm>
          <a:prstGeom prst="rect">
            <a:avLst/>
          </a:prstGeom>
          <a:noFill/>
          <a:ln/>
        </p:spPr>
        <p:txBody>
          <a:bodyPr wrap="square" rtlCol="0" anchor="ctr"/>
          <a:lstStyle/>
          <a:p>
            <a:pPr indent="0" marL="0">
              <a:buNone/>
            </a:pPr>
            <a:r>
              <a:rPr lang="en-US" sz="1200" b="1" dirty="0">
                <a:solidFill>
                  <a:srgbClr val="8C6810"/>
                </a:solidFill>
                <a:latin typeface="Calibri" pitchFamily="34" charset="0"/>
                <a:ea typeface="Calibri" pitchFamily="34" charset="-122"/>
                <a:cs typeface="Calibri" pitchFamily="34" charset="-120"/>
              </a:rPr>
              <a:t>Topic guards — built in</a:t>
            </a:r>
            <a:endParaRPr lang="en-US" sz="1200" dirty="0"/>
          </a:p>
        </p:txBody>
      </p:sp>
      <p:sp>
        <p:nvSpPr>
          <p:cNvPr id="7" name="Text 5"/>
          <p:cNvSpPr/>
          <p:nvPr/>
        </p:nvSpPr>
        <p:spPr>
          <a:xfrm>
            <a:off x="4572000" y="1874520"/>
            <a:ext cx="4114800" cy="2743200"/>
          </a:xfrm>
          <a:prstGeom prst="rect">
            <a:avLst/>
          </a:prstGeom>
          <a:noFill/>
          <a:ln/>
        </p:spPr>
        <p:txBody>
          <a:bodyPr wrap="square" rtlCol="0" anchor="ctr"/>
          <a:lstStyle/>
          <a:p>
            <a:pPr marL="342900" indent="-342900">
              <a:spcAft>
                <a:spcPts val="600"/>
              </a:spcAft>
              <a:buSzPct val="100000"/>
              <a:buChar char="•"/>
            </a:pPr>
            <a:r>
              <a:rPr lang="en-US" sz="1200" dirty="0">
                <a:solidFill>
                  <a:srgbClr val="4A4A42"/>
                </a:solidFill>
                <a:latin typeface="Calibri" pitchFamily="34" charset="0"/>
                <a:ea typeface="Calibri" pitchFamily="34" charset="-122"/>
                <a:cs typeface="Calibri" pitchFamily="34" charset="-120"/>
              </a:rPr>
              <a:t>Stays on: site help, money planning, banking, credit, crypto, AI, careers, study skills.</a:t>
            </a:r>
            <a:endParaRPr lang="en-US" sz="1200" dirty="0"/>
          </a:p>
          <a:p>
            <a:pPr marL="342900" indent="-342900">
              <a:spcAft>
                <a:spcPts val="600"/>
              </a:spcAft>
              <a:buSzPct val="100000"/>
              <a:buChar char="•"/>
            </a:pPr>
            <a:r>
              <a:rPr lang="en-US" sz="1200" dirty="0">
                <a:solidFill>
                  <a:srgbClr val="4A4A42"/>
                </a:solidFill>
                <a:latin typeface="Calibri" pitchFamily="34" charset="0"/>
                <a:ea typeface="Calibri" pitchFamily="34" charset="-122"/>
                <a:cs typeface="Calibri" pitchFamily="34" charset="-120"/>
              </a:rPr>
              <a:t>Declines: parole, probation, expungement, sentencing, immigration, custody, voting/firearm rights.</a:t>
            </a:r>
            <a:endParaRPr lang="en-US" sz="1200" dirty="0"/>
          </a:p>
          <a:p>
            <a:pPr marL="342900" indent="-342900">
              <a:spcAft>
                <a:spcPts val="600"/>
              </a:spcAft>
              <a:buSzPct val="100000"/>
              <a:buChar char="•"/>
            </a:pPr>
            <a:r>
              <a:rPr lang="en-US" sz="1200" dirty="0">
                <a:solidFill>
                  <a:srgbClr val="4A4A42"/>
                </a:solidFill>
                <a:latin typeface="Calibri" pitchFamily="34" charset="0"/>
                <a:ea typeface="Calibri" pitchFamily="34" charset="-122"/>
                <a:cs typeface="Calibri" pitchFamily="34" charset="-120"/>
              </a:rPr>
              <a:t>Redirects to: NRRC · Root &amp; Rebound · 211 · 988 (crisis).</a:t>
            </a:r>
            <a:endParaRPr lang="en-US" sz="1200" dirty="0"/>
          </a:p>
          <a:p>
            <a:pPr marL="342900" indent="-342900">
              <a:spcAft>
                <a:spcPts val="600"/>
              </a:spcAft>
              <a:buSzPct val="100000"/>
              <a:buChar char="•"/>
            </a:pPr>
            <a:r>
              <a:rPr lang="en-US" sz="1200" dirty="0">
                <a:solidFill>
                  <a:srgbClr val="4A4A42"/>
                </a:solidFill>
                <a:latin typeface="Calibri" pitchFamily="34" charset="0"/>
                <a:ea typeface="Calibri" pitchFamily="34" charset="-122"/>
                <a:cs typeface="Calibri" pitchFamily="34" charset="-120"/>
              </a:rPr>
              <a:t>No login. No tracking. Chat history in memory only — never persisted.</a:t>
            </a:r>
            <a:endParaRPr lang="en-US" sz="1200" dirty="0"/>
          </a:p>
        </p:txBody>
      </p:sp>
      <p:sp>
        <p:nvSpPr>
          <p:cNvPr id="8" name="Text 6"/>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18 / 30</a:t>
            </a:r>
            <a:endParaRPr lang="en-US" sz="900" dirty="0"/>
          </a:p>
        </p:txBody>
      </p:sp>
      <p:sp>
        <p:nvSpPr>
          <p:cNvPr id="9" name="Text 7"/>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DAA520"/>
                </a:solidFill>
                <a:latin typeface="Calibri" pitchFamily="34" charset="0"/>
                <a:ea typeface="Calibri" pitchFamily="34" charset="-122"/>
                <a:cs typeface="Calibri" pitchFamily="34" charset="-120"/>
              </a:rPr>
              <a:t>ADMIN PANEL</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400" b="1" dirty="0">
                <a:solidFill>
                  <a:srgbClr val="FAF7EE"/>
                </a:solidFill>
                <a:latin typeface="Georgia" pitchFamily="34" charset="0"/>
                <a:ea typeface="Georgia" pitchFamily="34" charset="-122"/>
                <a:cs typeface="Georgia" pitchFamily="34" charset="-120"/>
              </a:rPr>
              <a:t>Hidden, password-gated, lockout-protected.</a:t>
            </a:r>
            <a:endParaRPr lang="en-US" sz="2400" dirty="0"/>
          </a:p>
        </p:txBody>
      </p:sp>
      <p:sp>
        <p:nvSpPr>
          <p:cNvPr id="4" name="Shape 2"/>
          <p:cNvSpPr/>
          <p:nvPr/>
        </p:nvSpPr>
        <p:spPr>
          <a:xfrm>
            <a:off x="457200" y="1554480"/>
            <a:ext cx="2697480" cy="1920240"/>
          </a:xfrm>
          <a:prstGeom prst="roundRect">
            <a:avLst>
              <a:gd name="adj" fmla="val 4762"/>
            </a:avLst>
          </a:prstGeom>
          <a:solidFill>
            <a:srgbClr val="1A1A1A"/>
          </a:solidFill>
          <a:ln w="12700">
            <a:solidFill>
              <a:srgbClr val="DAA520"/>
            </a:solidFill>
            <a:prstDash val="solid"/>
          </a:ln>
        </p:spPr>
      </p:sp>
      <p:sp>
        <p:nvSpPr>
          <p:cNvPr id="5" name="Text 3"/>
          <p:cNvSpPr/>
          <p:nvPr/>
        </p:nvSpPr>
        <p:spPr>
          <a:xfrm>
            <a:off x="457200" y="1691640"/>
            <a:ext cx="2697480" cy="640080"/>
          </a:xfrm>
          <a:prstGeom prst="rect">
            <a:avLst/>
          </a:prstGeom>
          <a:noFill/>
          <a:ln/>
        </p:spPr>
        <p:txBody>
          <a:bodyPr wrap="square" rtlCol="0" anchor="ctr"/>
          <a:lstStyle/>
          <a:p>
            <a:pPr algn="ctr" indent="0" marL="0">
              <a:buNone/>
            </a:pPr>
            <a:r>
              <a:rPr lang="en-US" sz="3000" dirty="0">
                <a:solidFill>
                  <a:srgbClr val="DAA520"/>
                </a:solidFill>
              </a:rPr>
              <a:t>👆×7</a:t>
            </a:r>
            <a:endParaRPr lang="en-US" sz="3000" dirty="0"/>
          </a:p>
        </p:txBody>
      </p:sp>
      <p:sp>
        <p:nvSpPr>
          <p:cNvPr id="6" name="Text 4"/>
          <p:cNvSpPr/>
          <p:nvPr/>
        </p:nvSpPr>
        <p:spPr>
          <a:xfrm>
            <a:off x="457200" y="2377440"/>
            <a:ext cx="2697480" cy="365760"/>
          </a:xfrm>
          <a:prstGeom prst="rect">
            <a:avLst/>
          </a:prstGeom>
          <a:noFill/>
          <a:ln/>
        </p:spPr>
        <p:txBody>
          <a:bodyPr wrap="square" rtlCol="0" anchor="ctr"/>
          <a:lstStyle/>
          <a:p>
            <a:pPr algn="ctr" indent="0" marL="0">
              <a:buNone/>
            </a:pPr>
            <a:r>
              <a:rPr lang="en-US" sz="1400" b="1" dirty="0">
                <a:solidFill>
                  <a:srgbClr val="FAF7EE"/>
                </a:solidFill>
                <a:latin typeface="Calibri" pitchFamily="34" charset="0"/>
                <a:ea typeface="Calibri" pitchFamily="34" charset="-122"/>
                <a:cs typeface="Calibri" pitchFamily="34" charset="-120"/>
              </a:rPr>
              <a:t>Click the logo 7×</a:t>
            </a:r>
            <a:endParaRPr lang="en-US" sz="1400" dirty="0"/>
          </a:p>
        </p:txBody>
      </p:sp>
      <p:sp>
        <p:nvSpPr>
          <p:cNvPr id="7" name="Text 5"/>
          <p:cNvSpPr/>
          <p:nvPr/>
        </p:nvSpPr>
        <p:spPr>
          <a:xfrm>
            <a:off x="457200" y="2743200"/>
            <a:ext cx="2697480" cy="365760"/>
          </a:xfrm>
          <a:prstGeom prst="rect">
            <a:avLst/>
          </a:prstGeom>
          <a:noFill/>
          <a:ln/>
        </p:spPr>
        <p:txBody>
          <a:bodyPr wrap="square" rtlCol="0" anchor="ctr"/>
          <a:lstStyle/>
          <a:p>
            <a:pPr algn="ctr" indent="0" marL="0">
              <a:buNone/>
            </a:pPr>
            <a:r>
              <a:rPr lang="en-US" sz="1100" dirty="0">
                <a:solidFill>
                  <a:srgbClr val="B5B0A8"/>
                </a:solidFill>
                <a:latin typeface="Calibri" pitchFamily="34" charset="0"/>
                <a:ea typeface="Calibri" pitchFamily="34" charset="-122"/>
                <a:cs typeface="Calibri" pitchFamily="34" charset="-120"/>
              </a:rPr>
              <a:t>within 3 seconds</a:t>
            </a:r>
            <a:endParaRPr lang="en-US" sz="1100" dirty="0"/>
          </a:p>
        </p:txBody>
      </p:sp>
      <p:sp>
        <p:nvSpPr>
          <p:cNvPr id="8" name="Shape 6"/>
          <p:cNvSpPr/>
          <p:nvPr/>
        </p:nvSpPr>
        <p:spPr>
          <a:xfrm>
            <a:off x="3246120" y="1554480"/>
            <a:ext cx="2697480" cy="1920240"/>
          </a:xfrm>
          <a:prstGeom prst="roundRect">
            <a:avLst>
              <a:gd name="adj" fmla="val 4762"/>
            </a:avLst>
          </a:prstGeom>
          <a:solidFill>
            <a:srgbClr val="1A1A1A"/>
          </a:solidFill>
          <a:ln w="12700">
            <a:solidFill>
              <a:srgbClr val="DAA520"/>
            </a:solidFill>
            <a:prstDash val="solid"/>
          </a:ln>
        </p:spPr>
      </p:sp>
      <p:sp>
        <p:nvSpPr>
          <p:cNvPr id="9" name="Text 7"/>
          <p:cNvSpPr/>
          <p:nvPr/>
        </p:nvSpPr>
        <p:spPr>
          <a:xfrm>
            <a:off x="3246120" y="1691640"/>
            <a:ext cx="2697480" cy="640080"/>
          </a:xfrm>
          <a:prstGeom prst="rect">
            <a:avLst/>
          </a:prstGeom>
          <a:noFill/>
          <a:ln/>
        </p:spPr>
        <p:txBody>
          <a:bodyPr wrap="square" rtlCol="0" anchor="ctr"/>
          <a:lstStyle/>
          <a:p>
            <a:pPr algn="ctr" indent="0" marL="0">
              <a:buNone/>
            </a:pPr>
            <a:r>
              <a:rPr lang="en-US" sz="3000" dirty="0">
                <a:solidFill>
                  <a:srgbClr val="DAA520"/>
                </a:solidFill>
              </a:rPr>
              <a:t>⌨️</a:t>
            </a:r>
            <a:endParaRPr lang="en-US" sz="3000" dirty="0"/>
          </a:p>
        </p:txBody>
      </p:sp>
      <p:sp>
        <p:nvSpPr>
          <p:cNvPr id="10" name="Text 8"/>
          <p:cNvSpPr/>
          <p:nvPr/>
        </p:nvSpPr>
        <p:spPr>
          <a:xfrm>
            <a:off x="3246120" y="2377440"/>
            <a:ext cx="2697480" cy="365760"/>
          </a:xfrm>
          <a:prstGeom prst="rect">
            <a:avLst/>
          </a:prstGeom>
          <a:noFill/>
          <a:ln/>
        </p:spPr>
        <p:txBody>
          <a:bodyPr wrap="square" rtlCol="0" anchor="ctr"/>
          <a:lstStyle/>
          <a:p>
            <a:pPr algn="ctr" indent="0" marL="0">
              <a:buNone/>
            </a:pPr>
            <a:r>
              <a:rPr lang="en-US" sz="1400" b="1" dirty="0">
                <a:solidFill>
                  <a:srgbClr val="FAF7EE"/>
                </a:solidFill>
                <a:latin typeface="Calibri" pitchFamily="34" charset="0"/>
                <a:ea typeface="Calibri" pitchFamily="34" charset="-122"/>
                <a:cs typeface="Calibri" pitchFamily="34" charset="-120"/>
              </a:rPr>
              <a:t>Type "TLMadmin"</a:t>
            </a:r>
            <a:endParaRPr lang="en-US" sz="1400" dirty="0"/>
          </a:p>
        </p:txBody>
      </p:sp>
      <p:sp>
        <p:nvSpPr>
          <p:cNvPr id="11" name="Text 9"/>
          <p:cNvSpPr/>
          <p:nvPr/>
        </p:nvSpPr>
        <p:spPr>
          <a:xfrm>
            <a:off x="3246120" y="2743200"/>
            <a:ext cx="2697480" cy="365760"/>
          </a:xfrm>
          <a:prstGeom prst="rect">
            <a:avLst/>
          </a:prstGeom>
          <a:noFill/>
          <a:ln/>
        </p:spPr>
        <p:txBody>
          <a:bodyPr wrap="square" rtlCol="0" anchor="ctr"/>
          <a:lstStyle/>
          <a:p>
            <a:pPr algn="ctr" indent="0" marL="0">
              <a:buNone/>
            </a:pPr>
            <a:r>
              <a:rPr lang="en-US" sz="1100" dirty="0">
                <a:solidFill>
                  <a:srgbClr val="B5B0A8"/>
                </a:solidFill>
                <a:latin typeface="Calibri" pitchFamily="34" charset="0"/>
                <a:ea typeface="Calibri" pitchFamily="34" charset="-122"/>
                <a:cs typeface="Calibri" pitchFamily="34" charset="-120"/>
              </a:rPr>
              <a:t>anywhere on the page</a:t>
            </a:r>
            <a:endParaRPr lang="en-US" sz="1100" dirty="0"/>
          </a:p>
        </p:txBody>
      </p:sp>
      <p:sp>
        <p:nvSpPr>
          <p:cNvPr id="12" name="Shape 10"/>
          <p:cNvSpPr/>
          <p:nvPr/>
        </p:nvSpPr>
        <p:spPr>
          <a:xfrm>
            <a:off x="6035040" y="1554480"/>
            <a:ext cx="2697480" cy="1920240"/>
          </a:xfrm>
          <a:prstGeom prst="roundRect">
            <a:avLst>
              <a:gd name="adj" fmla="val 4762"/>
            </a:avLst>
          </a:prstGeom>
          <a:solidFill>
            <a:srgbClr val="1A1A1A"/>
          </a:solidFill>
          <a:ln w="12700">
            <a:solidFill>
              <a:srgbClr val="DAA520"/>
            </a:solidFill>
            <a:prstDash val="solid"/>
          </a:ln>
        </p:spPr>
      </p:sp>
      <p:sp>
        <p:nvSpPr>
          <p:cNvPr id="13" name="Text 11"/>
          <p:cNvSpPr/>
          <p:nvPr/>
        </p:nvSpPr>
        <p:spPr>
          <a:xfrm>
            <a:off x="6035040" y="1691640"/>
            <a:ext cx="2697480" cy="640080"/>
          </a:xfrm>
          <a:prstGeom prst="rect">
            <a:avLst/>
          </a:prstGeom>
          <a:noFill/>
          <a:ln/>
        </p:spPr>
        <p:txBody>
          <a:bodyPr wrap="square" rtlCol="0" anchor="ctr"/>
          <a:lstStyle/>
          <a:p>
            <a:pPr algn="ctr" indent="0" marL="0">
              <a:buNone/>
            </a:pPr>
            <a:r>
              <a:rPr lang="en-US" sz="3000" dirty="0">
                <a:solidFill>
                  <a:srgbClr val="DAA520"/>
                </a:solidFill>
              </a:rPr>
              <a:t>🎮</a:t>
            </a:r>
            <a:endParaRPr lang="en-US" sz="3000" dirty="0"/>
          </a:p>
        </p:txBody>
      </p:sp>
      <p:sp>
        <p:nvSpPr>
          <p:cNvPr id="14" name="Text 12"/>
          <p:cNvSpPr/>
          <p:nvPr/>
        </p:nvSpPr>
        <p:spPr>
          <a:xfrm>
            <a:off x="6035040" y="2377440"/>
            <a:ext cx="2697480" cy="365760"/>
          </a:xfrm>
          <a:prstGeom prst="rect">
            <a:avLst/>
          </a:prstGeom>
          <a:noFill/>
          <a:ln/>
        </p:spPr>
        <p:txBody>
          <a:bodyPr wrap="square" rtlCol="0" anchor="ctr"/>
          <a:lstStyle/>
          <a:p>
            <a:pPr algn="ctr" indent="0" marL="0">
              <a:buNone/>
            </a:pPr>
            <a:r>
              <a:rPr lang="en-US" sz="1400" b="1" dirty="0">
                <a:solidFill>
                  <a:srgbClr val="FAF7EE"/>
                </a:solidFill>
                <a:latin typeface="Calibri" pitchFamily="34" charset="0"/>
                <a:ea typeface="Calibri" pitchFamily="34" charset="-122"/>
                <a:cs typeface="Calibri" pitchFamily="34" charset="-120"/>
              </a:rPr>
              <a:t>Konami code</a:t>
            </a:r>
            <a:endParaRPr lang="en-US" sz="1400" dirty="0"/>
          </a:p>
        </p:txBody>
      </p:sp>
      <p:sp>
        <p:nvSpPr>
          <p:cNvPr id="15" name="Text 13"/>
          <p:cNvSpPr/>
          <p:nvPr/>
        </p:nvSpPr>
        <p:spPr>
          <a:xfrm>
            <a:off x="6035040" y="2743200"/>
            <a:ext cx="2697480" cy="365760"/>
          </a:xfrm>
          <a:prstGeom prst="rect">
            <a:avLst/>
          </a:prstGeom>
          <a:noFill/>
          <a:ln/>
        </p:spPr>
        <p:txBody>
          <a:bodyPr wrap="square" rtlCol="0" anchor="ctr"/>
          <a:lstStyle/>
          <a:p>
            <a:pPr algn="ctr" indent="0" marL="0">
              <a:buNone/>
            </a:pPr>
            <a:r>
              <a:rPr lang="en-US" sz="1100" dirty="0">
                <a:solidFill>
                  <a:srgbClr val="B5B0A8"/>
                </a:solidFill>
                <a:latin typeface="Calibri" pitchFamily="34" charset="0"/>
                <a:ea typeface="Calibri" pitchFamily="34" charset="-122"/>
                <a:cs typeface="Calibri" pitchFamily="34" charset="-120"/>
              </a:rPr>
              <a:t>↑↑↓↓←→←→ B A</a:t>
            </a:r>
            <a:endParaRPr lang="en-US" sz="1100" dirty="0"/>
          </a:p>
        </p:txBody>
      </p:sp>
      <p:sp>
        <p:nvSpPr>
          <p:cNvPr id="16" name="Text 14"/>
          <p:cNvSpPr/>
          <p:nvPr/>
        </p:nvSpPr>
        <p:spPr>
          <a:xfrm>
            <a:off x="457200" y="3703320"/>
            <a:ext cx="8229600" cy="365760"/>
          </a:xfrm>
          <a:prstGeom prst="rect">
            <a:avLst/>
          </a:prstGeom>
          <a:noFill/>
          <a:ln/>
        </p:spPr>
        <p:txBody>
          <a:bodyPr wrap="square" rtlCol="0" anchor="ctr"/>
          <a:lstStyle/>
          <a:p>
            <a:pPr algn="ctr" indent="0" marL="0">
              <a:buNone/>
            </a:pPr>
            <a:r>
              <a:rPr lang="en-US" sz="1300" b="1" i="1" dirty="0">
                <a:solidFill>
                  <a:srgbClr val="DAA520"/>
                </a:solidFill>
                <a:latin typeface="Calibri" pitchFamily="34" charset="0"/>
                <a:ea typeface="Calibri" pitchFamily="34" charset="-122"/>
                <a:cs typeface="Calibri" pitchFamily="34" charset="-120"/>
              </a:rPr>
              <a:t>Then: </a:t>
            </a:r>
            <a:pPr algn="ctr" indent="0" marL="0">
              <a:buNone/>
            </a:pPr>
            <a:r>
              <a:rPr lang="en-US" sz="1300" i="1" dirty="0">
                <a:solidFill>
                  <a:srgbClr val="FAF7EE"/>
                </a:solidFill>
                <a:latin typeface="Calibri" pitchFamily="34" charset="0"/>
                <a:ea typeface="Calibri" pitchFamily="34" charset="-122"/>
                <a:cs typeface="Calibri" pitchFamily="34" charset="-120"/>
              </a:rPr>
              <a:t>SHA-256(salt + passcode) gate. 5 wrong tries → 5-minute lockout. 30-day session token.</a:t>
            </a:r>
            <a:endParaRPr lang="en-US" sz="1300" dirty="0"/>
          </a:p>
        </p:txBody>
      </p:sp>
      <p:sp>
        <p:nvSpPr>
          <p:cNvPr id="17" name="Text 15"/>
          <p:cNvSpPr/>
          <p:nvPr/>
        </p:nvSpPr>
        <p:spPr>
          <a:xfrm>
            <a:off x="457200" y="4251960"/>
            <a:ext cx="8229600" cy="548640"/>
          </a:xfrm>
          <a:prstGeom prst="rect">
            <a:avLst/>
          </a:prstGeom>
          <a:noFill/>
          <a:ln/>
        </p:spPr>
        <p:txBody>
          <a:bodyPr wrap="square" rtlCol="0" anchor="ctr"/>
          <a:lstStyle/>
          <a:p>
            <a:pPr algn="ctr" indent="0" marL="0">
              <a:buNone/>
            </a:pPr>
            <a:r>
              <a:rPr lang="en-US" sz="1100" dirty="0">
                <a:solidFill>
                  <a:srgbClr val="B5B0A8"/>
                </a:solidFill>
                <a:latin typeface="Calibri" pitchFamily="34" charset="0"/>
                <a:ea typeface="Calibri" pitchFamily="34" charset="-122"/>
                <a:cs typeface="Calibri" pitchFamily="34" charset="-120"/>
              </a:rPr>
              <a:t>Tabs: Brand · Hero · Resources · Videos · People · Sign-ins · Audit log · Pages-visibility · Toggles · Privacy · Deploy · Export &amp; reset.</a:t>
            </a:r>
            <a:endParaRPr lang="en-US" sz="1100" dirty="0"/>
          </a:p>
        </p:txBody>
      </p:sp>
      <p:sp>
        <p:nvSpPr>
          <p:cNvPr id="18" name="Text 16"/>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B5B0A8"/>
                </a:solidFill>
                <a:latin typeface="Calibri" pitchFamily="34" charset="0"/>
                <a:ea typeface="Calibri" pitchFamily="34" charset="-122"/>
                <a:cs typeface="Calibri" pitchFamily="34" charset="-120"/>
              </a:rPr>
              <a:t>19 / 30</a:t>
            </a:r>
            <a:endParaRPr lang="en-US" sz="900" dirty="0"/>
          </a:p>
        </p:txBody>
      </p:sp>
      <p:sp>
        <p:nvSpPr>
          <p:cNvPr id="19" name="Text 17"/>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B5B0A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UNDER THE HOOD</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600" b="1" dirty="0">
                <a:solidFill>
                  <a:srgbClr val="1F1F1F"/>
                </a:solidFill>
                <a:latin typeface="Georgia" pitchFamily="34" charset="0"/>
                <a:ea typeface="Georgia" pitchFamily="34" charset="-122"/>
                <a:cs typeface="Georgia" pitchFamily="34" charset="-120"/>
              </a:rPr>
              <a:t>No frameworks. No bundlers. No build step.</a:t>
            </a:r>
            <a:endParaRPr lang="en-US" sz="2600" dirty="0"/>
          </a:p>
        </p:txBody>
      </p:sp>
      <p:sp>
        <p:nvSpPr>
          <p:cNvPr id="4" name="Shape 2"/>
          <p:cNvSpPr/>
          <p:nvPr/>
        </p:nvSpPr>
        <p:spPr>
          <a:xfrm>
            <a:off x="457200" y="1600200"/>
            <a:ext cx="548640" cy="548640"/>
          </a:xfrm>
          <a:prstGeom prst="ellipse">
            <a:avLst/>
          </a:prstGeom>
          <a:solidFill>
            <a:srgbClr val="DAA520"/>
          </a:solidFill>
          <a:ln w="12700">
            <a:solidFill>
              <a:srgbClr val="DAA520"/>
            </a:solidFill>
            <a:prstDash val="solid"/>
          </a:ln>
        </p:spPr>
      </p:sp>
      <p:sp>
        <p:nvSpPr>
          <p:cNvPr id="5" name="Text 3"/>
          <p:cNvSpPr/>
          <p:nvPr/>
        </p:nvSpPr>
        <p:spPr>
          <a:xfrm>
            <a:off x="457200" y="1600200"/>
            <a:ext cx="548640" cy="548640"/>
          </a:xfrm>
          <a:prstGeom prst="rect">
            <a:avLst/>
          </a:prstGeom>
          <a:noFill/>
          <a:ln/>
        </p:spPr>
        <p:txBody>
          <a:bodyPr wrap="square" rtlCol="0" anchor="ctr"/>
          <a:lstStyle/>
          <a:p>
            <a:pPr algn="ctr" indent="0" marL="0">
              <a:buNone/>
            </a:pPr>
            <a:r>
              <a:rPr lang="en-US" sz="1800" dirty="0">
                <a:solidFill>
                  <a:srgbClr val="0E0E0E"/>
                </a:solidFill>
              </a:rPr>
              <a:t>🧱</a:t>
            </a:r>
            <a:endParaRPr lang="en-US" sz="1800" dirty="0"/>
          </a:p>
        </p:txBody>
      </p:sp>
      <p:sp>
        <p:nvSpPr>
          <p:cNvPr id="6" name="Text 4"/>
          <p:cNvSpPr/>
          <p:nvPr/>
        </p:nvSpPr>
        <p:spPr>
          <a:xfrm>
            <a:off x="1188720" y="1600200"/>
            <a:ext cx="3383280" cy="365760"/>
          </a:xfrm>
          <a:prstGeom prst="rect">
            <a:avLst/>
          </a:prstGeom>
          <a:noFill/>
          <a:ln/>
        </p:spPr>
        <p:txBody>
          <a:bodyPr wrap="square" rtlCol="0" anchor="ctr"/>
          <a:lstStyle/>
          <a:p>
            <a:pPr indent="0" marL="0">
              <a:buNone/>
            </a:pPr>
            <a:r>
              <a:rPr lang="en-US" sz="1400" b="1" dirty="0">
                <a:solidFill>
                  <a:srgbClr val="1F1F1F"/>
                </a:solidFill>
                <a:latin typeface="Calibri" pitchFamily="34" charset="0"/>
                <a:ea typeface="Calibri" pitchFamily="34" charset="-122"/>
                <a:cs typeface="Calibri" pitchFamily="34" charset="-120"/>
              </a:rPr>
              <a:t>Static site</a:t>
            </a:r>
            <a:endParaRPr lang="en-US" sz="1400" dirty="0"/>
          </a:p>
        </p:txBody>
      </p:sp>
      <p:sp>
        <p:nvSpPr>
          <p:cNvPr id="7" name="Text 5"/>
          <p:cNvSpPr/>
          <p:nvPr/>
        </p:nvSpPr>
        <p:spPr>
          <a:xfrm>
            <a:off x="1188720" y="1965960"/>
            <a:ext cx="3383280" cy="54864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Plain HTML, CSS, vanilla JS. Loads instantly.</a:t>
            </a:r>
            <a:endParaRPr lang="en-US" sz="1100" dirty="0"/>
          </a:p>
        </p:txBody>
      </p:sp>
      <p:sp>
        <p:nvSpPr>
          <p:cNvPr id="8" name="Shape 6"/>
          <p:cNvSpPr/>
          <p:nvPr/>
        </p:nvSpPr>
        <p:spPr>
          <a:xfrm>
            <a:off x="4663440" y="1600200"/>
            <a:ext cx="548640" cy="548640"/>
          </a:xfrm>
          <a:prstGeom prst="ellipse">
            <a:avLst/>
          </a:prstGeom>
          <a:solidFill>
            <a:srgbClr val="DAA520"/>
          </a:solidFill>
          <a:ln w="12700">
            <a:solidFill>
              <a:srgbClr val="DAA520"/>
            </a:solidFill>
            <a:prstDash val="solid"/>
          </a:ln>
        </p:spPr>
      </p:sp>
      <p:sp>
        <p:nvSpPr>
          <p:cNvPr id="9" name="Text 7"/>
          <p:cNvSpPr/>
          <p:nvPr/>
        </p:nvSpPr>
        <p:spPr>
          <a:xfrm>
            <a:off x="4663440" y="1600200"/>
            <a:ext cx="548640" cy="548640"/>
          </a:xfrm>
          <a:prstGeom prst="rect">
            <a:avLst/>
          </a:prstGeom>
          <a:noFill/>
          <a:ln/>
        </p:spPr>
        <p:txBody>
          <a:bodyPr wrap="square" rtlCol="0" anchor="ctr"/>
          <a:lstStyle/>
          <a:p>
            <a:pPr algn="ctr" indent="0" marL="0">
              <a:buNone/>
            </a:pPr>
            <a:r>
              <a:rPr lang="en-US" sz="1800" dirty="0">
                <a:solidFill>
                  <a:srgbClr val="0E0E0E"/>
                </a:solidFill>
              </a:rPr>
              <a:t>📦</a:t>
            </a:r>
            <a:endParaRPr lang="en-US" sz="1800" dirty="0"/>
          </a:p>
        </p:txBody>
      </p:sp>
      <p:sp>
        <p:nvSpPr>
          <p:cNvPr id="10" name="Text 8"/>
          <p:cNvSpPr/>
          <p:nvPr/>
        </p:nvSpPr>
        <p:spPr>
          <a:xfrm>
            <a:off x="5394960" y="1600200"/>
            <a:ext cx="3383280" cy="365760"/>
          </a:xfrm>
          <a:prstGeom prst="rect">
            <a:avLst/>
          </a:prstGeom>
          <a:noFill/>
          <a:ln/>
        </p:spPr>
        <p:txBody>
          <a:bodyPr wrap="square" rtlCol="0" anchor="ctr"/>
          <a:lstStyle/>
          <a:p>
            <a:pPr indent="0" marL="0">
              <a:buNone/>
            </a:pPr>
            <a:r>
              <a:rPr lang="en-US" sz="1400" b="1" dirty="0">
                <a:solidFill>
                  <a:srgbClr val="1F1F1F"/>
                </a:solidFill>
                <a:latin typeface="Calibri" pitchFamily="34" charset="0"/>
                <a:ea typeface="Calibri" pitchFamily="34" charset="-122"/>
                <a:cs typeface="Calibri" pitchFamily="34" charset="-120"/>
              </a:rPr>
              <a:t>PWA</a:t>
            </a:r>
            <a:endParaRPr lang="en-US" sz="1400" dirty="0"/>
          </a:p>
        </p:txBody>
      </p:sp>
      <p:sp>
        <p:nvSpPr>
          <p:cNvPr id="11" name="Text 9"/>
          <p:cNvSpPr/>
          <p:nvPr/>
        </p:nvSpPr>
        <p:spPr>
          <a:xfrm>
            <a:off x="5394960" y="1965960"/>
            <a:ext cx="3383280" cy="54864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Manifest + service worker. Installable, offline-capable.</a:t>
            </a:r>
            <a:endParaRPr lang="en-US" sz="1100" dirty="0"/>
          </a:p>
        </p:txBody>
      </p:sp>
      <p:sp>
        <p:nvSpPr>
          <p:cNvPr id="12" name="Shape 10"/>
          <p:cNvSpPr/>
          <p:nvPr/>
        </p:nvSpPr>
        <p:spPr>
          <a:xfrm>
            <a:off x="457200" y="2651760"/>
            <a:ext cx="548640" cy="548640"/>
          </a:xfrm>
          <a:prstGeom prst="ellipse">
            <a:avLst/>
          </a:prstGeom>
          <a:solidFill>
            <a:srgbClr val="DAA520"/>
          </a:solidFill>
          <a:ln w="12700">
            <a:solidFill>
              <a:srgbClr val="DAA520"/>
            </a:solidFill>
            <a:prstDash val="solid"/>
          </a:ln>
        </p:spPr>
      </p:sp>
      <p:sp>
        <p:nvSpPr>
          <p:cNvPr id="13" name="Text 11"/>
          <p:cNvSpPr/>
          <p:nvPr/>
        </p:nvSpPr>
        <p:spPr>
          <a:xfrm>
            <a:off x="457200" y="2651760"/>
            <a:ext cx="548640" cy="548640"/>
          </a:xfrm>
          <a:prstGeom prst="rect">
            <a:avLst/>
          </a:prstGeom>
          <a:noFill/>
          <a:ln/>
        </p:spPr>
        <p:txBody>
          <a:bodyPr wrap="square" rtlCol="0" anchor="ctr"/>
          <a:lstStyle/>
          <a:p>
            <a:pPr algn="ctr" indent="0" marL="0">
              <a:buNone/>
            </a:pPr>
            <a:r>
              <a:rPr lang="en-US" sz="1800" dirty="0">
                <a:solidFill>
                  <a:srgbClr val="0E0E0E"/>
                </a:solidFill>
              </a:rPr>
              <a:t>🛡</a:t>
            </a:r>
            <a:endParaRPr lang="en-US" sz="1800" dirty="0"/>
          </a:p>
        </p:txBody>
      </p:sp>
      <p:sp>
        <p:nvSpPr>
          <p:cNvPr id="14" name="Text 12"/>
          <p:cNvSpPr/>
          <p:nvPr/>
        </p:nvSpPr>
        <p:spPr>
          <a:xfrm>
            <a:off x="1188720" y="2651760"/>
            <a:ext cx="3383280" cy="365760"/>
          </a:xfrm>
          <a:prstGeom prst="rect">
            <a:avLst/>
          </a:prstGeom>
          <a:noFill/>
          <a:ln/>
        </p:spPr>
        <p:txBody>
          <a:bodyPr wrap="square" rtlCol="0" anchor="ctr"/>
          <a:lstStyle/>
          <a:p>
            <a:pPr indent="0" marL="0">
              <a:buNone/>
            </a:pPr>
            <a:r>
              <a:rPr lang="en-US" sz="1400" b="1" dirty="0">
                <a:solidFill>
                  <a:srgbClr val="1F1F1F"/>
                </a:solidFill>
                <a:latin typeface="Calibri" pitchFamily="34" charset="0"/>
                <a:ea typeface="Calibri" pitchFamily="34" charset="-122"/>
                <a:cs typeface="Calibri" pitchFamily="34" charset="-120"/>
              </a:rPr>
              <a:t>CSP via Netlify</a:t>
            </a:r>
            <a:endParaRPr lang="en-US" sz="1400" dirty="0"/>
          </a:p>
        </p:txBody>
      </p:sp>
      <p:sp>
        <p:nvSpPr>
          <p:cNvPr id="15" name="Text 13"/>
          <p:cNvSpPr/>
          <p:nvPr/>
        </p:nvSpPr>
        <p:spPr>
          <a:xfrm>
            <a:off x="1188720" y="3017520"/>
            <a:ext cx="3383280" cy="54864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Default-src self. Explicit allowlist for Supabase / OAuth / embeds.</a:t>
            </a:r>
            <a:endParaRPr lang="en-US" sz="1100" dirty="0"/>
          </a:p>
        </p:txBody>
      </p:sp>
      <p:sp>
        <p:nvSpPr>
          <p:cNvPr id="16" name="Shape 14"/>
          <p:cNvSpPr/>
          <p:nvPr/>
        </p:nvSpPr>
        <p:spPr>
          <a:xfrm>
            <a:off x="4663440" y="2651760"/>
            <a:ext cx="548640" cy="548640"/>
          </a:xfrm>
          <a:prstGeom prst="ellipse">
            <a:avLst/>
          </a:prstGeom>
          <a:solidFill>
            <a:srgbClr val="DAA520"/>
          </a:solidFill>
          <a:ln w="12700">
            <a:solidFill>
              <a:srgbClr val="DAA520"/>
            </a:solidFill>
            <a:prstDash val="solid"/>
          </a:ln>
        </p:spPr>
      </p:sp>
      <p:sp>
        <p:nvSpPr>
          <p:cNvPr id="17" name="Text 15"/>
          <p:cNvSpPr/>
          <p:nvPr/>
        </p:nvSpPr>
        <p:spPr>
          <a:xfrm>
            <a:off x="4663440" y="2651760"/>
            <a:ext cx="548640" cy="548640"/>
          </a:xfrm>
          <a:prstGeom prst="rect">
            <a:avLst/>
          </a:prstGeom>
          <a:noFill/>
          <a:ln/>
        </p:spPr>
        <p:txBody>
          <a:bodyPr wrap="square" rtlCol="0" anchor="ctr"/>
          <a:lstStyle/>
          <a:p>
            <a:pPr algn="ctr" indent="0" marL="0">
              <a:buNone/>
            </a:pPr>
            <a:r>
              <a:rPr lang="en-US" sz="1800" dirty="0">
                <a:solidFill>
                  <a:srgbClr val="0E0E0E"/>
                </a:solidFill>
              </a:rPr>
              <a:t>🔐</a:t>
            </a:r>
            <a:endParaRPr lang="en-US" sz="1800" dirty="0"/>
          </a:p>
        </p:txBody>
      </p:sp>
      <p:sp>
        <p:nvSpPr>
          <p:cNvPr id="18" name="Text 16"/>
          <p:cNvSpPr/>
          <p:nvPr/>
        </p:nvSpPr>
        <p:spPr>
          <a:xfrm>
            <a:off x="5394960" y="2651760"/>
            <a:ext cx="3383280" cy="365760"/>
          </a:xfrm>
          <a:prstGeom prst="rect">
            <a:avLst/>
          </a:prstGeom>
          <a:noFill/>
          <a:ln/>
        </p:spPr>
        <p:txBody>
          <a:bodyPr wrap="square" rtlCol="0" anchor="ctr"/>
          <a:lstStyle/>
          <a:p>
            <a:pPr indent="0" marL="0">
              <a:buNone/>
            </a:pPr>
            <a:r>
              <a:rPr lang="en-US" sz="1400" b="1" dirty="0">
                <a:solidFill>
                  <a:srgbClr val="1F1F1F"/>
                </a:solidFill>
                <a:latin typeface="Calibri" pitchFamily="34" charset="0"/>
                <a:ea typeface="Calibri" pitchFamily="34" charset="-122"/>
                <a:cs typeface="Calibri" pitchFamily="34" charset="-120"/>
              </a:rPr>
              <a:t>Supabase auth</a:t>
            </a:r>
            <a:endParaRPr lang="en-US" sz="1400" dirty="0"/>
          </a:p>
        </p:txBody>
      </p:sp>
      <p:sp>
        <p:nvSpPr>
          <p:cNvPr id="19" name="Text 17"/>
          <p:cNvSpPr/>
          <p:nvPr/>
        </p:nvSpPr>
        <p:spPr>
          <a:xfrm>
            <a:off x="5394960" y="3017520"/>
            <a:ext cx="3383280" cy="54864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Email + Google + Facebook OAuth. RLS on every table.</a:t>
            </a:r>
            <a:endParaRPr lang="en-US" sz="1100" dirty="0"/>
          </a:p>
        </p:txBody>
      </p:sp>
      <p:sp>
        <p:nvSpPr>
          <p:cNvPr id="20" name="Shape 18"/>
          <p:cNvSpPr/>
          <p:nvPr/>
        </p:nvSpPr>
        <p:spPr>
          <a:xfrm>
            <a:off x="457200" y="3703320"/>
            <a:ext cx="548640" cy="548640"/>
          </a:xfrm>
          <a:prstGeom prst="ellipse">
            <a:avLst/>
          </a:prstGeom>
          <a:solidFill>
            <a:srgbClr val="DAA520"/>
          </a:solidFill>
          <a:ln w="12700">
            <a:solidFill>
              <a:srgbClr val="DAA520"/>
            </a:solidFill>
            <a:prstDash val="solid"/>
          </a:ln>
        </p:spPr>
      </p:sp>
      <p:sp>
        <p:nvSpPr>
          <p:cNvPr id="21" name="Text 19"/>
          <p:cNvSpPr/>
          <p:nvPr/>
        </p:nvSpPr>
        <p:spPr>
          <a:xfrm>
            <a:off x="457200" y="3703320"/>
            <a:ext cx="548640" cy="548640"/>
          </a:xfrm>
          <a:prstGeom prst="rect">
            <a:avLst/>
          </a:prstGeom>
          <a:noFill/>
          <a:ln/>
        </p:spPr>
        <p:txBody>
          <a:bodyPr wrap="square" rtlCol="0" anchor="ctr"/>
          <a:lstStyle/>
          <a:p>
            <a:pPr algn="ctr" indent="0" marL="0">
              <a:buNone/>
            </a:pPr>
            <a:r>
              <a:rPr lang="en-US" sz="1800" dirty="0">
                <a:solidFill>
                  <a:srgbClr val="0E0E0E"/>
                </a:solidFill>
              </a:rPr>
              <a:t>☁️</a:t>
            </a:r>
            <a:endParaRPr lang="en-US" sz="1800" dirty="0"/>
          </a:p>
        </p:txBody>
      </p:sp>
      <p:sp>
        <p:nvSpPr>
          <p:cNvPr id="22" name="Text 20"/>
          <p:cNvSpPr/>
          <p:nvPr/>
        </p:nvSpPr>
        <p:spPr>
          <a:xfrm>
            <a:off x="1188720" y="3703320"/>
            <a:ext cx="3383280" cy="365760"/>
          </a:xfrm>
          <a:prstGeom prst="rect">
            <a:avLst/>
          </a:prstGeom>
          <a:noFill/>
          <a:ln/>
        </p:spPr>
        <p:txBody>
          <a:bodyPr wrap="square" rtlCol="0" anchor="ctr"/>
          <a:lstStyle/>
          <a:p>
            <a:pPr indent="0" marL="0">
              <a:buNone/>
            </a:pPr>
            <a:r>
              <a:rPr lang="en-US" sz="1400" b="1" dirty="0">
                <a:solidFill>
                  <a:srgbClr val="1F1F1F"/>
                </a:solidFill>
                <a:latin typeface="Calibri" pitchFamily="34" charset="0"/>
                <a:ea typeface="Calibri" pitchFamily="34" charset="-122"/>
                <a:cs typeface="Calibri" pitchFamily="34" charset="-120"/>
              </a:rPr>
              <a:t>Netlify functions</a:t>
            </a:r>
            <a:endParaRPr lang="en-US" sz="1400" dirty="0"/>
          </a:p>
        </p:txBody>
      </p:sp>
      <p:sp>
        <p:nvSpPr>
          <p:cNvPr id="23" name="Text 21"/>
          <p:cNvSpPr/>
          <p:nvPr/>
        </p:nvSpPr>
        <p:spPr>
          <a:xfrm>
            <a:off x="1188720" y="4069080"/>
            <a:ext cx="3383280" cy="54864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Single function: chatbot relay (rotates 13 LLMs).</a:t>
            </a:r>
            <a:endParaRPr lang="en-US" sz="1100" dirty="0"/>
          </a:p>
        </p:txBody>
      </p:sp>
      <p:sp>
        <p:nvSpPr>
          <p:cNvPr id="24" name="Shape 22"/>
          <p:cNvSpPr/>
          <p:nvPr/>
        </p:nvSpPr>
        <p:spPr>
          <a:xfrm>
            <a:off x="4663440" y="3703320"/>
            <a:ext cx="548640" cy="548640"/>
          </a:xfrm>
          <a:prstGeom prst="ellipse">
            <a:avLst/>
          </a:prstGeom>
          <a:solidFill>
            <a:srgbClr val="DAA520"/>
          </a:solidFill>
          <a:ln w="12700">
            <a:solidFill>
              <a:srgbClr val="DAA520"/>
            </a:solidFill>
            <a:prstDash val="solid"/>
          </a:ln>
        </p:spPr>
      </p:sp>
      <p:sp>
        <p:nvSpPr>
          <p:cNvPr id="25" name="Text 23"/>
          <p:cNvSpPr/>
          <p:nvPr/>
        </p:nvSpPr>
        <p:spPr>
          <a:xfrm>
            <a:off x="4663440" y="3703320"/>
            <a:ext cx="548640" cy="548640"/>
          </a:xfrm>
          <a:prstGeom prst="rect">
            <a:avLst/>
          </a:prstGeom>
          <a:noFill/>
          <a:ln/>
        </p:spPr>
        <p:txBody>
          <a:bodyPr wrap="square" rtlCol="0" anchor="ctr"/>
          <a:lstStyle/>
          <a:p>
            <a:pPr algn="ctr" indent="0" marL="0">
              <a:buNone/>
            </a:pPr>
            <a:r>
              <a:rPr lang="en-US" sz="1800" dirty="0">
                <a:solidFill>
                  <a:srgbClr val="0E0E0E"/>
                </a:solidFill>
              </a:rPr>
              <a:t>♿</a:t>
            </a:r>
            <a:endParaRPr lang="en-US" sz="1800" dirty="0"/>
          </a:p>
        </p:txBody>
      </p:sp>
      <p:sp>
        <p:nvSpPr>
          <p:cNvPr id="26" name="Text 24"/>
          <p:cNvSpPr/>
          <p:nvPr/>
        </p:nvSpPr>
        <p:spPr>
          <a:xfrm>
            <a:off x="5394960" y="3703320"/>
            <a:ext cx="3383280" cy="365760"/>
          </a:xfrm>
          <a:prstGeom prst="rect">
            <a:avLst/>
          </a:prstGeom>
          <a:noFill/>
          <a:ln/>
        </p:spPr>
        <p:txBody>
          <a:bodyPr wrap="square" rtlCol="0" anchor="ctr"/>
          <a:lstStyle/>
          <a:p>
            <a:pPr indent="0" marL="0">
              <a:buNone/>
            </a:pPr>
            <a:r>
              <a:rPr lang="en-US" sz="1400" b="1" dirty="0">
                <a:solidFill>
                  <a:srgbClr val="1F1F1F"/>
                </a:solidFill>
                <a:latin typeface="Calibri" pitchFamily="34" charset="0"/>
                <a:ea typeface="Calibri" pitchFamily="34" charset="-122"/>
                <a:cs typeface="Calibri" pitchFamily="34" charset="-120"/>
              </a:rPr>
              <a:t>WCAG 2.1 AA</a:t>
            </a:r>
            <a:endParaRPr lang="en-US" sz="1400" dirty="0"/>
          </a:p>
        </p:txBody>
      </p:sp>
      <p:sp>
        <p:nvSpPr>
          <p:cNvPr id="27" name="Text 25"/>
          <p:cNvSpPr/>
          <p:nvPr/>
        </p:nvSpPr>
        <p:spPr>
          <a:xfrm>
            <a:off x="5394960" y="4069080"/>
            <a:ext cx="3383280" cy="54864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Accessibility audit applied. Reduced motion + dark/light modes.</a:t>
            </a:r>
            <a:endParaRPr lang="en-US" sz="1100" dirty="0"/>
          </a:p>
        </p:txBody>
      </p:sp>
      <p:sp>
        <p:nvSpPr>
          <p:cNvPr id="28" name="Text 26"/>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20 / 30</a:t>
            </a:r>
            <a:endParaRPr lang="en-US" sz="900" dirty="0"/>
          </a:p>
        </p:txBody>
      </p:sp>
      <p:sp>
        <p:nvSpPr>
          <p:cNvPr id="29" name="Text 27"/>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WHO ELSE IT SERVES</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600" b="1" dirty="0">
                <a:solidFill>
                  <a:srgbClr val="1F1F1F"/>
                </a:solidFill>
                <a:latin typeface="Georgia" pitchFamily="34" charset="0"/>
                <a:ea typeface="Georgia" pitchFamily="34" charset="-122"/>
                <a:cs typeface="Georgia" pitchFamily="34" charset="-120"/>
              </a:rPr>
              <a:t>Three more real-world scenarios.</a:t>
            </a:r>
            <a:endParaRPr lang="en-US" sz="2600" dirty="0"/>
          </a:p>
        </p:txBody>
      </p:sp>
      <p:sp>
        <p:nvSpPr>
          <p:cNvPr id="4" name="Shape 2"/>
          <p:cNvSpPr/>
          <p:nvPr/>
        </p:nvSpPr>
        <p:spPr>
          <a:xfrm>
            <a:off x="457200" y="1645920"/>
            <a:ext cx="640080" cy="640080"/>
          </a:xfrm>
          <a:prstGeom prst="ellipse">
            <a:avLst/>
          </a:prstGeom>
          <a:solidFill>
            <a:srgbClr val="DAA520"/>
          </a:solidFill>
          <a:ln w="12700">
            <a:solidFill>
              <a:srgbClr val="DAA520"/>
            </a:solidFill>
            <a:prstDash val="solid"/>
          </a:ln>
        </p:spPr>
      </p:sp>
      <p:sp>
        <p:nvSpPr>
          <p:cNvPr id="5" name="Text 3"/>
          <p:cNvSpPr/>
          <p:nvPr/>
        </p:nvSpPr>
        <p:spPr>
          <a:xfrm>
            <a:off x="457200" y="1645920"/>
            <a:ext cx="640080" cy="640080"/>
          </a:xfrm>
          <a:prstGeom prst="rect">
            <a:avLst/>
          </a:prstGeom>
          <a:noFill/>
          <a:ln/>
        </p:spPr>
        <p:txBody>
          <a:bodyPr wrap="square" rtlCol="0" anchor="ctr"/>
          <a:lstStyle/>
          <a:p>
            <a:pPr algn="ctr" indent="0" marL="0">
              <a:buNone/>
            </a:pPr>
            <a:r>
              <a:rPr lang="en-US" sz="2200" dirty="0">
                <a:solidFill>
                  <a:srgbClr val="0E0E0E"/>
                </a:solidFill>
              </a:rPr>
              <a:t>🎓</a:t>
            </a:r>
            <a:endParaRPr lang="en-US" sz="2200" dirty="0"/>
          </a:p>
        </p:txBody>
      </p:sp>
      <p:sp>
        <p:nvSpPr>
          <p:cNvPr id="6" name="Text 4"/>
          <p:cNvSpPr/>
          <p:nvPr/>
        </p:nvSpPr>
        <p:spPr>
          <a:xfrm>
            <a:off x="1280160" y="1600200"/>
            <a:ext cx="2743200" cy="411480"/>
          </a:xfrm>
          <a:prstGeom prst="rect">
            <a:avLst/>
          </a:prstGeom>
          <a:noFill/>
          <a:ln/>
        </p:spPr>
        <p:txBody>
          <a:bodyPr wrap="square" rtlCol="0" anchor="ctr"/>
          <a:lstStyle/>
          <a:p>
            <a:pPr indent="0" marL="0">
              <a:buNone/>
            </a:pPr>
            <a:r>
              <a:rPr lang="en-US" sz="1500" b="1" dirty="0">
                <a:solidFill>
                  <a:srgbClr val="1F1F1F"/>
                </a:solidFill>
                <a:latin typeface="Calibri" pitchFamily="34" charset="0"/>
                <a:ea typeface="Calibri" pitchFamily="34" charset="-122"/>
                <a:cs typeface="Calibri" pitchFamily="34" charset="-120"/>
              </a:rPr>
              <a:t>Yolanda, 28</a:t>
            </a:r>
            <a:endParaRPr lang="en-US" sz="1500" dirty="0"/>
          </a:p>
        </p:txBody>
      </p:sp>
      <p:sp>
        <p:nvSpPr>
          <p:cNvPr id="7" name="Text 5"/>
          <p:cNvSpPr/>
          <p:nvPr/>
        </p:nvSpPr>
        <p:spPr>
          <a:xfrm>
            <a:off x="3931920" y="1554480"/>
            <a:ext cx="4937760" cy="91440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Released 18 months ago. Now in CSU Project Rebound, working part-time. Uses TLM Finance to balance stipend + side hustle income against tuition fees and a $4,000 court-fee debt at 12% APR. Plan health: 78.</a:t>
            </a:r>
            <a:endParaRPr lang="en-US" sz="1100" dirty="0"/>
          </a:p>
        </p:txBody>
      </p:sp>
      <p:sp>
        <p:nvSpPr>
          <p:cNvPr id="8" name="Shape 6"/>
          <p:cNvSpPr/>
          <p:nvPr/>
        </p:nvSpPr>
        <p:spPr>
          <a:xfrm>
            <a:off x="457200" y="2606040"/>
            <a:ext cx="640080" cy="640080"/>
          </a:xfrm>
          <a:prstGeom prst="ellipse">
            <a:avLst/>
          </a:prstGeom>
          <a:solidFill>
            <a:srgbClr val="DAA520"/>
          </a:solidFill>
          <a:ln w="12700">
            <a:solidFill>
              <a:srgbClr val="DAA520"/>
            </a:solidFill>
            <a:prstDash val="solid"/>
          </a:ln>
        </p:spPr>
      </p:sp>
      <p:sp>
        <p:nvSpPr>
          <p:cNvPr id="9" name="Text 7"/>
          <p:cNvSpPr/>
          <p:nvPr/>
        </p:nvSpPr>
        <p:spPr>
          <a:xfrm>
            <a:off x="457200" y="2606040"/>
            <a:ext cx="640080" cy="640080"/>
          </a:xfrm>
          <a:prstGeom prst="rect">
            <a:avLst/>
          </a:prstGeom>
          <a:noFill/>
          <a:ln/>
        </p:spPr>
        <p:txBody>
          <a:bodyPr wrap="square" rtlCol="0" anchor="ctr"/>
          <a:lstStyle/>
          <a:p>
            <a:pPr algn="ctr" indent="0" marL="0">
              <a:buNone/>
            </a:pPr>
            <a:r>
              <a:rPr lang="en-US" sz="2200" dirty="0">
                <a:solidFill>
                  <a:srgbClr val="0E0E0E"/>
                </a:solidFill>
              </a:rPr>
              <a:t>🛠</a:t>
            </a:r>
            <a:endParaRPr lang="en-US" sz="2200" dirty="0"/>
          </a:p>
        </p:txBody>
      </p:sp>
      <p:sp>
        <p:nvSpPr>
          <p:cNvPr id="10" name="Text 8"/>
          <p:cNvSpPr/>
          <p:nvPr/>
        </p:nvSpPr>
        <p:spPr>
          <a:xfrm>
            <a:off x="1280160" y="2560320"/>
            <a:ext cx="2743200" cy="411480"/>
          </a:xfrm>
          <a:prstGeom prst="rect">
            <a:avLst/>
          </a:prstGeom>
          <a:noFill/>
          <a:ln/>
        </p:spPr>
        <p:txBody>
          <a:bodyPr wrap="square" rtlCol="0" anchor="ctr"/>
          <a:lstStyle/>
          <a:p>
            <a:pPr indent="0" marL="0">
              <a:buNone/>
            </a:pPr>
            <a:r>
              <a:rPr lang="en-US" sz="1500" b="1" dirty="0">
                <a:solidFill>
                  <a:srgbClr val="1F1F1F"/>
                </a:solidFill>
                <a:latin typeface="Calibri" pitchFamily="34" charset="0"/>
                <a:ea typeface="Calibri" pitchFamily="34" charset="-122"/>
                <a:cs typeface="Calibri" pitchFamily="34" charset="-120"/>
              </a:rPr>
              <a:t>James, 42</a:t>
            </a:r>
            <a:endParaRPr lang="en-US" sz="1500" dirty="0"/>
          </a:p>
        </p:txBody>
      </p:sp>
      <p:sp>
        <p:nvSpPr>
          <p:cNvPr id="11" name="Text 9"/>
          <p:cNvSpPr/>
          <p:nvPr/>
        </p:nvSpPr>
        <p:spPr>
          <a:xfrm>
            <a:off x="3931920" y="2514600"/>
            <a:ext cx="4937760" cy="91440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Out for two years. Drives for a rideshare. Uses the planner to forecast cash-flow on weeks where his car is in the shop. The "I don't have any" toggles let him skip steps he genuinely doesn't need.</a:t>
            </a:r>
            <a:endParaRPr lang="en-US" sz="1100" dirty="0"/>
          </a:p>
        </p:txBody>
      </p:sp>
      <p:sp>
        <p:nvSpPr>
          <p:cNvPr id="12" name="Shape 10"/>
          <p:cNvSpPr/>
          <p:nvPr/>
        </p:nvSpPr>
        <p:spPr>
          <a:xfrm>
            <a:off x="457200" y="3566160"/>
            <a:ext cx="640080" cy="640080"/>
          </a:xfrm>
          <a:prstGeom prst="ellipse">
            <a:avLst/>
          </a:prstGeom>
          <a:solidFill>
            <a:srgbClr val="DAA520"/>
          </a:solidFill>
          <a:ln w="12700">
            <a:solidFill>
              <a:srgbClr val="DAA520"/>
            </a:solidFill>
            <a:prstDash val="solid"/>
          </a:ln>
        </p:spPr>
      </p:sp>
      <p:sp>
        <p:nvSpPr>
          <p:cNvPr id="13" name="Text 11"/>
          <p:cNvSpPr/>
          <p:nvPr/>
        </p:nvSpPr>
        <p:spPr>
          <a:xfrm>
            <a:off x="457200" y="3566160"/>
            <a:ext cx="640080" cy="640080"/>
          </a:xfrm>
          <a:prstGeom prst="rect">
            <a:avLst/>
          </a:prstGeom>
          <a:noFill/>
          <a:ln/>
        </p:spPr>
        <p:txBody>
          <a:bodyPr wrap="square" rtlCol="0" anchor="ctr"/>
          <a:lstStyle/>
          <a:p>
            <a:pPr algn="ctr" indent="0" marL="0">
              <a:buNone/>
            </a:pPr>
            <a:r>
              <a:rPr lang="en-US" sz="2200" dirty="0">
                <a:solidFill>
                  <a:srgbClr val="0E0E0E"/>
                </a:solidFill>
              </a:rPr>
              <a:t>🤝</a:t>
            </a:r>
            <a:endParaRPr lang="en-US" sz="2200" dirty="0"/>
          </a:p>
        </p:txBody>
      </p:sp>
      <p:sp>
        <p:nvSpPr>
          <p:cNvPr id="14" name="Text 12"/>
          <p:cNvSpPr/>
          <p:nvPr/>
        </p:nvSpPr>
        <p:spPr>
          <a:xfrm>
            <a:off x="1280160" y="3520440"/>
            <a:ext cx="2743200" cy="411480"/>
          </a:xfrm>
          <a:prstGeom prst="rect">
            <a:avLst/>
          </a:prstGeom>
          <a:noFill/>
          <a:ln/>
        </p:spPr>
        <p:txBody>
          <a:bodyPr wrap="square" rtlCol="0" anchor="ctr"/>
          <a:lstStyle/>
          <a:p>
            <a:pPr indent="0" marL="0">
              <a:buNone/>
            </a:pPr>
            <a:r>
              <a:rPr lang="en-US" sz="1500" b="1" dirty="0">
                <a:solidFill>
                  <a:srgbClr val="1F1F1F"/>
                </a:solidFill>
                <a:latin typeface="Calibri" pitchFamily="34" charset="0"/>
                <a:ea typeface="Calibri" pitchFamily="34" charset="-122"/>
                <a:cs typeface="Calibri" pitchFamily="34" charset="-120"/>
              </a:rPr>
              <a:t>A case manager</a:t>
            </a:r>
            <a:endParaRPr lang="en-US" sz="1500" dirty="0"/>
          </a:p>
        </p:txBody>
      </p:sp>
      <p:sp>
        <p:nvSpPr>
          <p:cNvPr id="15" name="Text 13"/>
          <p:cNvSpPr/>
          <p:nvPr/>
        </p:nvSpPr>
        <p:spPr>
          <a:xfrm>
            <a:off x="3931920" y="3474720"/>
            <a:ext cx="4937760" cy="91440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Works at a county reentry program. Hands the URL to every client at intake. Asks them to bring a printed plan to their next appointment. Eliminates 30 minutes of intake paperwork per session.</a:t>
            </a:r>
            <a:endParaRPr lang="en-US" sz="1100" dirty="0"/>
          </a:p>
        </p:txBody>
      </p:sp>
      <p:sp>
        <p:nvSpPr>
          <p:cNvPr id="16" name="Text 14"/>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21 / 30</a:t>
            </a:r>
            <a:endParaRPr lang="en-US" sz="900" dirty="0"/>
          </a:p>
        </p:txBody>
      </p:sp>
      <p:sp>
        <p:nvSpPr>
          <p:cNvPr id="17" name="Text 15"/>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TLM IMPACT (FOR CONTEXT)</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600" b="1" dirty="0">
                <a:solidFill>
                  <a:srgbClr val="1F1F1F"/>
                </a:solidFill>
                <a:latin typeface="Georgia" pitchFamily="34" charset="0"/>
                <a:ea typeface="Georgia" pitchFamily="34" charset="-122"/>
                <a:cs typeface="Georgia" pitchFamily="34" charset="-120"/>
              </a:rPr>
              <a:t>The mission this work plugs into.</a:t>
            </a:r>
            <a:endParaRPr lang="en-US" sz="2600" dirty="0"/>
          </a:p>
        </p:txBody>
      </p:sp>
      <p:sp>
        <p:nvSpPr>
          <p:cNvPr id="4" name="Shape 2"/>
          <p:cNvSpPr/>
          <p:nvPr/>
        </p:nvSpPr>
        <p:spPr>
          <a:xfrm>
            <a:off x="457200" y="1554480"/>
            <a:ext cx="2697480" cy="1371600"/>
          </a:xfrm>
          <a:prstGeom prst="roundRect">
            <a:avLst>
              <a:gd name="adj" fmla="val 6667"/>
            </a:avLst>
          </a:prstGeom>
          <a:solidFill>
            <a:srgbClr val="F8F4EA"/>
          </a:solidFill>
          <a:ln w="12700">
            <a:solidFill>
              <a:srgbClr val="E5DBC2"/>
            </a:solidFill>
            <a:prstDash val="solid"/>
          </a:ln>
        </p:spPr>
      </p:sp>
      <p:sp>
        <p:nvSpPr>
          <p:cNvPr id="5" name="Text 3"/>
          <p:cNvSpPr/>
          <p:nvPr/>
        </p:nvSpPr>
        <p:spPr>
          <a:xfrm>
            <a:off x="548640" y="1691640"/>
            <a:ext cx="2514600" cy="640080"/>
          </a:xfrm>
          <a:prstGeom prst="rect">
            <a:avLst/>
          </a:prstGeom>
          <a:noFill/>
          <a:ln/>
        </p:spPr>
        <p:txBody>
          <a:bodyPr wrap="square" rtlCol="0" anchor="ctr"/>
          <a:lstStyle/>
          <a:p>
            <a:pPr algn="ctr" indent="0" marL="0">
              <a:buNone/>
            </a:pPr>
            <a:r>
              <a:rPr lang="en-US" sz="3000" b="1" dirty="0">
                <a:solidFill>
                  <a:srgbClr val="1F7A4D"/>
                </a:solidFill>
                <a:latin typeface="Georgia" pitchFamily="34" charset="0"/>
                <a:ea typeface="Georgia" pitchFamily="34" charset="-122"/>
                <a:cs typeface="Georgia" pitchFamily="34" charset="-120"/>
              </a:rPr>
              <a:t>1,600+</a:t>
            </a:r>
            <a:endParaRPr lang="en-US" sz="3000" dirty="0"/>
          </a:p>
        </p:txBody>
      </p:sp>
      <p:sp>
        <p:nvSpPr>
          <p:cNvPr id="6" name="Text 4"/>
          <p:cNvSpPr/>
          <p:nvPr/>
        </p:nvSpPr>
        <p:spPr>
          <a:xfrm>
            <a:off x="548640" y="2331720"/>
            <a:ext cx="2514600" cy="320040"/>
          </a:xfrm>
          <a:prstGeom prst="rect">
            <a:avLst/>
          </a:prstGeom>
          <a:noFill/>
          <a:ln/>
        </p:spPr>
        <p:txBody>
          <a:bodyPr wrap="square" rtlCol="0" anchor="ctr"/>
          <a:lstStyle/>
          <a:p>
            <a:pPr algn="ctr" indent="0" marL="0">
              <a:buNone/>
            </a:pPr>
            <a:r>
              <a:rPr lang="en-US" sz="1100" dirty="0">
                <a:solidFill>
                  <a:srgbClr val="4A4A42"/>
                </a:solidFill>
                <a:latin typeface="Calibri" pitchFamily="34" charset="0"/>
                <a:ea typeface="Calibri" pitchFamily="34" charset="-122"/>
                <a:cs typeface="Calibri" pitchFamily="34" charset="-120"/>
              </a:rPr>
              <a:t>Alumni since 2010</a:t>
            </a:r>
            <a:endParaRPr lang="en-US" sz="1100" dirty="0"/>
          </a:p>
        </p:txBody>
      </p:sp>
      <p:sp>
        <p:nvSpPr>
          <p:cNvPr id="7" name="Text 5"/>
          <p:cNvSpPr/>
          <p:nvPr/>
        </p:nvSpPr>
        <p:spPr>
          <a:xfrm>
            <a:off x="548640" y="2606040"/>
            <a:ext cx="2514600" cy="274320"/>
          </a:xfrm>
          <a:prstGeom prst="rect">
            <a:avLst/>
          </a:prstGeom>
          <a:noFill/>
          <a:ln/>
        </p:spPr>
        <p:txBody>
          <a:bodyPr wrap="square" rtlCol="0" anchor="ctr"/>
          <a:lstStyle/>
          <a:p>
            <a:pPr algn="ctr" indent="0" marL="0">
              <a:buNone/>
            </a:pPr>
            <a:r>
              <a:rPr lang="en-US" sz="900" spc="400" kern="0" dirty="0">
                <a:solidFill>
                  <a:srgbClr val="8C6810"/>
                </a:solidFill>
                <a:latin typeface="Calibri" pitchFamily="34" charset="0"/>
                <a:ea typeface="Calibri" pitchFamily="34" charset="-122"/>
                <a:cs typeface="Calibri" pitchFamily="34" charset="-120"/>
              </a:rPr>
              <a:t>TLM site</a:t>
            </a:r>
            <a:endParaRPr lang="en-US" sz="900" dirty="0"/>
          </a:p>
        </p:txBody>
      </p:sp>
      <p:sp>
        <p:nvSpPr>
          <p:cNvPr id="8" name="Shape 6"/>
          <p:cNvSpPr/>
          <p:nvPr/>
        </p:nvSpPr>
        <p:spPr>
          <a:xfrm>
            <a:off x="3246120" y="1554480"/>
            <a:ext cx="2697480" cy="1371600"/>
          </a:xfrm>
          <a:prstGeom prst="roundRect">
            <a:avLst>
              <a:gd name="adj" fmla="val 6667"/>
            </a:avLst>
          </a:prstGeom>
          <a:solidFill>
            <a:srgbClr val="F8F4EA"/>
          </a:solidFill>
          <a:ln w="12700">
            <a:solidFill>
              <a:srgbClr val="E5DBC2"/>
            </a:solidFill>
            <a:prstDash val="solid"/>
          </a:ln>
        </p:spPr>
      </p:sp>
      <p:sp>
        <p:nvSpPr>
          <p:cNvPr id="9" name="Text 7"/>
          <p:cNvSpPr/>
          <p:nvPr/>
        </p:nvSpPr>
        <p:spPr>
          <a:xfrm>
            <a:off x="3337560" y="1691640"/>
            <a:ext cx="2514600" cy="640080"/>
          </a:xfrm>
          <a:prstGeom prst="rect">
            <a:avLst/>
          </a:prstGeom>
          <a:noFill/>
          <a:ln/>
        </p:spPr>
        <p:txBody>
          <a:bodyPr wrap="square" rtlCol="0" anchor="ctr"/>
          <a:lstStyle/>
          <a:p>
            <a:pPr algn="ctr" indent="0" marL="0">
              <a:buNone/>
            </a:pPr>
            <a:r>
              <a:rPr lang="en-US" sz="3000" b="1" dirty="0">
                <a:solidFill>
                  <a:srgbClr val="1F7A4D"/>
                </a:solidFill>
                <a:latin typeface="Georgia" pitchFamily="34" charset="0"/>
                <a:ea typeface="Georgia" pitchFamily="34" charset="-122"/>
                <a:cs typeface="Georgia" pitchFamily="34" charset="-120"/>
              </a:rPr>
              <a:t>1,000+</a:t>
            </a:r>
            <a:endParaRPr lang="en-US" sz="3000" dirty="0"/>
          </a:p>
        </p:txBody>
      </p:sp>
      <p:sp>
        <p:nvSpPr>
          <p:cNvPr id="10" name="Text 8"/>
          <p:cNvSpPr/>
          <p:nvPr/>
        </p:nvSpPr>
        <p:spPr>
          <a:xfrm>
            <a:off x="3337560" y="2331720"/>
            <a:ext cx="2514600" cy="320040"/>
          </a:xfrm>
          <a:prstGeom prst="rect">
            <a:avLst/>
          </a:prstGeom>
          <a:noFill/>
          <a:ln/>
        </p:spPr>
        <p:txBody>
          <a:bodyPr wrap="square" rtlCol="0" anchor="ctr"/>
          <a:lstStyle/>
          <a:p>
            <a:pPr algn="ctr" indent="0" marL="0">
              <a:buNone/>
            </a:pPr>
            <a:r>
              <a:rPr lang="en-US" sz="1100" dirty="0">
                <a:solidFill>
                  <a:srgbClr val="4A4A42"/>
                </a:solidFill>
                <a:latin typeface="Calibri" pitchFamily="34" charset="0"/>
                <a:ea typeface="Calibri" pitchFamily="34" charset="-122"/>
                <a:cs typeface="Calibri" pitchFamily="34" charset="-120"/>
              </a:rPr>
              <a:t>Returned citizens</a:t>
            </a:r>
            <a:endParaRPr lang="en-US" sz="1100" dirty="0"/>
          </a:p>
        </p:txBody>
      </p:sp>
      <p:sp>
        <p:nvSpPr>
          <p:cNvPr id="11" name="Text 9"/>
          <p:cNvSpPr/>
          <p:nvPr/>
        </p:nvSpPr>
        <p:spPr>
          <a:xfrm>
            <a:off x="3337560" y="2606040"/>
            <a:ext cx="2514600" cy="274320"/>
          </a:xfrm>
          <a:prstGeom prst="rect">
            <a:avLst/>
          </a:prstGeom>
          <a:noFill/>
          <a:ln/>
        </p:spPr>
        <p:txBody>
          <a:bodyPr wrap="square" rtlCol="0" anchor="ctr"/>
          <a:lstStyle/>
          <a:p>
            <a:pPr algn="ctr" indent="0" marL="0">
              <a:buNone/>
            </a:pPr>
            <a:r>
              <a:rPr lang="en-US" sz="900" spc="400" kern="0" dirty="0">
                <a:solidFill>
                  <a:srgbClr val="8C6810"/>
                </a:solidFill>
                <a:latin typeface="Calibri" pitchFamily="34" charset="0"/>
                <a:ea typeface="Calibri" pitchFamily="34" charset="-122"/>
                <a:cs typeface="Calibri" pitchFamily="34" charset="-120"/>
              </a:rPr>
              <a:t>TLM site</a:t>
            </a:r>
            <a:endParaRPr lang="en-US" sz="900" dirty="0"/>
          </a:p>
        </p:txBody>
      </p:sp>
      <p:sp>
        <p:nvSpPr>
          <p:cNvPr id="12" name="Shape 10"/>
          <p:cNvSpPr/>
          <p:nvPr/>
        </p:nvSpPr>
        <p:spPr>
          <a:xfrm>
            <a:off x="6035040" y="1554480"/>
            <a:ext cx="2697480" cy="1371600"/>
          </a:xfrm>
          <a:prstGeom prst="roundRect">
            <a:avLst>
              <a:gd name="adj" fmla="val 6667"/>
            </a:avLst>
          </a:prstGeom>
          <a:solidFill>
            <a:srgbClr val="F8F4EA"/>
          </a:solidFill>
          <a:ln w="12700">
            <a:solidFill>
              <a:srgbClr val="E5DBC2"/>
            </a:solidFill>
            <a:prstDash val="solid"/>
          </a:ln>
        </p:spPr>
      </p:sp>
      <p:sp>
        <p:nvSpPr>
          <p:cNvPr id="13" name="Text 11"/>
          <p:cNvSpPr/>
          <p:nvPr/>
        </p:nvSpPr>
        <p:spPr>
          <a:xfrm>
            <a:off x="6126480" y="1691640"/>
            <a:ext cx="2514600" cy="640080"/>
          </a:xfrm>
          <a:prstGeom prst="rect">
            <a:avLst/>
          </a:prstGeom>
          <a:noFill/>
          <a:ln/>
        </p:spPr>
        <p:txBody>
          <a:bodyPr wrap="square" rtlCol="0" anchor="ctr"/>
          <a:lstStyle/>
          <a:p>
            <a:pPr algn="ctr" indent="0" marL="0">
              <a:buNone/>
            </a:pPr>
            <a:r>
              <a:rPr lang="en-US" sz="3000" b="1" dirty="0">
                <a:solidFill>
                  <a:srgbClr val="1F7A4D"/>
                </a:solidFill>
                <a:latin typeface="Georgia" pitchFamily="34" charset="0"/>
                <a:ea typeface="Georgia" pitchFamily="34" charset="-122"/>
                <a:cs typeface="Georgia" pitchFamily="34" charset="-120"/>
              </a:rPr>
              <a:t>75%</a:t>
            </a:r>
            <a:endParaRPr lang="en-US" sz="3000" dirty="0"/>
          </a:p>
        </p:txBody>
      </p:sp>
      <p:sp>
        <p:nvSpPr>
          <p:cNvPr id="14" name="Text 12"/>
          <p:cNvSpPr/>
          <p:nvPr/>
        </p:nvSpPr>
        <p:spPr>
          <a:xfrm>
            <a:off x="6126480" y="2331720"/>
            <a:ext cx="2514600" cy="320040"/>
          </a:xfrm>
          <a:prstGeom prst="rect">
            <a:avLst/>
          </a:prstGeom>
          <a:noFill/>
          <a:ln/>
        </p:spPr>
        <p:txBody>
          <a:bodyPr wrap="square" rtlCol="0" anchor="ctr"/>
          <a:lstStyle/>
          <a:p>
            <a:pPr algn="ctr" indent="0" marL="0">
              <a:buNone/>
            </a:pPr>
            <a:r>
              <a:rPr lang="en-US" sz="1100" dirty="0">
                <a:solidFill>
                  <a:srgbClr val="4A4A42"/>
                </a:solidFill>
                <a:latin typeface="Calibri" pitchFamily="34" charset="0"/>
                <a:ea typeface="Calibri" pitchFamily="34" charset="-122"/>
                <a:cs typeface="Calibri" pitchFamily="34" charset="-120"/>
              </a:rPr>
              <a:t>Employment rate</a:t>
            </a:r>
            <a:endParaRPr lang="en-US" sz="1100" dirty="0"/>
          </a:p>
        </p:txBody>
      </p:sp>
      <p:sp>
        <p:nvSpPr>
          <p:cNvPr id="15" name="Text 13"/>
          <p:cNvSpPr/>
          <p:nvPr/>
        </p:nvSpPr>
        <p:spPr>
          <a:xfrm>
            <a:off x="6126480" y="2606040"/>
            <a:ext cx="2514600" cy="274320"/>
          </a:xfrm>
          <a:prstGeom prst="rect">
            <a:avLst/>
          </a:prstGeom>
          <a:noFill/>
          <a:ln/>
        </p:spPr>
        <p:txBody>
          <a:bodyPr wrap="square" rtlCol="0" anchor="ctr"/>
          <a:lstStyle/>
          <a:p>
            <a:pPr algn="ctr" indent="0" marL="0">
              <a:buNone/>
            </a:pPr>
            <a:r>
              <a:rPr lang="en-US" sz="900" spc="400" kern="0" dirty="0">
                <a:solidFill>
                  <a:srgbClr val="8C6810"/>
                </a:solidFill>
                <a:latin typeface="Calibri" pitchFamily="34" charset="0"/>
                <a:ea typeface="Calibri" pitchFamily="34" charset="-122"/>
                <a:cs typeface="Calibri" pitchFamily="34" charset="-120"/>
              </a:rPr>
              <a:t>TLM site</a:t>
            </a:r>
            <a:endParaRPr lang="en-US" sz="900" dirty="0"/>
          </a:p>
        </p:txBody>
      </p:sp>
      <p:sp>
        <p:nvSpPr>
          <p:cNvPr id="16" name="Shape 14"/>
          <p:cNvSpPr/>
          <p:nvPr/>
        </p:nvSpPr>
        <p:spPr>
          <a:xfrm>
            <a:off x="457200" y="3063240"/>
            <a:ext cx="2697480" cy="1371600"/>
          </a:xfrm>
          <a:prstGeom prst="roundRect">
            <a:avLst>
              <a:gd name="adj" fmla="val 6667"/>
            </a:avLst>
          </a:prstGeom>
          <a:solidFill>
            <a:srgbClr val="F8F4EA"/>
          </a:solidFill>
          <a:ln w="12700">
            <a:solidFill>
              <a:srgbClr val="E5DBC2"/>
            </a:solidFill>
            <a:prstDash val="solid"/>
          </a:ln>
        </p:spPr>
      </p:sp>
      <p:sp>
        <p:nvSpPr>
          <p:cNvPr id="17" name="Text 15"/>
          <p:cNvSpPr/>
          <p:nvPr/>
        </p:nvSpPr>
        <p:spPr>
          <a:xfrm>
            <a:off x="548640" y="3200400"/>
            <a:ext cx="2514600" cy="640080"/>
          </a:xfrm>
          <a:prstGeom prst="rect">
            <a:avLst/>
          </a:prstGeom>
          <a:noFill/>
          <a:ln/>
        </p:spPr>
        <p:txBody>
          <a:bodyPr wrap="square" rtlCol="0" anchor="ctr"/>
          <a:lstStyle/>
          <a:p>
            <a:pPr algn="ctr" indent="0" marL="0">
              <a:buNone/>
            </a:pPr>
            <a:r>
              <a:rPr lang="en-US" sz="3000" b="1" dirty="0">
                <a:solidFill>
                  <a:srgbClr val="1F7A4D"/>
                </a:solidFill>
                <a:latin typeface="Georgia" pitchFamily="34" charset="0"/>
                <a:ea typeface="Georgia" pitchFamily="34" charset="-122"/>
                <a:cs typeface="Georgia" pitchFamily="34" charset="-120"/>
              </a:rPr>
              <a:t>90%</a:t>
            </a:r>
            <a:endParaRPr lang="en-US" sz="3000" dirty="0"/>
          </a:p>
        </p:txBody>
      </p:sp>
      <p:sp>
        <p:nvSpPr>
          <p:cNvPr id="18" name="Text 16"/>
          <p:cNvSpPr/>
          <p:nvPr/>
        </p:nvSpPr>
        <p:spPr>
          <a:xfrm>
            <a:off x="548640" y="3840480"/>
            <a:ext cx="2514600" cy="320040"/>
          </a:xfrm>
          <a:prstGeom prst="rect">
            <a:avLst/>
          </a:prstGeom>
          <a:noFill/>
          <a:ln/>
        </p:spPr>
        <p:txBody>
          <a:bodyPr wrap="square" rtlCol="0" anchor="ctr"/>
          <a:lstStyle/>
          <a:p>
            <a:pPr algn="ctr" indent="0" marL="0">
              <a:buNone/>
            </a:pPr>
            <a:r>
              <a:rPr lang="en-US" sz="1100" dirty="0">
                <a:solidFill>
                  <a:srgbClr val="4A4A42"/>
                </a:solidFill>
                <a:latin typeface="Calibri" pitchFamily="34" charset="0"/>
                <a:ea typeface="Calibri" pitchFamily="34" charset="-122"/>
                <a:cs typeface="Calibri" pitchFamily="34" charset="-120"/>
              </a:rPr>
              <a:t>Pursue further education</a:t>
            </a:r>
            <a:endParaRPr lang="en-US" sz="1100" dirty="0"/>
          </a:p>
        </p:txBody>
      </p:sp>
      <p:sp>
        <p:nvSpPr>
          <p:cNvPr id="19" name="Text 17"/>
          <p:cNvSpPr/>
          <p:nvPr/>
        </p:nvSpPr>
        <p:spPr>
          <a:xfrm>
            <a:off x="548640" y="4114800"/>
            <a:ext cx="2514600" cy="274320"/>
          </a:xfrm>
          <a:prstGeom prst="rect">
            <a:avLst/>
          </a:prstGeom>
          <a:noFill/>
          <a:ln/>
        </p:spPr>
        <p:txBody>
          <a:bodyPr wrap="square" rtlCol="0" anchor="ctr"/>
          <a:lstStyle/>
          <a:p>
            <a:pPr algn="ctr" indent="0" marL="0">
              <a:buNone/>
            </a:pPr>
            <a:r>
              <a:rPr lang="en-US" sz="900" spc="400" kern="0" dirty="0">
                <a:solidFill>
                  <a:srgbClr val="8C6810"/>
                </a:solidFill>
                <a:latin typeface="Calibri" pitchFamily="34" charset="0"/>
                <a:ea typeface="Calibri" pitchFamily="34" charset="-122"/>
                <a:cs typeface="Calibri" pitchFamily="34" charset="-120"/>
              </a:rPr>
              <a:t>TLM site</a:t>
            </a:r>
            <a:endParaRPr lang="en-US" sz="900" dirty="0"/>
          </a:p>
        </p:txBody>
      </p:sp>
      <p:sp>
        <p:nvSpPr>
          <p:cNvPr id="20" name="Shape 18"/>
          <p:cNvSpPr/>
          <p:nvPr/>
        </p:nvSpPr>
        <p:spPr>
          <a:xfrm>
            <a:off x="3246120" y="3063240"/>
            <a:ext cx="2697480" cy="1371600"/>
          </a:xfrm>
          <a:prstGeom prst="roundRect">
            <a:avLst>
              <a:gd name="adj" fmla="val 6667"/>
            </a:avLst>
          </a:prstGeom>
          <a:solidFill>
            <a:srgbClr val="F8F4EA"/>
          </a:solidFill>
          <a:ln w="12700">
            <a:solidFill>
              <a:srgbClr val="E5DBC2"/>
            </a:solidFill>
            <a:prstDash val="solid"/>
          </a:ln>
        </p:spPr>
      </p:sp>
      <p:sp>
        <p:nvSpPr>
          <p:cNvPr id="21" name="Text 19"/>
          <p:cNvSpPr/>
          <p:nvPr/>
        </p:nvSpPr>
        <p:spPr>
          <a:xfrm>
            <a:off x="3337560" y="3200400"/>
            <a:ext cx="2514600" cy="640080"/>
          </a:xfrm>
          <a:prstGeom prst="rect">
            <a:avLst/>
          </a:prstGeom>
          <a:noFill/>
          <a:ln/>
        </p:spPr>
        <p:txBody>
          <a:bodyPr wrap="square" rtlCol="0" anchor="ctr"/>
          <a:lstStyle/>
          <a:p>
            <a:pPr algn="ctr" indent="0" marL="0">
              <a:buNone/>
            </a:pPr>
            <a:r>
              <a:rPr lang="en-US" sz="3000" b="1" dirty="0">
                <a:solidFill>
                  <a:srgbClr val="1F7A4D"/>
                </a:solidFill>
                <a:latin typeface="Georgia" pitchFamily="34" charset="0"/>
                <a:ea typeface="Georgia" pitchFamily="34" charset="-122"/>
                <a:cs typeface="Georgia" pitchFamily="34" charset="-120"/>
              </a:rPr>
              <a:t>&lt;5%</a:t>
            </a:r>
            <a:endParaRPr lang="en-US" sz="3000" dirty="0"/>
          </a:p>
        </p:txBody>
      </p:sp>
      <p:sp>
        <p:nvSpPr>
          <p:cNvPr id="22" name="Text 20"/>
          <p:cNvSpPr/>
          <p:nvPr/>
        </p:nvSpPr>
        <p:spPr>
          <a:xfrm>
            <a:off x="3337560" y="3840480"/>
            <a:ext cx="2514600" cy="320040"/>
          </a:xfrm>
          <a:prstGeom prst="rect">
            <a:avLst/>
          </a:prstGeom>
          <a:noFill/>
          <a:ln/>
        </p:spPr>
        <p:txBody>
          <a:bodyPr wrap="square" rtlCol="0" anchor="ctr"/>
          <a:lstStyle/>
          <a:p>
            <a:pPr algn="ctr" indent="0" marL="0">
              <a:buNone/>
            </a:pPr>
            <a:r>
              <a:rPr lang="en-US" sz="1100" dirty="0">
                <a:solidFill>
                  <a:srgbClr val="4A4A42"/>
                </a:solidFill>
                <a:latin typeface="Calibri" pitchFamily="34" charset="0"/>
                <a:ea typeface="Calibri" pitchFamily="34" charset="-122"/>
                <a:cs typeface="Calibri" pitchFamily="34" charset="-120"/>
              </a:rPr>
              <a:t>Recidivism (TLM)</a:t>
            </a:r>
            <a:endParaRPr lang="en-US" sz="1100" dirty="0"/>
          </a:p>
        </p:txBody>
      </p:sp>
      <p:sp>
        <p:nvSpPr>
          <p:cNvPr id="23" name="Text 21"/>
          <p:cNvSpPr/>
          <p:nvPr/>
        </p:nvSpPr>
        <p:spPr>
          <a:xfrm>
            <a:off x="3337560" y="4114800"/>
            <a:ext cx="2514600" cy="274320"/>
          </a:xfrm>
          <a:prstGeom prst="rect">
            <a:avLst/>
          </a:prstGeom>
          <a:noFill/>
          <a:ln/>
        </p:spPr>
        <p:txBody>
          <a:bodyPr wrap="square" rtlCol="0" anchor="ctr"/>
          <a:lstStyle/>
          <a:p>
            <a:pPr algn="ctr" indent="0" marL="0">
              <a:buNone/>
            </a:pPr>
            <a:r>
              <a:rPr lang="en-US" sz="900" spc="400" kern="0" dirty="0">
                <a:solidFill>
                  <a:srgbClr val="8C6810"/>
                </a:solidFill>
                <a:latin typeface="Calibri" pitchFamily="34" charset="0"/>
                <a:ea typeface="Calibri" pitchFamily="34" charset="-122"/>
                <a:cs typeface="Calibri" pitchFamily="34" charset="-120"/>
              </a:rPr>
              <a:t>TLM site</a:t>
            </a:r>
            <a:endParaRPr lang="en-US" sz="900" dirty="0"/>
          </a:p>
        </p:txBody>
      </p:sp>
      <p:sp>
        <p:nvSpPr>
          <p:cNvPr id="24" name="Shape 22"/>
          <p:cNvSpPr/>
          <p:nvPr/>
        </p:nvSpPr>
        <p:spPr>
          <a:xfrm>
            <a:off x="6035040" y="3063240"/>
            <a:ext cx="2697480" cy="1371600"/>
          </a:xfrm>
          <a:prstGeom prst="roundRect">
            <a:avLst>
              <a:gd name="adj" fmla="val 6667"/>
            </a:avLst>
          </a:prstGeom>
          <a:solidFill>
            <a:srgbClr val="F8F4EA"/>
          </a:solidFill>
          <a:ln w="12700">
            <a:solidFill>
              <a:srgbClr val="E5DBC2"/>
            </a:solidFill>
            <a:prstDash val="solid"/>
          </a:ln>
        </p:spPr>
      </p:sp>
      <p:sp>
        <p:nvSpPr>
          <p:cNvPr id="25" name="Text 23"/>
          <p:cNvSpPr/>
          <p:nvPr/>
        </p:nvSpPr>
        <p:spPr>
          <a:xfrm>
            <a:off x="6126480" y="3200400"/>
            <a:ext cx="2514600" cy="640080"/>
          </a:xfrm>
          <a:prstGeom prst="rect">
            <a:avLst/>
          </a:prstGeom>
          <a:noFill/>
          <a:ln/>
        </p:spPr>
        <p:txBody>
          <a:bodyPr wrap="square" rtlCol="0" anchor="ctr"/>
          <a:lstStyle/>
          <a:p>
            <a:pPr algn="ctr" indent="0" marL="0">
              <a:buNone/>
            </a:pPr>
            <a:r>
              <a:rPr lang="en-US" sz="3000" b="1" dirty="0">
                <a:solidFill>
                  <a:srgbClr val="1F7A4D"/>
                </a:solidFill>
                <a:latin typeface="Georgia" pitchFamily="34" charset="0"/>
                <a:ea typeface="Georgia" pitchFamily="34" charset="-122"/>
                <a:cs typeface="Georgia" pitchFamily="34" charset="-120"/>
              </a:rPr>
              <a:t>13</a:t>
            </a:r>
            <a:endParaRPr lang="en-US" sz="3000" dirty="0"/>
          </a:p>
        </p:txBody>
      </p:sp>
      <p:sp>
        <p:nvSpPr>
          <p:cNvPr id="26" name="Text 24"/>
          <p:cNvSpPr/>
          <p:nvPr/>
        </p:nvSpPr>
        <p:spPr>
          <a:xfrm>
            <a:off x="6126480" y="3840480"/>
            <a:ext cx="2514600" cy="320040"/>
          </a:xfrm>
          <a:prstGeom prst="rect">
            <a:avLst/>
          </a:prstGeom>
          <a:noFill/>
          <a:ln/>
        </p:spPr>
        <p:txBody>
          <a:bodyPr wrap="square" rtlCol="0" anchor="ctr"/>
          <a:lstStyle/>
          <a:p>
            <a:pPr algn="ctr" indent="0" marL="0">
              <a:buNone/>
            </a:pPr>
            <a:r>
              <a:rPr lang="en-US" sz="1100" dirty="0">
                <a:solidFill>
                  <a:srgbClr val="4A4A42"/>
                </a:solidFill>
                <a:latin typeface="Calibri" pitchFamily="34" charset="0"/>
                <a:ea typeface="Calibri" pitchFamily="34" charset="-122"/>
                <a:cs typeface="Calibri" pitchFamily="34" charset="-120"/>
              </a:rPr>
              <a:t>Facilities · 8 states</a:t>
            </a:r>
            <a:endParaRPr lang="en-US" sz="1100" dirty="0"/>
          </a:p>
        </p:txBody>
      </p:sp>
      <p:sp>
        <p:nvSpPr>
          <p:cNvPr id="27" name="Text 25"/>
          <p:cNvSpPr/>
          <p:nvPr/>
        </p:nvSpPr>
        <p:spPr>
          <a:xfrm>
            <a:off x="6126480" y="4114800"/>
            <a:ext cx="2514600" cy="274320"/>
          </a:xfrm>
          <a:prstGeom prst="rect">
            <a:avLst/>
          </a:prstGeom>
          <a:noFill/>
          <a:ln/>
        </p:spPr>
        <p:txBody>
          <a:bodyPr wrap="square" rtlCol="0" anchor="ctr"/>
          <a:lstStyle/>
          <a:p>
            <a:pPr algn="ctr" indent="0" marL="0">
              <a:buNone/>
            </a:pPr>
            <a:r>
              <a:rPr lang="en-US" sz="900" spc="400" kern="0" dirty="0">
                <a:solidFill>
                  <a:srgbClr val="8C6810"/>
                </a:solidFill>
                <a:latin typeface="Calibri" pitchFamily="34" charset="0"/>
                <a:ea typeface="Calibri" pitchFamily="34" charset="-122"/>
                <a:cs typeface="Calibri" pitchFamily="34" charset="-120"/>
              </a:rPr>
              <a:t>TLM site</a:t>
            </a:r>
            <a:endParaRPr lang="en-US" sz="900" dirty="0"/>
          </a:p>
        </p:txBody>
      </p:sp>
      <p:sp>
        <p:nvSpPr>
          <p:cNvPr id="28" name="Text 26"/>
          <p:cNvSpPr/>
          <p:nvPr/>
        </p:nvSpPr>
        <p:spPr>
          <a:xfrm>
            <a:off x="457200" y="4617720"/>
            <a:ext cx="8229600" cy="274320"/>
          </a:xfrm>
          <a:prstGeom prst="rect">
            <a:avLst/>
          </a:prstGeom>
          <a:noFill/>
          <a:ln/>
        </p:spPr>
        <p:txBody>
          <a:bodyPr wrap="square" rtlCol="0" anchor="ctr"/>
          <a:lstStyle/>
          <a:p>
            <a:pPr algn="ctr" indent="0" marL="0">
              <a:buNone/>
            </a:pPr>
            <a:r>
              <a:rPr lang="en-US" sz="900" i="1" dirty="0">
                <a:solidFill>
                  <a:srgbClr val="888888"/>
                </a:solidFill>
                <a:latin typeface="Calibri" pitchFamily="34" charset="0"/>
                <a:ea typeface="Calibri" pitchFamily="34" charset="-122"/>
                <a:cs typeface="Calibri" pitchFamily="34" charset="-120"/>
              </a:rPr>
              <a:t>Sources: live thelastmile.org as captured today · TLM 2024 + 2025 Annual Reports.</a:t>
            </a:r>
            <a:endParaRPr lang="en-US" sz="900" dirty="0"/>
          </a:p>
        </p:txBody>
      </p:sp>
      <p:sp>
        <p:nvSpPr>
          <p:cNvPr id="29" name="Text 27"/>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22 / 30</a:t>
            </a:r>
            <a:endParaRPr lang="en-US" sz="900" dirty="0"/>
          </a:p>
        </p:txBody>
      </p:sp>
      <p:sp>
        <p:nvSpPr>
          <p:cNvPr id="30" name="Text 28"/>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DAA520"/>
                </a:solidFill>
                <a:latin typeface="Calibri" pitchFamily="34" charset="0"/>
                <a:ea typeface="Calibri" pitchFamily="34" charset="-122"/>
                <a:cs typeface="Calibri" pitchFamily="34" charset="-120"/>
              </a:rPr>
              <a:t>WHY APPROVE</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3000" b="1" dirty="0">
                <a:solidFill>
                  <a:srgbClr val="FAF7EE"/>
                </a:solidFill>
                <a:latin typeface="Georgia" pitchFamily="34" charset="0"/>
                <a:ea typeface="Georgia" pitchFamily="34" charset="-122"/>
                <a:cs typeface="Georgia" pitchFamily="34" charset="-120"/>
              </a:rPr>
              <a:t>The case for partnership.</a:t>
            </a:r>
            <a:endParaRPr lang="en-US" sz="3000" dirty="0"/>
          </a:p>
        </p:txBody>
      </p:sp>
      <p:sp>
        <p:nvSpPr>
          <p:cNvPr id="4" name="Shape 2"/>
          <p:cNvSpPr/>
          <p:nvPr/>
        </p:nvSpPr>
        <p:spPr>
          <a:xfrm>
            <a:off x="548640" y="1527048"/>
            <a:ext cx="384048" cy="384048"/>
          </a:xfrm>
          <a:prstGeom prst="ellipse">
            <a:avLst/>
          </a:prstGeom>
          <a:solidFill>
            <a:srgbClr val="FFD970"/>
          </a:solidFill>
          <a:ln w="12700">
            <a:solidFill>
              <a:srgbClr val="FFD970"/>
            </a:solidFill>
            <a:prstDash val="solid"/>
          </a:ln>
        </p:spPr>
      </p:sp>
      <p:sp>
        <p:nvSpPr>
          <p:cNvPr id="5" name="Text 3"/>
          <p:cNvSpPr/>
          <p:nvPr/>
        </p:nvSpPr>
        <p:spPr>
          <a:xfrm>
            <a:off x="548640" y="1527048"/>
            <a:ext cx="384048" cy="384048"/>
          </a:xfrm>
          <a:prstGeom prst="rect">
            <a:avLst/>
          </a:prstGeom>
          <a:noFill/>
          <a:ln/>
        </p:spPr>
        <p:txBody>
          <a:bodyPr wrap="square" rtlCol="0" anchor="ctr"/>
          <a:lstStyle/>
          <a:p>
            <a:pPr algn="ctr" indent="0" marL="0">
              <a:buNone/>
            </a:pPr>
            <a:r>
              <a:rPr lang="en-US" sz="1800" b="1" dirty="0">
                <a:solidFill>
                  <a:srgbClr val="0E0E0E"/>
                </a:solidFill>
                <a:latin typeface="Georgia" pitchFamily="34" charset="0"/>
                <a:ea typeface="Georgia" pitchFamily="34" charset="-122"/>
                <a:cs typeface="Georgia" pitchFamily="34" charset="-120"/>
              </a:rPr>
              <a:t>✓</a:t>
            </a:r>
            <a:endParaRPr lang="en-US" sz="1800" dirty="0"/>
          </a:p>
        </p:txBody>
      </p:sp>
      <p:sp>
        <p:nvSpPr>
          <p:cNvPr id="6" name="Text 4"/>
          <p:cNvSpPr/>
          <p:nvPr/>
        </p:nvSpPr>
        <p:spPr>
          <a:xfrm>
            <a:off x="1143000" y="1463040"/>
            <a:ext cx="7315200" cy="292608"/>
          </a:xfrm>
          <a:prstGeom prst="rect">
            <a:avLst/>
          </a:prstGeom>
          <a:noFill/>
          <a:ln/>
        </p:spPr>
        <p:txBody>
          <a:bodyPr wrap="square" rtlCol="0" anchor="ctr"/>
          <a:lstStyle/>
          <a:p>
            <a:pPr indent="0" marL="0">
              <a:buNone/>
            </a:pPr>
            <a:r>
              <a:rPr lang="en-US" sz="1600" b="1" dirty="0">
                <a:solidFill>
                  <a:srgbClr val="FAF7EE"/>
                </a:solidFill>
                <a:latin typeface="Calibri" pitchFamily="34" charset="0"/>
                <a:ea typeface="Calibri" pitchFamily="34" charset="-122"/>
                <a:cs typeface="Calibri" pitchFamily="34" charset="-120"/>
              </a:rPr>
              <a:t>Quietly real gap</a:t>
            </a:r>
            <a:endParaRPr lang="en-US" sz="1600" dirty="0"/>
          </a:p>
        </p:txBody>
      </p:sp>
      <p:sp>
        <p:nvSpPr>
          <p:cNvPr id="7" name="Text 5"/>
          <p:cNvSpPr/>
          <p:nvPr/>
        </p:nvSpPr>
        <p:spPr>
          <a:xfrm>
            <a:off x="1143000" y="1755648"/>
            <a:ext cx="7315200" cy="365760"/>
          </a:xfrm>
          <a:prstGeom prst="rect">
            <a:avLst/>
          </a:prstGeom>
          <a:noFill/>
          <a:ln/>
        </p:spPr>
        <p:txBody>
          <a:bodyPr wrap="square" rtlCol="0" anchor="ctr"/>
          <a:lstStyle/>
          <a:p>
            <a:pPr indent="0" marL="0">
              <a:buNone/>
            </a:pPr>
            <a:r>
              <a:rPr lang="en-US" sz="1200" dirty="0">
                <a:solidFill>
                  <a:srgbClr val="B5B0A8"/>
                </a:solidFill>
                <a:latin typeface="Calibri" pitchFamily="34" charset="0"/>
                <a:ea typeface="Calibri" pitchFamily="34" charset="-122"/>
                <a:cs typeface="Calibri" pitchFamily="34" charset="-120"/>
              </a:rPr>
              <a:t>No consumer-grade money planner exists for the reentry window. This is one.</a:t>
            </a:r>
            <a:endParaRPr lang="en-US" sz="1200" dirty="0"/>
          </a:p>
        </p:txBody>
      </p:sp>
      <p:sp>
        <p:nvSpPr>
          <p:cNvPr id="8" name="Shape 6"/>
          <p:cNvSpPr/>
          <p:nvPr/>
        </p:nvSpPr>
        <p:spPr>
          <a:xfrm>
            <a:off x="548640" y="2167128"/>
            <a:ext cx="384048" cy="384048"/>
          </a:xfrm>
          <a:prstGeom prst="ellipse">
            <a:avLst/>
          </a:prstGeom>
          <a:solidFill>
            <a:srgbClr val="FFD970"/>
          </a:solidFill>
          <a:ln w="12700">
            <a:solidFill>
              <a:srgbClr val="FFD970"/>
            </a:solidFill>
            <a:prstDash val="solid"/>
          </a:ln>
        </p:spPr>
      </p:sp>
      <p:sp>
        <p:nvSpPr>
          <p:cNvPr id="9" name="Text 7"/>
          <p:cNvSpPr/>
          <p:nvPr/>
        </p:nvSpPr>
        <p:spPr>
          <a:xfrm>
            <a:off x="548640" y="2167128"/>
            <a:ext cx="384048" cy="384048"/>
          </a:xfrm>
          <a:prstGeom prst="rect">
            <a:avLst/>
          </a:prstGeom>
          <a:noFill/>
          <a:ln/>
        </p:spPr>
        <p:txBody>
          <a:bodyPr wrap="square" rtlCol="0" anchor="ctr"/>
          <a:lstStyle/>
          <a:p>
            <a:pPr algn="ctr" indent="0" marL="0">
              <a:buNone/>
            </a:pPr>
            <a:r>
              <a:rPr lang="en-US" sz="1800" b="1" dirty="0">
                <a:solidFill>
                  <a:srgbClr val="0E0E0E"/>
                </a:solidFill>
                <a:latin typeface="Georgia" pitchFamily="34" charset="0"/>
                <a:ea typeface="Georgia" pitchFamily="34" charset="-122"/>
                <a:cs typeface="Georgia" pitchFamily="34" charset="-120"/>
              </a:rPr>
              <a:t>✓</a:t>
            </a:r>
            <a:endParaRPr lang="en-US" sz="1800" dirty="0"/>
          </a:p>
        </p:txBody>
      </p:sp>
      <p:sp>
        <p:nvSpPr>
          <p:cNvPr id="10" name="Text 8"/>
          <p:cNvSpPr/>
          <p:nvPr/>
        </p:nvSpPr>
        <p:spPr>
          <a:xfrm>
            <a:off x="1143000" y="2103120"/>
            <a:ext cx="7315200" cy="292608"/>
          </a:xfrm>
          <a:prstGeom prst="rect">
            <a:avLst/>
          </a:prstGeom>
          <a:noFill/>
          <a:ln/>
        </p:spPr>
        <p:txBody>
          <a:bodyPr wrap="square" rtlCol="0" anchor="ctr"/>
          <a:lstStyle/>
          <a:p>
            <a:pPr indent="0" marL="0">
              <a:buNone/>
            </a:pPr>
            <a:r>
              <a:rPr lang="en-US" sz="1600" b="1" dirty="0">
                <a:solidFill>
                  <a:srgbClr val="FAF7EE"/>
                </a:solidFill>
                <a:latin typeface="Calibri" pitchFamily="34" charset="0"/>
                <a:ea typeface="Calibri" pitchFamily="34" charset="-122"/>
                <a:cs typeface="Calibri" pitchFamily="34" charset="-120"/>
              </a:rPr>
              <a:t>Honors the population</a:t>
            </a:r>
            <a:endParaRPr lang="en-US" sz="1600" dirty="0"/>
          </a:p>
        </p:txBody>
      </p:sp>
      <p:sp>
        <p:nvSpPr>
          <p:cNvPr id="11" name="Text 9"/>
          <p:cNvSpPr/>
          <p:nvPr/>
        </p:nvSpPr>
        <p:spPr>
          <a:xfrm>
            <a:off x="1143000" y="2395728"/>
            <a:ext cx="7315200" cy="365760"/>
          </a:xfrm>
          <a:prstGeom prst="rect">
            <a:avLst/>
          </a:prstGeom>
          <a:noFill/>
          <a:ln/>
        </p:spPr>
        <p:txBody>
          <a:bodyPr wrap="square" rtlCol="0" anchor="ctr"/>
          <a:lstStyle/>
          <a:p>
            <a:pPr indent="0" marL="0">
              <a:buNone/>
            </a:pPr>
            <a:r>
              <a:rPr lang="en-US" sz="1200" dirty="0">
                <a:solidFill>
                  <a:srgbClr val="B5B0A8"/>
                </a:solidFill>
                <a:latin typeface="Calibri" pitchFamily="34" charset="0"/>
                <a:ea typeface="Calibri" pitchFamily="34" charset="-122"/>
                <a:cs typeface="Calibri" pitchFamily="34" charset="-120"/>
              </a:rPr>
              <a:t>6th-grade reading level. Zero analytics. No dark patterns. Plan stays on-device.</a:t>
            </a:r>
            <a:endParaRPr lang="en-US" sz="1200" dirty="0"/>
          </a:p>
        </p:txBody>
      </p:sp>
      <p:sp>
        <p:nvSpPr>
          <p:cNvPr id="12" name="Shape 10"/>
          <p:cNvSpPr/>
          <p:nvPr/>
        </p:nvSpPr>
        <p:spPr>
          <a:xfrm>
            <a:off x="548640" y="2807208"/>
            <a:ext cx="384048" cy="384048"/>
          </a:xfrm>
          <a:prstGeom prst="ellipse">
            <a:avLst/>
          </a:prstGeom>
          <a:solidFill>
            <a:srgbClr val="FFD970"/>
          </a:solidFill>
          <a:ln w="12700">
            <a:solidFill>
              <a:srgbClr val="FFD970"/>
            </a:solidFill>
            <a:prstDash val="solid"/>
          </a:ln>
        </p:spPr>
      </p:sp>
      <p:sp>
        <p:nvSpPr>
          <p:cNvPr id="13" name="Text 11"/>
          <p:cNvSpPr/>
          <p:nvPr/>
        </p:nvSpPr>
        <p:spPr>
          <a:xfrm>
            <a:off x="548640" y="2807208"/>
            <a:ext cx="384048" cy="384048"/>
          </a:xfrm>
          <a:prstGeom prst="rect">
            <a:avLst/>
          </a:prstGeom>
          <a:noFill/>
          <a:ln/>
        </p:spPr>
        <p:txBody>
          <a:bodyPr wrap="square" rtlCol="0" anchor="ctr"/>
          <a:lstStyle/>
          <a:p>
            <a:pPr algn="ctr" indent="0" marL="0">
              <a:buNone/>
            </a:pPr>
            <a:r>
              <a:rPr lang="en-US" sz="1800" b="1" dirty="0">
                <a:solidFill>
                  <a:srgbClr val="0E0E0E"/>
                </a:solidFill>
                <a:latin typeface="Georgia" pitchFamily="34" charset="0"/>
                <a:ea typeface="Georgia" pitchFamily="34" charset="-122"/>
                <a:cs typeface="Georgia" pitchFamily="34" charset="-120"/>
              </a:rPr>
              <a:t>✓</a:t>
            </a:r>
            <a:endParaRPr lang="en-US" sz="1800" dirty="0"/>
          </a:p>
        </p:txBody>
      </p:sp>
      <p:sp>
        <p:nvSpPr>
          <p:cNvPr id="14" name="Text 12"/>
          <p:cNvSpPr/>
          <p:nvPr/>
        </p:nvSpPr>
        <p:spPr>
          <a:xfrm>
            <a:off x="1143000" y="2743200"/>
            <a:ext cx="7315200" cy="292608"/>
          </a:xfrm>
          <a:prstGeom prst="rect">
            <a:avLst/>
          </a:prstGeom>
          <a:noFill/>
          <a:ln/>
        </p:spPr>
        <p:txBody>
          <a:bodyPr wrap="square" rtlCol="0" anchor="ctr"/>
          <a:lstStyle/>
          <a:p>
            <a:pPr indent="0" marL="0">
              <a:buNone/>
            </a:pPr>
            <a:r>
              <a:rPr lang="en-US" sz="1600" b="1" dirty="0">
                <a:solidFill>
                  <a:srgbClr val="FAF7EE"/>
                </a:solidFill>
                <a:latin typeface="Calibri" pitchFamily="34" charset="0"/>
                <a:ea typeface="Calibri" pitchFamily="34" charset="-122"/>
                <a:cs typeface="Calibri" pitchFamily="34" charset="-120"/>
              </a:rPr>
              <a:t>Complete, not a prototype</a:t>
            </a:r>
            <a:endParaRPr lang="en-US" sz="1600" dirty="0"/>
          </a:p>
        </p:txBody>
      </p:sp>
      <p:sp>
        <p:nvSpPr>
          <p:cNvPr id="15" name="Text 13"/>
          <p:cNvSpPr/>
          <p:nvPr/>
        </p:nvSpPr>
        <p:spPr>
          <a:xfrm>
            <a:off x="1143000" y="3035808"/>
            <a:ext cx="7315200" cy="365760"/>
          </a:xfrm>
          <a:prstGeom prst="rect">
            <a:avLst/>
          </a:prstGeom>
          <a:noFill/>
          <a:ln/>
        </p:spPr>
        <p:txBody>
          <a:bodyPr wrap="square" rtlCol="0" anchor="ctr"/>
          <a:lstStyle/>
          <a:p>
            <a:pPr indent="0" marL="0">
              <a:buNone/>
            </a:pPr>
            <a:r>
              <a:rPr lang="en-US" sz="1200" dirty="0">
                <a:solidFill>
                  <a:srgbClr val="B5B0A8"/>
                </a:solidFill>
                <a:latin typeface="Calibri" pitchFamily="34" charset="0"/>
                <a:ea typeface="Calibri" pitchFamily="34" charset="-122"/>
                <a:cs typeface="Calibri" pitchFamily="34" charset="-120"/>
              </a:rPr>
              <a:t>13 pages · a11y audit passed · password-gated admin · CSP-hardened · offline-capable · 13-LLM rotation.</a:t>
            </a:r>
            <a:endParaRPr lang="en-US" sz="1200" dirty="0"/>
          </a:p>
        </p:txBody>
      </p:sp>
      <p:sp>
        <p:nvSpPr>
          <p:cNvPr id="16" name="Shape 14"/>
          <p:cNvSpPr/>
          <p:nvPr/>
        </p:nvSpPr>
        <p:spPr>
          <a:xfrm>
            <a:off x="548640" y="3447288"/>
            <a:ext cx="384048" cy="384048"/>
          </a:xfrm>
          <a:prstGeom prst="ellipse">
            <a:avLst/>
          </a:prstGeom>
          <a:solidFill>
            <a:srgbClr val="FFD970"/>
          </a:solidFill>
          <a:ln w="12700">
            <a:solidFill>
              <a:srgbClr val="FFD970"/>
            </a:solidFill>
            <a:prstDash val="solid"/>
          </a:ln>
        </p:spPr>
      </p:sp>
      <p:sp>
        <p:nvSpPr>
          <p:cNvPr id="17" name="Text 15"/>
          <p:cNvSpPr/>
          <p:nvPr/>
        </p:nvSpPr>
        <p:spPr>
          <a:xfrm>
            <a:off x="548640" y="3447288"/>
            <a:ext cx="384048" cy="384048"/>
          </a:xfrm>
          <a:prstGeom prst="rect">
            <a:avLst/>
          </a:prstGeom>
          <a:noFill/>
          <a:ln/>
        </p:spPr>
        <p:txBody>
          <a:bodyPr wrap="square" rtlCol="0" anchor="ctr"/>
          <a:lstStyle/>
          <a:p>
            <a:pPr algn="ctr" indent="0" marL="0">
              <a:buNone/>
            </a:pPr>
            <a:r>
              <a:rPr lang="en-US" sz="1800" b="1" dirty="0">
                <a:solidFill>
                  <a:srgbClr val="0E0E0E"/>
                </a:solidFill>
                <a:latin typeface="Georgia" pitchFamily="34" charset="0"/>
                <a:ea typeface="Georgia" pitchFamily="34" charset="-122"/>
                <a:cs typeface="Georgia" pitchFamily="34" charset="-120"/>
              </a:rPr>
              <a:t>✓</a:t>
            </a:r>
            <a:endParaRPr lang="en-US" sz="1800" dirty="0"/>
          </a:p>
        </p:txBody>
      </p:sp>
      <p:sp>
        <p:nvSpPr>
          <p:cNvPr id="18" name="Text 16"/>
          <p:cNvSpPr/>
          <p:nvPr/>
        </p:nvSpPr>
        <p:spPr>
          <a:xfrm>
            <a:off x="1143000" y="3383280"/>
            <a:ext cx="7315200" cy="292608"/>
          </a:xfrm>
          <a:prstGeom prst="rect">
            <a:avLst/>
          </a:prstGeom>
          <a:noFill/>
          <a:ln/>
        </p:spPr>
        <p:txBody>
          <a:bodyPr wrap="square" rtlCol="0" anchor="ctr"/>
          <a:lstStyle/>
          <a:p>
            <a:pPr indent="0" marL="0">
              <a:buNone/>
            </a:pPr>
            <a:r>
              <a:rPr lang="en-US" sz="1600" b="1" dirty="0">
                <a:solidFill>
                  <a:srgbClr val="FAF7EE"/>
                </a:solidFill>
                <a:latin typeface="Calibri" pitchFamily="34" charset="0"/>
                <a:ea typeface="Calibri" pitchFamily="34" charset="-122"/>
                <a:cs typeface="Calibri" pitchFamily="34" charset="-120"/>
              </a:rPr>
              <a:t>Cheap to operate</a:t>
            </a:r>
            <a:endParaRPr lang="en-US" sz="1600" dirty="0"/>
          </a:p>
        </p:txBody>
      </p:sp>
      <p:sp>
        <p:nvSpPr>
          <p:cNvPr id="19" name="Text 17"/>
          <p:cNvSpPr/>
          <p:nvPr/>
        </p:nvSpPr>
        <p:spPr>
          <a:xfrm>
            <a:off x="1143000" y="3675888"/>
            <a:ext cx="7315200" cy="365760"/>
          </a:xfrm>
          <a:prstGeom prst="rect">
            <a:avLst/>
          </a:prstGeom>
          <a:noFill/>
          <a:ln/>
        </p:spPr>
        <p:txBody>
          <a:bodyPr wrap="square" rtlCol="0" anchor="ctr"/>
          <a:lstStyle/>
          <a:p>
            <a:pPr indent="0" marL="0">
              <a:buNone/>
            </a:pPr>
            <a:r>
              <a:rPr lang="en-US" sz="1200" dirty="0">
                <a:solidFill>
                  <a:srgbClr val="B5B0A8"/>
                </a:solidFill>
                <a:latin typeface="Calibri" pitchFamily="34" charset="0"/>
                <a:ea typeface="Calibri" pitchFamily="34" charset="-122"/>
                <a:cs typeface="Calibri" pitchFamily="34" charset="-120"/>
              </a:rPr>
              <a:t>Static hosting + Supabase free tier + a single Netlify function.</a:t>
            </a:r>
            <a:endParaRPr lang="en-US" sz="1200" dirty="0"/>
          </a:p>
        </p:txBody>
      </p:sp>
      <p:sp>
        <p:nvSpPr>
          <p:cNvPr id="20" name="Shape 18"/>
          <p:cNvSpPr/>
          <p:nvPr/>
        </p:nvSpPr>
        <p:spPr>
          <a:xfrm>
            <a:off x="548640" y="4087368"/>
            <a:ext cx="384048" cy="384048"/>
          </a:xfrm>
          <a:prstGeom prst="ellipse">
            <a:avLst/>
          </a:prstGeom>
          <a:solidFill>
            <a:srgbClr val="FFD970"/>
          </a:solidFill>
          <a:ln w="12700">
            <a:solidFill>
              <a:srgbClr val="FFD970"/>
            </a:solidFill>
            <a:prstDash val="solid"/>
          </a:ln>
        </p:spPr>
      </p:sp>
      <p:sp>
        <p:nvSpPr>
          <p:cNvPr id="21" name="Text 19"/>
          <p:cNvSpPr/>
          <p:nvPr/>
        </p:nvSpPr>
        <p:spPr>
          <a:xfrm>
            <a:off x="548640" y="4087368"/>
            <a:ext cx="384048" cy="384048"/>
          </a:xfrm>
          <a:prstGeom prst="rect">
            <a:avLst/>
          </a:prstGeom>
          <a:noFill/>
          <a:ln/>
        </p:spPr>
        <p:txBody>
          <a:bodyPr wrap="square" rtlCol="0" anchor="ctr"/>
          <a:lstStyle/>
          <a:p>
            <a:pPr algn="ctr" indent="0" marL="0">
              <a:buNone/>
            </a:pPr>
            <a:r>
              <a:rPr lang="en-US" sz="1800" b="1" dirty="0">
                <a:solidFill>
                  <a:srgbClr val="0E0E0E"/>
                </a:solidFill>
                <a:latin typeface="Georgia" pitchFamily="34" charset="0"/>
                <a:ea typeface="Georgia" pitchFamily="34" charset="-122"/>
                <a:cs typeface="Georgia" pitchFamily="34" charset="-120"/>
              </a:rPr>
              <a:t>✓</a:t>
            </a:r>
            <a:endParaRPr lang="en-US" sz="1800" dirty="0"/>
          </a:p>
        </p:txBody>
      </p:sp>
      <p:sp>
        <p:nvSpPr>
          <p:cNvPr id="22" name="Text 20"/>
          <p:cNvSpPr/>
          <p:nvPr/>
        </p:nvSpPr>
        <p:spPr>
          <a:xfrm>
            <a:off x="1143000" y="4023360"/>
            <a:ext cx="7315200" cy="292608"/>
          </a:xfrm>
          <a:prstGeom prst="rect">
            <a:avLst/>
          </a:prstGeom>
          <a:noFill/>
          <a:ln/>
        </p:spPr>
        <p:txBody>
          <a:bodyPr wrap="square" rtlCol="0" anchor="ctr"/>
          <a:lstStyle/>
          <a:p>
            <a:pPr indent="0" marL="0">
              <a:buNone/>
            </a:pPr>
            <a:r>
              <a:rPr lang="en-US" sz="1600" b="1" dirty="0">
                <a:solidFill>
                  <a:srgbClr val="FAF7EE"/>
                </a:solidFill>
                <a:latin typeface="Calibri" pitchFamily="34" charset="0"/>
                <a:ea typeface="Calibri" pitchFamily="34" charset="-122"/>
                <a:cs typeface="Calibri" pitchFamily="34" charset="-120"/>
              </a:rPr>
              <a:t>Adoptable, not a fork</a:t>
            </a:r>
            <a:endParaRPr lang="en-US" sz="1600" dirty="0"/>
          </a:p>
        </p:txBody>
      </p:sp>
      <p:sp>
        <p:nvSpPr>
          <p:cNvPr id="23" name="Text 21"/>
          <p:cNvSpPr/>
          <p:nvPr/>
        </p:nvSpPr>
        <p:spPr>
          <a:xfrm>
            <a:off x="1143000" y="4315968"/>
            <a:ext cx="7315200" cy="365760"/>
          </a:xfrm>
          <a:prstGeom prst="rect">
            <a:avLst/>
          </a:prstGeom>
          <a:noFill/>
          <a:ln/>
        </p:spPr>
        <p:txBody>
          <a:bodyPr wrap="square" rtlCol="0" anchor="ctr"/>
          <a:lstStyle/>
          <a:p>
            <a:pPr indent="0" marL="0">
              <a:buNone/>
            </a:pPr>
            <a:r>
              <a:rPr lang="en-US" sz="1200" dirty="0">
                <a:solidFill>
                  <a:srgbClr val="B5B0A8"/>
                </a:solidFill>
                <a:latin typeface="Calibri" pitchFamily="34" charset="0"/>
                <a:ea typeface="Calibri" pitchFamily="34" charset="-122"/>
                <a:cs typeface="Calibri" pitchFamily="34" charset="-120"/>
              </a:rPr>
              <a:t>Branded for TLM. Re-skin or replace the moment permission lands.</a:t>
            </a:r>
            <a:endParaRPr lang="en-US" sz="1200" dirty="0"/>
          </a:p>
        </p:txBody>
      </p:sp>
      <p:sp>
        <p:nvSpPr>
          <p:cNvPr id="24" name="Text 22"/>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B5B0A8"/>
                </a:solidFill>
                <a:latin typeface="Calibri" pitchFamily="34" charset="0"/>
                <a:ea typeface="Calibri" pitchFamily="34" charset="-122"/>
                <a:cs typeface="Calibri" pitchFamily="34" charset="-120"/>
              </a:rPr>
              <a:t>23 / 30</a:t>
            </a:r>
            <a:endParaRPr lang="en-US" sz="900" dirty="0"/>
          </a:p>
        </p:txBody>
      </p:sp>
      <p:sp>
        <p:nvSpPr>
          <p:cNvPr id="25" name="Text 23"/>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B5B0A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WHAT THIS MEANS FOR TLM</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F1F1F"/>
                </a:solidFill>
                <a:latin typeface="Georgia" pitchFamily="34" charset="0"/>
                <a:ea typeface="Georgia" pitchFamily="34" charset="-122"/>
                <a:cs typeface="Georgia" pitchFamily="34" charset="-120"/>
              </a:rPr>
              <a:t>A finance arm of the same mission.</a:t>
            </a:r>
            <a:endParaRPr lang="en-US" sz="2800" dirty="0"/>
          </a:p>
        </p:txBody>
      </p:sp>
      <p:sp>
        <p:nvSpPr>
          <p:cNvPr id="4" name="Text 2"/>
          <p:cNvSpPr/>
          <p:nvPr/>
        </p:nvSpPr>
        <p:spPr>
          <a:xfrm>
            <a:off x="457200" y="1463040"/>
            <a:ext cx="8229600" cy="457200"/>
          </a:xfrm>
          <a:prstGeom prst="rect">
            <a:avLst/>
          </a:prstGeom>
          <a:noFill/>
          <a:ln/>
        </p:spPr>
        <p:txBody>
          <a:bodyPr wrap="square" rtlCol="0" anchor="ctr"/>
          <a:lstStyle/>
          <a:p>
            <a:pPr indent="0" marL="0">
              <a:buNone/>
            </a:pPr>
            <a:r>
              <a:rPr lang="en-US" sz="1400" i="1" dirty="0">
                <a:solidFill>
                  <a:srgbClr val="4A4A42"/>
                </a:solidFill>
                <a:latin typeface="Calibri" pitchFamily="34" charset="0"/>
                <a:ea typeface="Calibri" pitchFamily="34" charset="-122"/>
                <a:cs typeface="Calibri" pitchFamily="34" charset="-120"/>
              </a:rPr>
              <a:t>TLM teaches inside. TLM Finance helps after. Three ways this could plug in:</a:t>
            </a:r>
            <a:endParaRPr lang="en-US" sz="1400" dirty="0"/>
          </a:p>
        </p:txBody>
      </p:sp>
      <p:sp>
        <p:nvSpPr>
          <p:cNvPr id="5" name="Shape 3"/>
          <p:cNvSpPr/>
          <p:nvPr/>
        </p:nvSpPr>
        <p:spPr>
          <a:xfrm>
            <a:off x="457200" y="2103120"/>
            <a:ext cx="2697480" cy="2468880"/>
          </a:xfrm>
          <a:prstGeom prst="roundRect">
            <a:avLst>
              <a:gd name="adj" fmla="val 3704"/>
            </a:avLst>
          </a:prstGeom>
          <a:solidFill>
            <a:srgbClr val="F8F4EA"/>
          </a:solidFill>
          <a:ln w="12700">
            <a:solidFill>
              <a:srgbClr val="DAA520"/>
            </a:solidFill>
            <a:prstDash val="solid"/>
          </a:ln>
        </p:spPr>
      </p:sp>
      <p:sp>
        <p:nvSpPr>
          <p:cNvPr id="6" name="Text 4"/>
          <p:cNvSpPr/>
          <p:nvPr/>
        </p:nvSpPr>
        <p:spPr>
          <a:xfrm>
            <a:off x="621792" y="2240280"/>
            <a:ext cx="2377440" cy="274320"/>
          </a:xfrm>
          <a:prstGeom prst="rect">
            <a:avLst/>
          </a:prstGeom>
          <a:noFill/>
          <a:ln/>
        </p:spPr>
        <p:txBody>
          <a:bodyPr wrap="square" rtlCol="0" anchor="ctr"/>
          <a:lstStyle/>
          <a:p>
            <a:pPr indent="0" marL="0">
              <a:buNone/>
            </a:pPr>
            <a:r>
              <a:rPr lang="en-US" sz="1000" b="1" spc="600" kern="0" dirty="0">
                <a:solidFill>
                  <a:srgbClr val="8C6810"/>
                </a:solidFill>
                <a:latin typeface="Calibri" pitchFamily="34" charset="0"/>
                <a:ea typeface="Calibri" pitchFamily="34" charset="-122"/>
                <a:cs typeface="Calibri" pitchFamily="34" charset="-120"/>
              </a:rPr>
              <a:t>Option A</a:t>
            </a:r>
            <a:endParaRPr lang="en-US" sz="1000" dirty="0"/>
          </a:p>
        </p:txBody>
      </p:sp>
      <p:sp>
        <p:nvSpPr>
          <p:cNvPr id="7" name="Text 5"/>
          <p:cNvSpPr/>
          <p:nvPr/>
        </p:nvSpPr>
        <p:spPr>
          <a:xfrm>
            <a:off x="621792" y="2514600"/>
            <a:ext cx="2377440" cy="365760"/>
          </a:xfrm>
          <a:prstGeom prst="rect">
            <a:avLst/>
          </a:prstGeom>
          <a:noFill/>
          <a:ln/>
        </p:spPr>
        <p:txBody>
          <a:bodyPr wrap="square" rtlCol="0" anchor="ctr"/>
          <a:lstStyle/>
          <a:p>
            <a:pPr indent="0" marL="0">
              <a:buNone/>
            </a:pPr>
            <a:r>
              <a:rPr lang="en-US" sz="1800" b="1" dirty="0">
                <a:solidFill>
                  <a:srgbClr val="1F1F1F"/>
                </a:solidFill>
                <a:latin typeface="Georgia" pitchFamily="34" charset="0"/>
                <a:ea typeface="Georgia" pitchFamily="34" charset="-122"/>
                <a:cs typeface="Georgia" pitchFamily="34" charset="-120"/>
              </a:rPr>
              <a:t>Officially adopt</a:t>
            </a:r>
            <a:endParaRPr lang="en-US" sz="1800" dirty="0"/>
          </a:p>
        </p:txBody>
      </p:sp>
      <p:sp>
        <p:nvSpPr>
          <p:cNvPr id="8" name="Text 6"/>
          <p:cNvSpPr/>
          <p:nvPr/>
        </p:nvSpPr>
        <p:spPr>
          <a:xfrm>
            <a:off x="621792" y="2971800"/>
            <a:ext cx="2377440" cy="150876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TLM Finance becomes the financial-planning surface of TLM's reentry program. We rebrand under the official mark.</a:t>
            </a:r>
            <a:endParaRPr lang="en-US" sz="1100" dirty="0"/>
          </a:p>
        </p:txBody>
      </p:sp>
      <p:sp>
        <p:nvSpPr>
          <p:cNvPr id="9" name="Shape 7"/>
          <p:cNvSpPr/>
          <p:nvPr/>
        </p:nvSpPr>
        <p:spPr>
          <a:xfrm>
            <a:off x="3246120" y="2103120"/>
            <a:ext cx="2697480" cy="2468880"/>
          </a:xfrm>
          <a:prstGeom prst="roundRect">
            <a:avLst>
              <a:gd name="adj" fmla="val 3704"/>
            </a:avLst>
          </a:prstGeom>
          <a:solidFill>
            <a:srgbClr val="F8F4EA"/>
          </a:solidFill>
          <a:ln w="12700">
            <a:solidFill>
              <a:srgbClr val="DAA520"/>
            </a:solidFill>
            <a:prstDash val="solid"/>
          </a:ln>
        </p:spPr>
      </p:sp>
      <p:sp>
        <p:nvSpPr>
          <p:cNvPr id="10" name="Text 8"/>
          <p:cNvSpPr/>
          <p:nvPr/>
        </p:nvSpPr>
        <p:spPr>
          <a:xfrm>
            <a:off x="3410712" y="2240280"/>
            <a:ext cx="2377440" cy="274320"/>
          </a:xfrm>
          <a:prstGeom prst="rect">
            <a:avLst/>
          </a:prstGeom>
          <a:noFill/>
          <a:ln/>
        </p:spPr>
        <p:txBody>
          <a:bodyPr wrap="square" rtlCol="0" anchor="ctr"/>
          <a:lstStyle/>
          <a:p>
            <a:pPr indent="0" marL="0">
              <a:buNone/>
            </a:pPr>
            <a:r>
              <a:rPr lang="en-US" sz="1000" b="1" spc="600" kern="0" dirty="0">
                <a:solidFill>
                  <a:srgbClr val="8C6810"/>
                </a:solidFill>
                <a:latin typeface="Calibri" pitchFamily="34" charset="0"/>
                <a:ea typeface="Calibri" pitchFamily="34" charset="-122"/>
                <a:cs typeface="Calibri" pitchFamily="34" charset="-120"/>
              </a:rPr>
              <a:t>Option B</a:t>
            </a:r>
            <a:endParaRPr lang="en-US" sz="1000" dirty="0"/>
          </a:p>
        </p:txBody>
      </p:sp>
      <p:sp>
        <p:nvSpPr>
          <p:cNvPr id="11" name="Text 9"/>
          <p:cNvSpPr/>
          <p:nvPr/>
        </p:nvSpPr>
        <p:spPr>
          <a:xfrm>
            <a:off x="3410712" y="2514600"/>
            <a:ext cx="2377440" cy="365760"/>
          </a:xfrm>
          <a:prstGeom prst="rect">
            <a:avLst/>
          </a:prstGeom>
          <a:noFill/>
          <a:ln/>
        </p:spPr>
        <p:txBody>
          <a:bodyPr wrap="square" rtlCol="0" anchor="ctr"/>
          <a:lstStyle/>
          <a:p>
            <a:pPr indent="0" marL="0">
              <a:buNone/>
            </a:pPr>
            <a:r>
              <a:rPr lang="en-US" sz="1800" b="1" dirty="0">
                <a:solidFill>
                  <a:srgbClr val="1F1F1F"/>
                </a:solidFill>
                <a:latin typeface="Georgia" pitchFamily="34" charset="0"/>
                <a:ea typeface="Georgia" pitchFamily="34" charset="-122"/>
                <a:cs typeface="Georgia" pitchFamily="34" charset="-120"/>
              </a:rPr>
              <a:t>Sponsor + co-brand</a:t>
            </a:r>
            <a:endParaRPr lang="en-US" sz="1800" dirty="0"/>
          </a:p>
        </p:txBody>
      </p:sp>
      <p:sp>
        <p:nvSpPr>
          <p:cNvPr id="12" name="Text 10"/>
          <p:cNvSpPr/>
          <p:nvPr/>
        </p:nvSpPr>
        <p:spPr>
          <a:xfrm>
            <a:off x="3410712" y="2971800"/>
            <a:ext cx="2377440" cy="150876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TLM endorses the project; we keep operating it; TLM's logo appears with proper attribution.</a:t>
            </a:r>
            <a:endParaRPr lang="en-US" sz="1100" dirty="0"/>
          </a:p>
        </p:txBody>
      </p:sp>
      <p:sp>
        <p:nvSpPr>
          <p:cNvPr id="13" name="Shape 11"/>
          <p:cNvSpPr/>
          <p:nvPr/>
        </p:nvSpPr>
        <p:spPr>
          <a:xfrm>
            <a:off x="6035040" y="2103120"/>
            <a:ext cx="2697480" cy="2468880"/>
          </a:xfrm>
          <a:prstGeom prst="roundRect">
            <a:avLst>
              <a:gd name="adj" fmla="val 3704"/>
            </a:avLst>
          </a:prstGeom>
          <a:solidFill>
            <a:srgbClr val="F8F4EA"/>
          </a:solidFill>
          <a:ln w="12700">
            <a:solidFill>
              <a:srgbClr val="DAA520"/>
            </a:solidFill>
            <a:prstDash val="solid"/>
          </a:ln>
        </p:spPr>
      </p:sp>
      <p:sp>
        <p:nvSpPr>
          <p:cNvPr id="14" name="Text 12"/>
          <p:cNvSpPr/>
          <p:nvPr/>
        </p:nvSpPr>
        <p:spPr>
          <a:xfrm>
            <a:off x="6199632" y="2240280"/>
            <a:ext cx="2377440" cy="274320"/>
          </a:xfrm>
          <a:prstGeom prst="rect">
            <a:avLst/>
          </a:prstGeom>
          <a:noFill/>
          <a:ln/>
        </p:spPr>
        <p:txBody>
          <a:bodyPr wrap="square" rtlCol="0" anchor="ctr"/>
          <a:lstStyle/>
          <a:p>
            <a:pPr indent="0" marL="0">
              <a:buNone/>
            </a:pPr>
            <a:r>
              <a:rPr lang="en-US" sz="1000" b="1" spc="600" kern="0" dirty="0">
                <a:solidFill>
                  <a:srgbClr val="8C6810"/>
                </a:solidFill>
                <a:latin typeface="Calibri" pitchFamily="34" charset="0"/>
                <a:ea typeface="Calibri" pitchFamily="34" charset="-122"/>
                <a:cs typeface="Calibri" pitchFamily="34" charset="-120"/>
              </a:rPr>
              <a:t>Option C</a:t>
            </a:r>
            <a:endParaRPr lang="en-US" sz="1000" dirty="0"/>
          </a:p>
        </p:txBody>
      </p:sp>
      <p:sp>
        <p:nvSpPr>
          <p:cNvPr id="15" name="Text 13"/>
          <p:cNvSpPr/>
          <p:nvPr/>
        </p:nvSpPr>
        <p:spPr>
          <a:xfrm>
            <a:off x="6199632" y="2514600"/>
            <a:ext cx="2377440" cy="365760"/>
          </a:xfrm>
          <a:prstGeom prst="rect">
            <a:avLst/>
          </a:prstGeom>
          <a:noFill/>
          <a:ln/>
        </p:spPr>
        <p:txBody>
          <a:bodyPr wrap="square" rtlCol="0" anchor="ctr"/>
          <a:lstStyle/>
          <a:p>
            <a:pPr indent="0" marL="0">
              <a:buNone/>
            </a:pPr>
            <a:r>
              <a:rPr lang="en-US" sz="1800" b="1" dirty="0">
                <a:solidFill>
                  <a:srgbClr val="1F1F1F"/>
                </a:solidFill>
                <a:latin typeface="Georgia" pitchFamily="34" charset="0"/>
                <a:ea typeface="Georgia" pitchFamily="34" charset="-122"/>
                <a:cs typeface="Georgia" pitchFamily="34" charset="-120"/>
              </a:rPr>
              <a:t>Reference for replace</a:t>
            </a:r>
            <a:endParaRPr lang="en-US" sz="1800" dirty="0"/>
          </a:p>
        </p:txBody>
      </p:sp>
      <p:sp>
        <p:nvSpPr>
          <p:cNvPr id="16" name="Text 14"/>
          <p:cNvSpPr/>
          <p:nvPr/>
        </p:nvSpPr>
        <p:spPr>
          <a:xfrm>
            <a:off x="6199632" y="2971800"/>
            <a:ext cx="2377440" cy="150876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TLM builds its own version using this codebase as the open-source reference. We hand over the keys.</a:t>
            </a:r>
            <a:endParaRPr lang="en-US" sz="1100" dirty="0"/>
          </a:p>
        </p:txBody>
      </p:sp>
      <p:sp>
        <p:nvSpPr>
          <p:cNvPr id="17" name="Text 15"/>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24 / 30</a:t>
            </a:r>
            <a:endParaRPr lang="en-US" sz="900" dirty="0"/>
          </a:p>
        </p:txBody>
      </p:sp>
      <p:sp>
        <p:nvSpPr>
          <p:cNvPr id="18" name="Text 16"/>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WHAT'S NEXT</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F1F1F"/>
                </a:solidFill>
                <a:latin typeface="Georgia" pitchFamily="34" charset="0"/>
                <a:ea typeface="Georgia" pitchFamily="34" charset="-122"/>
                <a:cs typeface="Georgia" pitchFamily="34" charset="-120"/>
              </a:rPr>
              <a:t>Open punch list, written down.</a:t>
            </a:r>
            <a:endParaRPr lang="en-US" sz="2800" dirty="0"/>
          </a:p>
        </p:txBody>
      </p:sp>
      <p:sp>
        <p:nvSpPr>
          <p:cNvPr id="4" name="Shape 2"/>
          <p:cNvSpPr/>
          <p:nvPr/>
        </p:nvSpPr>
        <p:spPr>
          <a:xfrm>
            <a:off x="457200" y="1609344"/>
            <a:ext cx="384048" cy="384048"/>
          </a:xfrm>
          <a:prstGeom prst="ellipse">
            <a:avLst/>
          </a:prstGeom>
          <a:solidFill>
            <a:srgbClr val="F0E7C7"/>
          </a:solidFill>
          <a:ln w="12700">
            <a:solidFill>
              <a:srgbClr val="DAA520"/>
            </a:solidFill>
            <a:prstDash val="solid"/>
          </a:ln>
        </p:spPr>
      </p:sp>
      <p:sp>
        <p:nvSpPr>
          <p:cNvPr id="5" name="Text 3"/>
          <p:cNvSpPr/>
          <p:nvPr/>
        </p:nvSpPr>
        <p:spPr>
          <a:xfrm>
            <a:off x="457200" y="1609344"/>
            <a:ext cx="384048" cy="384048"/>
          </a:xfrm>
          <a:prstGeom prst="rect">
            <a:avLst/>
          </a:prstGeom>
          <a:noFill/>
          <a:ln/>
        </p:spPr>
        <p:txBody>
          <a:bodyPr wrap="square" rtlCol="0" anchor="ctr"/>
          <a:lstStyle/>
          <a:p>
            <a:pPr algn="ctr" indent="0" marL="0">
              <a:buNone/>
            </a:pPr>
            <a:r>
              <a:rPr lang="en-US" sz="1400" b="1" dirty="0">
                <a:solidFill>
                  <a:srgbClr val="8C6810"/>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960120" y="1554480"/>
            <a:ext cx="2743200" cy="384048"/>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Facebook Live mode</a:t>
            </a:r>
            <a:endParaRPr lang="en-US" sz="1300" dirty="0"/>
          </a:p>
        </p:txBody>
      </p:sp>
      <p:sp>
        <p:nvSpPr>
          <p:cNvPr id="7" name="Text 5"/>
          <p:cNvSpPr/>
          <p:nvPr/>
        </p:nvSpPr>
        <p:spPr>
          <a:xfrm>
            <a:off x="3749040" y="1554480"/>
            <a:ext cx="4937760" cy="45720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Currently developer mode. Needs Meta business verification + App Review.</a:t>
            </a:r>
            <a:endParaRPr lang="en-US" sz="1100" dirty="0"/>
          </a:p>
        </p:txBody>
      </p:sp>
      <p:sp>
        <p:nvSpPr>
          <p:cNvPr id="8" name="Shape 6"/>
          <p:cNvSpPr/>
          <p:nvPr/>
        </p:nvSpPr>
        <p:spPr>
          <a:xfrm>
            <a:off x="457200" y="2176272"/>
            <a:ext cx="384048" cy="384048"/>
          </a:xfrm>
          <a:prstGeom prst="ellipse">
            <a:avLst/>
          </a:prstGeom>
          <a:solidFill>
            <a:srgbClr val="F0E7C7"/>
          </a:solidFill>
          <a:ln w="12700">
            <a:solidFill>
              <a:srgbClr val="DAA520"/>
            </a:solidFill>
            <a:prstDash val="solid"/>
          </a:ln>
        </p:spPr>
      </p:sp>
      <p:sp>
        <p:nvSpPr>
          <p:cNvPr id="9" name="Text 7"/>
          <p:cNvSpPr/>
          <p:nvPr/>
        </p:nvSpPr>
        <p:spPr>
          <a:xfrm>
            <a:off x="457200" y="2176272"/>
            <a:ext cx="384048" cy="384048"/>
          </a:xfrm>
          <a:prstGeom prst="rect">
            <a:avLst/>
          </a:prstGeom>
          <a:noFill/>
          <a:ln/>
        </p:spPr>
        <p:txBody>
          <a:bodyPr wrap="square" rtlCol="0" anchor="ctr"/>
          <a:lstStyle/>
          <a:p>
            <a:pPr algn="ctr" indent="0" marL="0">
              <a:buNone/>
            </a:pPr>
            <a:r>
              <a:rPr lang="en-US" sz="1400" b="1" dirty="0">
                <a:solidFill>
                  <a:srgbClr val="8C6810"/>
                </a:solidFill>
                <a:latin typeface="Georgia" pitchFamily="34" charset="0"/>
                <a:ea typeface="Georgia" pitchFamily="34" charset="-122"/>
                <a:cs typeface="Georgia" pitchFamily="34" charset="-120"/>
              </a:rPr>
              <a:t>2</a:t>
            </a:r>
            <a:endParaRPr lang="en-US" sz="1400" dirty="0"/>
          </a:p>
        </p:txBody>
      </p:sp>
      <p:sp>
        <p:nvSpPr>
          <p:cNvPr id="10" name="Text 8"/>
          <p:cNvSpPr/>
          <p:nvPr/>
        </p:nvSpPr>
        <p:spPr>
          <a:xfrm>
            <a:off x="960120" y="2121408"/>
            <a:ext cx="2743200" cy="384048"/>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Logo + portrait permission</a:t>
            </a:r>
            <a:endParaRPr lang="en-US" sz="1300" dirty="0"/>
          </a:p>
        </p:txBody>
      </p:sp>
      <p:sp>
        <p:nvSpPr>
          <p:cNvPr id="11" name="Text 9"/>
          <p:cNvSpPr/>
          <p:nvPr/>
        </p:nvSpPr>
        <p:spPr>
          <a:xfrm>
            <a:off x="3749040" y="2121408"/>
            <a:ext cx="4937760" cy="45720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Email info@thelastmile.org for written permission to use the official mark.</a:t>
            </a:r>
            <a:endParaRPr lang="en-US" sz="1100" dirty="0"/>
          </a:p>
        </p:txBody>
      </p:sp>
      <p:sp>
        <p:nvSpPr>
          <p:cNvPr id="12" name="Shape 10"/>
          <p:cNvSpPr/>
          <p:nvPr/>
        </p:nvSpPr>
        <p:spPr>
          <a:xfrm>
            <a:off x="457200" y="2743200"/>
            <a:ext cx="384048" cy="384048"/>
          </a:xfrm>
          <a:prstGeom prst="ellipse">
            <a:avLst/>
          </a:prstGeom>
          <a:solidFill>
            <a:srgbClr val="F0E7C7"/>
          </a:solidFill>
          <a:ln w="12700">
            <a:solidFill>
              <a:srgbClr val="DAA520"/>
            </a:solidFill>
            <a:prstDash val="solid"/>
          </a:ln>
        </p:spPr>
      </p:sp>
      <p:sp>
        <p:nvSpPr>
          <p:cNvPr id="13" name="Text 11"/>
          <p:cNvSpPr/>
          <p:nvPr/>
        </p:nvSpPr>
        <p:spPr>
          <a:xfrm>
            <a:off x="457200" y="2743200"/>
            <a:ext cx="384048" cy="384048"/>
          </a:xfrm>
          <a:prstGeom prst="rect">
            <a:avLst/>
          </a:prstGeom>
          <a:noFill/>
          <a:ln/>
        </p:spPr>
        <p:txBody>
          <a:bodyPr wrap="square" rtlCol="0" anchor="ctr"/>
          <a:lstStyle/>
          <a:p>
            <a:pPr algn="ctr" indent="0" marL="0">
              <a:buNone/>
            </a:pPr>
            <a:r>
              <a:rPr lang="en-US" sz="1400" b="1" dirty="0">
                <a:solidFill>
                  <a:srgbClr val="8C6810"/>
                </a:solidFill>
                <a:latin typeface="Georgia" pitchFamily="34" charset="0"/>
                <a:ea typeface="Georgia" pitchFamily="34" charset="-122"/>
                <a:cs typeface="Georgia" pitchFamily="34" charset="-120"/>
              </a:rPr>
              <a:t>3</a:t>
            </a:r>
            <a:endParaRPr lang="en-US" sz="1400" dirty="0"/>
          </a:p>
        </p:txBody>
      </p:sp>
      <p:sp>
        <p:nvSpPr>
          <p:cNvPr id="14" name="Text 12"/>
          <p:cNvSpPr/>
          <p:nvPr/>
        </p:nvSpPr>
        <p:spPr>
          <a:xfrm>
            <a:off x="960120" y="2688336"/>
            <a:ext cx="2743200" cy="384048"/>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Attorney review</a:t>
            </a:r>
            <a:endParaRPr lang="en-US" sz="1300" dirty="0"/>
          </a:p>
        </p:txBody>
      </p:sp>
      <p:sp>
        <p:nvSpPr>
          <p:cNvPr id="15" name="Text 13"/>
          <p:cNvSpPr/>
          <p:nvPr/>
        </p:nvSpPr>
        <p:spPr>
          <a:xfrm>
            <a:off x="3749040" y="2688336"/>
            <a:ext cx="4937760" cy="45720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Footer disclaimer is a starting point. Needs counsel sign-off before public launch.</a:t>
            </a:r>
            <a:endParaRPr lang="en-US" sz="1100" dirty="0"/>
          </a:p>
        </p:txBody>
      </p:sp>
      <p:sp>
        <p:nvSpPr>
          <p:cNvPr id="16" name="Shape 14"/>
          <p:cNvSpPr/>
          <p:nvPr/>
        </p:nvSpPr>
        <p:spPr>
          <a:xfrm>
            <a:off x="457200" y="3310128"/>
            <a:ext cx="384048" cy="384048"/>
          </a:xfrm>
          <a:prstGeom prst="ellipse">
            <a:avLst/>
          </a:prstGeom>
          <a:solidFill>
            <a:srgbClr val="F0E7C7"/>
          </a:solidFill>
          <a:ln w="12700">
            <a:solidFill>
              <a:srgbClr val="DAA520"/>
            </a:solidFill>
            <a:prstDash val="solid"/>
          </a:ln>
        </p:spPr>
      </p:sp>
      <p:sp>
        <p:nvSpPr>
          <p:cNvPr id="17" name="Text 15"/>
          <p:cNvSpPr/>
          <p:nvPr/>
        </p:nvSpPr>
        <p:spPr>
          <a:xfrm>
            <a:off x="457200" y="3310128"/>
            <a:ext cx="384048" cy="384048"/>
          </a:xfrm>
          <a:prstGeom prst="rect">
            <a:avLst/>
          </a:prstGeom>
          <a:noFill/>
          <a:ln/>
        </p:spPr>
        <p:txBody>
          <a:bodyPr wrap="square" rtlCol="0" anchor="ctr"/>
          <a:lstStyle/>
          <a:p>
            <a:pPr algn="ctr" indent="0" marL="0">
              <a:buNone/>
            </a:pPr>
            <a:r>
              <a:rPr lang="en-US" sz="1400" b="1" dirty="0">
                <a:solidFill>
                  <a:srgbClr val="8C6810"/>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960120" y="3255264"/>
            <a:ext cx="2743200" cy="384048"/>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Quarterly link audit</a:t>
            </a:r>
            <a:endParaRPr lang="en-US" sz="1300" dirty="0"/>
          </a:p>
        </p:txBody>
      </p:sp>
      <p:sp>
        <p:nvSpPr>
          <p:cNvPr id="19" name="Text 17"/>
          <p:cNvSpPr/>
          <p:nvPr/>
        </p:nvSpPr>
        <p:spPr>
          <a:xfrm>
            <a:off x="3749040" y="3255264"/>
            <a:ext cx="4937760" cy="45720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Re-verify every URL in resources.json + SOURCE_MAP.json; bump lastChecked.</a:t>
            </a:r>
            <a:endParaRPr lang="en-US" sz="1100" dirty="0"/>
          </a:p>
        </p:txBody>
      </p:sp>
      <p:sp>
        <p:nvSpPr>
          <p:cNvPr id="20" name="Shape 18"/>
          <p:cNvSpPr/>
          <p:nvPr/>
        </p:nvSpPr>
        <p:spPr>
          <a:xfrm>
            <a:off x="457200" y="3877056"/>
            <a:ext cx="384048" cy="384048"/>
          </a:xfrm>
          <a:prstGeom prst="ellipse">
            <a:avLst/>
          </a:prstGeom>
          <a:solidFill>
            <a:srgbClr val="F0E7C7"/>
          </a:solidFill>
          <a:ln w="12700">
            <a:solidFill>
              <a:srgbClr val="DAA520"/>
            </a:solidFill>
            <a:prstDash val="solid"/>
          </a:ln>
        </p:spPr>
      </p:sp>
      <p:sp>
        <p:nvSpPr>
          <p:cNvPr id="21" name="Text 19"/>
          <p:cNvSpPr/>
          <p:nvPr/>
        </p:nvSpPr>
        <p:spPr>
          <a:xfrm>
            <a:off x="457200" y="3877056"/>
            <a:ext cx="384048" cy="384048"/>
          </a:xfrm>
          <a:prstGeom prst="rect">
            <a:avLst/>
          </a:prstGeom>
          <a:noFill/>
          <a:ln/>
        </p:spPr>
        <p:txBody>
          <a:bodyPr wrap="square" rtlCol="0" anchor="ctr"/>
          <a:lstStyle/>
          <a:p>
            <a:pPr algn="ctr" indent="0" marL="0">
              <a:buNone/>
            </a:pPr>
            <a:r>
              <a:rPr lang="en-US" sz="1400" b="1" dirty="0">
                <a:solidFill>
                  <a:srgbClr val="8C6810"/>
                </a:solidFill>
                <a:latin typeface="Georgia" pitchFamily="34" charset="0"/>
                <a:ea typeface="Georgia" pitchFamily="34" charset="-122"/>
                <a:cs typeface="Georgia" pitchFamily="34" charset="-120"/>
              </a:rPr>
              <a:t>5</a:t>
            </a:r>
            <a:endParaRPr lang="en-US" sz="1400" dirty="0"/>
          </a:p>
        </p:txBody>
      </p:sp>
      <p:sp>
        <p:nvSpPr>
          <p:cNvPr id="22" name="Text 20"/>
          <p:cNvSpPr/>
          <p:nvPr/>
        </p:nvSpPr>
        <p:spPr>
          <a:xfrm>
            <a:off x="960120" y="3822192"/>
            <a:ext cx="2743200" cy="384048"/>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CSP nonce hardening</a:t>
            </a:r>
            <a:endParaRPr lang="en-US" sz="1300" dirty="0"/>
          </a:p>
        </p:txBody>
      </p:sp>
      <p:sp>
        <p:nvSpPr>
          <p:cNvPr id="23" name="Text 21"/>
          <p:cNvSpPr/>
          <p:nvPr/>
        </p:nvSpPr>
        <p:spPr>
          <a:xfrm>
            <a:off x="3749040" y="3822192"/>
            <a:ext cx="4937760" cy="457200"/>
          </a:xfrm>
          <a:prstGeom prst="rect">
            <a:avLst/>
          </a:prstGeom>
          <a:noFill/>
          <a:ln/>
        </p:spPr>
        <p:txBody>
          <a:bodyPr wrap="square" rtlCol="0" anchor="ctr"/>
          <a:lstStyle/>
          <a:p>
            <a:pPr indent="0" marL="0">
              <a:buNone/>
            </a:pPr>
            <a:r>
              <a:rPr lang="en-US" sz="1100" dirty="0">
                <a:solidFill>
                  <a:srgbClr val="4A4A42"/>
                </a:solidFill>
                <a:latin typeface="Calibri" pitchFamily="34" charset="0"/>
                <a:ea typeface="Calibri" pitchFamily="34" charset="-122"/>
                <a:cs typeface="Calibri" pitchFamily="34" charset="-120"/>
              </a:rPr>
              <a:t>Tighten the policy from `unsafe-inline` to script/style nonces in a future pass.</a:t>
            </a:r>
            <a:endParaRPr lang="en-US" sz="1100" dirty="0"/>
          </a:p>
        </p:txBody>
      </p:sp>
      <p:sp>
        <p:nvSpPr>
          <p:cNvPr id="24" name="Text 22"/>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25 / 30</a:t>
            </a:r>
            <a:endParaRPr lang="en-US" sz="900" dirty="0"/>
          </a:p>
        </p:txBody>
      </p:sp>
      <p:sp>
        <p:nvSpPr>
          <p:cNvPr id="25" name="Text 23"/>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DAA520"/>
                </a:solidFill>
                <a:latin typeface="Calibri" pitchFamily="34" charset="0"/>
                <a:ea typeface="Calibri" pitchFamily="34" charset="-122"/>
                <a:cs typeface="Calibri" pitchFamily="34" charset="-120"/>
              </a:rPr>
              <a:t>WHAT IT COSTS · WHAT IT SCALES TO</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400" b="1" dirty="0">
                <a:solidFill>
                  <a:srgbClr val="FAF7EE"/>
                </a:solidFill>
                <a:latin typeface="Georgia" pitchFamily="34" charset="0"/>
                <a:ea typeface="Georgia" pitchFamily="34" charset="-122"/>
                <a:cs typeface="Georgia" pitchFamily="34" charset="-120"/>
              </a:rPr>
              <a:t>A unit-economics paragraph, in numbers.</a:t>
            </a:r>
            <a:endParaRPr lang="en-US" sz="2400" dirty="0"/>
          </a:p>
        </p:txBody>
      </p:sp>
      <p:sp>
        <p:nvSpPr>
          <p:cNvPr id="4" name="Text 2"/>
          <p:cNvSpPr/>
          <p:nvPr/>
        </p:nvSpPr>
        <p:spPr>
          <a:xfrm>
            <a:off x="548640" y="1508760"/>
            <a:ext cx="1828800" cy="365760"/>
          </a:xfrm>
          <a:prstGeom prst="rect">
            <a:avLst/>
          </a:prstGeom>
          <a:noFill/>
          <a:ln/>
        </p:spPr>
        <p:txBody>
          <a:bodyPr wrap="square" rtlCol="0" anchor="ctr"/>
          <a:lstStyle/>
          <a:p>
            <a:pPr algn="r" indent="0" marL="0">
              <a:buNone/>
            </a:pPr>
            <a:r>
              <a:rPr lang="en-US" sz="2200" b="1" dirty="0">
                <a:solidFill>
                  <a:srgbClr val="DAA520"/>
                </a:solidFill>
                <a:latin typeface="Georgia" pitchFamily="34" charset="0"/>
                <a:ea typeface="Georgia" pitchFamily="34" charset="-122"/>
                <a:cs typeface="Georgia" pitchFamily="34" charset="-120"/>
              </a:rPr>
              <a:t>$0</a:t>
            </a:r>
            <a:endParaRPr lang="en-US" sz="2200" dirty="0"/>
          </a:p>
        </p:txBody>
      </p:sp>
      <p:sp>
        <p:nvSpPr>
          <p:cNvPr id="5" name="Text 3"/>
          <p:cNvSpPr/>
          <p:nvPr/>
        </p:nvSpPr>
        <p:spPr>
          <a:xfrm>
            <a:off x="2468880" y="1508760"/>
            <a:ext cx="6126480" cy="365760"/>
          </a:xfrm>
          <a:prstGeom prst="rect">
            <a:avLst/>
          </a:prstGeom>
          <a:noFill/>
          <a:ln/>
        </p:spPr>
        <p:txBody>
          <a:bodyPr wrap="square" rtlCol="0" anchor="ctr"/>
          <a:lstStyle/>
          <a:p>
            <a:pPr indent="0" marL="0">
              <a:buNone/>
            </a:pPr>
            <a:r>
              <a:rPr lang="en-US" sz="1400" dirty="0">
                <a:solidFill>
                  <a:srgbClr val="FAF7EE"/>
                </a:solidFill>
                <a:latin typeface="Calibri" pitchFamily="34" charset="0"/>
                <a:ea typeface="Calibri" pitchFamily="34" charset="-122"/>
                <a:cs typeface="Calibri" pitchFamily="34" charset="-120"/>
              </a:rPr>
              <a:t>Cost per visitor (static site, no analytics)</a:t>
            </a:r>
            <a:endParaRPr lang="en-US" sz="1400" dirty="0"/>
          </a:p>
        </p:txBody>
      </p:sp>
      <p:sp>
        <p:nvSpPr>
          <p:cNvPr id="6" name="Text 4"/>
          <p:cNvSpPr/>
          <p:nvPr/>
        </p:nvSpPr>
        <p:spPr>
          <a:xfrm>
            <a:off x="548640" y="2011680"/>
            <a:ext cx="1828800" cy="365760"/>
          </a:xfrm>
          <a:prstGeom prst="rect">
            <a:avLst/>
          </a:prstGeom>
          <a:noFill/>
          <a:ln/>
        </p:spPr>
        <p:txBody>
          <a:bodyPr wrap="square" rtlCol="0" anchor="ctr"/>
          <a:lstStyle/>
          <a:p>
            <a:pPr algn="r" indent="0" marL="0">
              <a:buNone/>
            </a:pPr>
            <a:r>
              <a:rPr lang="en-US" sz="2200" b="1" dirty="0">
                <a:solidFill>
                  <a:srgbClr val="DAA520"/>
                </a:solidFill>
                <a:latin typeface="Georgia" pitchFamily="34" charset="0"/>
                <a:ea typeface="Georgia" pitchFamily="34" charset="-122"/>
                <a:cs typeface="Georgia" pitchFamily="34" charset="-120"/>
              </a:rPr>
              <a:t>~$0/mo</a:t>
            </a:r>
            <a:endParaRPr lang="en-US" sz="2200" dirty="0"/>
          </a:p>
        </p:txBody>
      </p:sp>
      <p:sp>
        <p:nvSpPr>
          <p:cNvPr id="7" name="Text 5"/>
          <p:cNvSpPr/>
          <p:nvPr/>
        </p:nvSpPr>
        <p:spPr>
          <a:xfrm>
            <a:off x="2468880" y="2011680"/>
            <a:ext cx="6126480" cy="365760"/>
          </a:xfrm>
          <a:prstGeom prst="rect">
            <a:avLst/>
          </a:prstGeom>
          <a:noFill/>
          <a:ln/>
        </p:spPr>
        <p:txBody>
          <a:bodyPr wrap="square" rtlCol="0" anchor="ctr"/>
          <a:lstStyle/>
          <a:p>
            <a:pPr indent="0" marL="0">
              <a:buNone/>
            </a:pPr>
            <a:r>
              <a:rPr lang="en-US" sz="1400" dirty="0">
                <a:solidFill>
                  <a:srgbClr val="FAF7EE"/>
                </a:solidFill>
                <a:latin typeface="Calibri" pitchFamily="34" charset="0"/>
                <a:ea typeface="Calibri" pitchFamily="34" charset="-122"/>
                <a:cs typeface="Calibri" pitchFamily="34" charset="-120"/>
              </a:rPr>
              <a:t>Hosting at TLM's scale (Netlify free tier)</a:t>
            </a:r>
            <a:endParaRPr lang="en-US" sz="1400" dirty="0"/>
          </a:p>
        </p:txBody>
      </p:sp>
      <p:sp>
        <p:nvSpPr>
          <p:cNvPr id="8" name="Text 6"/>
          <p:cNvSpPr/>
          <p:nvPr/>
        </p:nvSpPr>
        <p:spPr>
          <a:xfrm>
            <a:off x="548640" y="2514600"/>
            <a:ext cx="1828800" cy="365760"/>
          </a:xfrm>
          <a:prstGeom prst="rect">
            <a:avLst/>
          </a:prstGeom>
          <a:noFill/>
          <a:ln/>
        </p:spPr>
        <p:txBody>
          <a:bodyPr wrap="square" rtlCol="0" anchor="ctr"/>
          <a:lstStyle/>
          <a:p>
            <a:pPr algn="r" indent="0" marL="0">
              <a:buNone/>
            </a:pPr>
            <a:r>
              <a:rPr lang="en-US" sz="2200" b="1" dirty="0">
                <a:solidFill>
                  <a:srgbClr val="DAA520"/>
                </a:solidFill>
                <a:latin typeface="Georgia" pitchFamily="34" charset="0"/>
                <a:ea typeface="Georgia" pitchFamily="34" charset="-122"/>
                <a:cs typeface="Georgia" pitchFamily="34" charset="-120"/>
              </a:rPr>
              <a:t>~$0/mo</a:t>
            </a:r>
            <a:endParaRPr lang="en-US" sz="2200" dirty="0"/>
          </a:p>
        </p:txBody>
      </p:sp>
      <p:sp>
        <p:nvSpPr>
          <p:cNvPr id="9" name="Text 7"/>
          <p:cNvSpPr/>
          <p:nvPr/>
        </p:nvSpPr>
        <p:spPr>
          <a:xfrm>
            <a:off x="2468880" y="2514600"/>
            <a:ext cx="6126480" cy="365760"/>
          </a:xfrm>
          <a:prstGeom prst="rect">
            <a:avLst/>
          </a:prstGeom>
          <a:noFill/>
          <a:ln/>
        </p:spPr>
        <p:txBody>
          <a:bodyPr wrap="square" rtlCol="0" anchor="ctr"/>
          <a:lstStyle/>
          <a:p>
            <a:pPr indent="0" marL="0">
              <a:buNone/>
            </a:pPr>
            <a:r>
              <a:rPr lang="en-US" sz="1400" dirty="0">
                <a:solidFill>
                  <a:srgbClr val="FAF7EE"/>
                </a:solidFill>
                <a:latin typeface="Calibri" pitchFamily="34" charset="0"/>
                <a:ea typeface="Calibri" pitchFamily="34" charset="-122"/>
                <a:cs typeface="Calibri" pitchFamily="34" charset="-120"/>
              </a:rPr>
              <a:t>Database at TLM's scale (Supabase free tier)</a:t>
            </a:r>
            <a:endParaRPr lang="en-US" sz="1400" dirty="0"/>
          </a:p>
        </p:txBody>
      </p:sp>
      <p:sp>
        <p:nvSpPr>
          <p:cNvPr id="10" name="Text 8"/>
          <p:cNvSpPr/>
          <p:nvPr/>
        </p:nvSpPr>
        <p:spPr>
          <a:xfrm>
            <a:off x="548640" y="3017520"/>
            <a:ext cx="1828800" cy="365760"/>
          </a:xfrm>
          <a:prstGeom prst="rect">
            <a:avLst/>
          </a:prstGeom>
          <a:noFill/>
          <a:ln/>
        </p:spPr>
        <p:txBody>
          <a:bodyPr wrap="square" rtlCol="0" anchor="ctr"/>
          <a:lstStyle/>
          <a:p>
            <a:pPr algn="r" indent="0" marL="0">
              <a:buNone/>
            </a:pPr>
            <a:r>
              <a:rPr lang="en-US" sz="2200" b="1" dirty="0">
                <a:solidFill>
                  <a:srgbClr val="DAA520"/>
                </a:solidFill>
                <a:latin typeface="Georgia" pitchFamily="34" charset="0"/>
                <a:ea typeface="Georgia" pitchFamily="34" charset="-122"/>
                <a:cs typeface="Georgia" pitchFamily="34" charset="-120"/>
              </a:rPr>
              <a:t>$0</a:t>
            </a:r>
            <a:endParaRPr lang="en-US" sz="2200" dirty="0"/>
          </a:p>
        </p:txBody>
      </p:sp>
      <p:sp>
        <p:nvSpPr>
          <p:cNvPr id="11" name="Text 9"/>
          <p:cNvSpPr/>
          <p:nvPr/>
        </p:nvSpPr>
        <p:spPr>
          <a:xfrm>
            <a:off x="2468880" y="3017520"/>
            <a:ext cx="6126480" cy="365760"/>
          </a:xfrm>
          <a:prstGeom prst="rect">
            <a:avLst/>
          </a:prstGeom>
          <a:noFill/>
          <a:ln/>
        </p:spPr>
        <p:txBody>
          <a:bodyPr wrap="square" rtlCol="0" anchor="ctr"/>
          <a:lstStyle/>
          <a:p>
            <a:pPr indent="0" marL="0">
              <a:buNone/>
            </a:pPr>
            <a:r>
              <a:rPr lang="en-US" sz="1400" dirty="0">
                <a:solidFill>
                  <a:srgbClr val="FAF7EE"/>
                </a:solidFill>
                <a:latin typeface="Calibri" pitchFamily="34" charset="0"/>
                <a:ea typeface="Calibri" pitchFamily="34" charset="-122"/>
                <a:cs typeface="Calibri" pitchFamily="34" charset="-120"/>
              </a:rPr>
              <a:t>Cost per chatbot response (free LLM rotation)</a:t>
            </a:r>
            <a:endParaRPr lang="en-US" sz="1400" dirty="0"/>
          </a:p>
        </p:txBody>
      </p:sp>
      <p:sp>
        <p:nvSpPr>
          <p:cNvPr id="12" name="Text 10"/>
          <p:cNvSpPr/>
          <p:nvPr/>
        </p:nvSpPr>
        <p:spPr>
          <a:xfrm>
            <a:off x="548640" y="3520440"/>
            <a:ext cx="1828800" cy="365760"/>
          </a:xfrm>
          <a:prstGeom prst="rect">
            <a:avLst/>
          </a:prstGeom>
          <a:noFill/>
          <a:ln/>
        </p:spPr>
        <p:txBody>
          <a:bodyPr wrap="square" rtlCol="0" anchor="ctr"/>
          <a:lstStyle/>
          <a:p>
            <a:pPr algn="r" indent="0" marL="0">
              <a:buNone/>
            </a:pPr>
            <a:r>
              <a:rPr lang="en-US" sz="2200" b="1" dirty="0">
                <a:solidFill>
                  <a:srgbClr val="DAA520"/>
                </a:solidFill>
                <a:latin typeface="Georgia" pitchFamily="34" charset="0"/>
                <a:ea typeface="Georgia" pitchFamily="34" charset="-122"/>
                <a:cs typeface="Georgia" pitchFamily="34" charset="-120"/>
              </a:rPr>
              <a:t>~$25/mo</a:t>
            </a:r>
            <a:endParaRPr lang="en-US" sz="2200" dirty="0"/>
          </a:p>
        </p:txBody>
      </p:sp>
      <p:sp>
        <p:nvSpPr>
          <p:cNvPr id="13" name="Text 11"/>
          <p:cNvSpPr/>
          <p:nvPr/>
        </p:nvSpPr>
        <p:spPr>
          <a:xfrm>
            <a:off x="2468880" y="3520440"/>
            <a:ext cx="6126480" cy="365760"/>
          </a:xfrm>
          <a:prstGeom prst="rect">
            <a:avLst/>
          </a:prstGeom>
          <a:noFill/>
          <a:ln/>
        </p:spPr>
        <p:txBody>
          <a:bodyPr wrap="square" rtlCol="0" anchor="ctr"/>
          <a:lstStyle/>
          <a:p>
            <a:pPr indent="0" marL="0">
              <a:buNone/>
            </a:pPr>
            <a:r>
              <a:rPr lang="en-US" sz="1400" dirty="0">
                <a:solidFill>
                  <a:srgbClr val="FAF7EE"/>
                </a:solidFill>
                <a:latin typeface="Calibri" pitchFamily="34" charset="0"/>
                <a:ea typeface="Calibri" pitchFamily="34" charset="-122"/>
                <a:cs typeface="Calibri" pitchFamily="34" charset="-120"/>
              </a:rPr>
              <a:t>Estimated cost at 10× TLM's current visitor scale</a:t>
            </a:r>
            <a:endParaRPr lang="en-US" sz="1400" dirty="0"/>
          </a:p>
        </p:txBody>
      </p:sp>
      <p:sp>
        <p:nvSpPr>
          <p:cNvPr id="14" name="Text 12"/>
          <p:cNvSpPr/>
          <p:nvPr/>
        </p:nvSpPr>
        <p:spPr>
          <a:xfrm>
            <a:off x="457200" y="4434840"/>
            <a:ext cx="8229600" cy="365760"/>
          </a:xfrm>
          <a:prstGeom prst="rect">
            <a:avLst/>
          </a:prstGeom>
          <a:noFill/>
          <a:ln/>
        </p:spPr>
        <p:txBody>
          <a:bodyPr wrap="square" rtlCol="0" anchor="ctr"/>
          <a:lstStyle/>
          <a:p>
            <a:pPr algn="ctr" indent="0" marL="0">
              <a:buNone/>
            </a:pPr>
            <a:r>
              <a:rPr lang="en-US" sz="1300" i="1" dirty="0">
                <a:solidFill>
                  <a:srgbClr val="FFD970"/>
                </a:solidFill>
                <a:latin typeface="Calibri" pitchFamily="34" charset="0"/>
                <a:ea typeface="Calibri" pitchFamily="34" charset="-122"/>
                <a:cs typeface="Calibri" pitchFamily="34" charset="-120"/>
              </a:rPr>
              <a:t>At a million sessions a year, the total operating cost is dinner-out money.</a:t>
            </a:r>
            <a:endParaRPr lang="en-US" sz="1300" dirty="0"/>
          </a:p>
        </p:txBody>
      </p:sp>
      <p:sp>
        <p:nvSpPr>
          <p:cNvPr id="15" name="Text 13"/>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B5B0A8"/>
                </a:solidFill>
                <a:latin typeface="Calibri" pitchFamily="34" charset="0"/>
                <a:ea typeface="Calibri" pitchFamily="34" charset="-122"/>
                <a:cs typeface="Calibri" pitchFamily="34" charset="-120"/>
              </a:rPr>
              <a:t>26 / 30</a:t>
            </a:r>
            <a:endParaRPr lang="en-US" sz="900" dirty="0"/>
          </a:p>
        </p:txBody>
      </p:sp>
      <p:sp>
        <p:nvSpPr>
          <p:cNvPr id="16" name="Text 14"/>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B5B0A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SEE IT LIVE</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600" b="1" dirty="0">
                <a:solidFill>
                  <a:srgbClr val="1F1F1F"/>
                </a:solidFill>
                <a:latin typeface="Georgia" pitchFamily="34" charset="0"/>
                <a:ea typeface="Georgia" pitchFamily="34" charset="-122"/>
                <a:cs typeface="Georgia" pitchFamily="34" charset="-120"/>
              </a:rPr>
              <a:t>Live demo — pull up tlmfinance.netlify.app right now.</a:t>
            </a:r>
            <a:endParaRPr lang="en-US" sz="2600" dirty="0"/>
          </a:p>
        </p:txBody>
      </p:sp>
      <p:sp>
        <p:nvSpPr>
          <p:cNvPr id="4" name="Shape 2"/>
          <p:cNvSpPr/>
          <p:nvPr/>
        </p:nvSpPr>
        <p:spPr>
          <a:xfrm>
            <a:off x="457200" y="1554480"/>
            <a:ext cx="8229600" cy="3108960"/>
          </a:xfrm>
          <a:prstGeom prst="roundRect">
            <a:avLst>
              <a:gd name="adj" fmla="val 3529"/>
            </a:avLst>
          </a:prstGeom>
          <a:solidFill>
            <a:srgbClr val="F8F4EA"/>
          </a:solidFill>
          <a:ln w="12700">
            <a:solidFill>
              <a:srgbClr val="E5DBC2"/>
            </a:solidFill>
            <a:prstDash val="solid"/>
          </a:ln>
        </p:spPr>
      </p:sp>
      <p:sp>
        <p:nvSpPr>
          <p:cNvPr id="5" name="Text 3"/>
          <p:cNvSpPr/>
          <p:nvPr/>
        </p:nvSpPr>
        <p:spPr>
          <a:xfrm>
            <a:off x="640080" y="1783080"/>
            <a:ext cx="7863840" cy="548640"/>
          </a:xfrm>
          <a:prstGeom prst="rect">
            <a:avLst/>
          </a:prstGeom>
          <a:noFill/>
          <a:ln/>
        </p:spPr>
        <p:txBody>
          <a:bodyPr wrap="square" rtlCol="0" anchor="ctr"/>
          <a:lstStyle/>
          <a:p>
            <a:pPr algn="ctr" indent="0" marL="0">
              <a:buNone/>
            </a:pPr>
            <a:r>
              <a:rPr lang="en-US" sz="3200" b="1" dirty="0">
                <a:solidFill>
                  <a:srgbClr val="8C6810"/>
                </a:solidFill>
                <a:latin typeface="Georgia" pitchFamily="34" charset="0"/>
                <a:ea typeface="Georgia" pitchFamily="34" charset="-122"/>
                <a:cs typeface="Georgia" pitchFamily="34" charset="-120"/>
              </a:rPr>
              <a:t>🌐  tlmfinance.netlify.app</a:t>
            </a:r>
            <a:endParaRPr lang="en-US" sz="3200" dirty="0"/>
          </a:p>
        </p:txBody>
      </p:sp>
      <p:sp>
        <p:nvSpPr>
          <p:cNvPr id="6" name="Text 4"/>
          <p:cNvSpPr/>
          <p:nvPr/>
        </p:nvSpPr>
        <p:spPr>
          <a:xfrm>
            <a:off x="640080" y="2423160"/>
            <a:ext cx="7863840" cy="365760"/>
          </a:xfrm>
          <a:prstGeom prst="rect">
            <a:avLst/>
          </a:prstGeom>
          <a:noFill/>
          <a:ln/>
        </p:spPr>
        <p:txBody>
          <a:bodyPr wrap="square" rtlCol="0" anchor="ctr"/>
          <a:lstStyle/>
          <a:p>
            <a:pPr algn="ctr" indent="0" marL="0">
              <a:buNone/>
            </a:pPr>
            <a:r>
              <a:rPr lang="en-US" sz="1300" b="1" dirty="0">
                <a:solidFill>
                  <a:srgbClr val="1F1F1F"/>
                </a:solidFill>
                <a:latin typeface="Calibri" pitchFamily="34" charset="0"/>
                <a:ea typeface="Calibri" pitchFamily="34" charset="-122"/>
                <a:cs typeface="Calibri" pitchFamily="34" charset="-120"/>
              </a:rPr>
              <a:t>5-minute live tour:</a:t>
            </a:r>
            <a:endParaRPr lang="en-US" sz="1300" dirty="0"/>
          </a:p>
        </p:txBody>
      </p:sp>
      <p:sp>
        <p:nvSpPr>
          <p:cNvPr id="7" name="Text 5"/>
          <p:cNvSpPr/>
          <p:nvPr/>
        </p:nvSpPr>
        <p:spPr>
          <a:xfrm>
            <a:off x="1188720" y="2788920"/>
            <a:ext cx="7132320" cy="1783080"/>
          </a:xfrm>
          <a:prstGeom prst="rect">
            <a:avLst/>
          </a:prstGeom>
          <a:noFill/>
          <a:ln/>
        </p:spPr>
        <p:txBody>
          <a:bodyPr wrap="square" rtlCol="0" anchor="t"/>
          <a:lstStyle/>
          <a:p>
            <a:pPr indent="0" marL="0">
              <a:buNone/>
            </a:pPr>
            <a:r>
              <a:rPr lang="en-US" sz="1300" dirty="0">
                <a:solidFill>
                  <a:srgbClr val="4A4A42"/>
                </a:solidFill>
                <a:latin typeface="Calibri" pitchFamily="34" charset="0"/>
                <a:ea typeface="Calibri" pitchFamily="34" charset="-122"/>
                <a:cs typeface="Calibri" pitchFamily="34" charset="-120"/>
              </a:rPr>
              <a:t>1.  Tap "Generate planner" → bottom sheet → check 5 needs → "Generate my 72-hour plan."
</a:t>
            </a:r>
            <a:endParaRPr lang="en-US" sz="1300" dirty="0"/>
          </a:p>
          <a:p>
            <a:pPr indent="0" marL="0">
              <a:buNone/>
            </a:pPr>
            <a:r>
              <a:rPr lang="en-US" sz="1300" dirty="0">
                <a:solidFill>
                  <a:srgbClr val="4A4A42"/>
                </a:solidFill>
                <a:latin typeface="Calibri" pitchFamily="34" charset="0"/>
                <a:ea typeface="Calibri" pitchFamily="34" charset="-122"/>
                <a:cs typeface="Calibri" pitchFamily="34" charset="-120"/>
              </a:rPr>
              <a:t>2.  Hit "⬇ Download PDF" — a real PDF lands in Downloads.
</a:t>
            </a:r>
            <a:endParaRPr lang="en-US" sz="1300" dirty="0"/>
          </a:p>
          <a:p>
            <a:pPr indent="0" marL="0">
              <a:buNone/>
            </a:pPr>
            <a:r>
              <a:rPr lang="en-US" sz="1300" dirty="0">
                <a:solidFill>
                  <a:srgbClr val="4A4A42"/>
                </a:solidFill>
                <a:latin typeface="Calibri" pitchFamily="34" charset="0"/>
                <a:ea typeface="Calibri" pitchFamily="34" charset="-122"/>
                <a:cs typeface="Calibri" pitchFamily="34" charset="-120"/>
              </a:rPr>
              <a:t>3.  Tap "Open the customizable plan →" → the 72-hour list is already there.
</a:t>
            </a:r>
            <a:endParaRPr lang="en-US" sz="1300" dirty="0"/>
          </a:p>
          <a:p>
            <a:pPr indent="0" marL="0">
              <a:buNone/>
            </a:pPr>
            <a:r>
              <a:rPr lang="en-US" sz="1300" dirty="0">
                <a:solidFill>
                  <a:srgbClr val="4A4A42"/>
                </a:solidFill>
                <a:latin typeface="Calibri" pitchFamily="34" charset="0"/>
                <a:ea typeface="Calibri" pitchFamily="34" charset="-122"/>
                <a:cs typeface="Calibri" pitchFamily="34" charset="-120"/>
              </a:rPr>
              <a:t>4.  Pick the "Just released" template → live KPIs + plan-health update.
</a:t>
            </a:r>
            <a:endParaRPr lang="en-US" sz="1300" dirty="0"/>
          </a:p>
          <a:p>
            <a:pPr indent="0" marL="0">
              <a:buNone/>
            </a:pPr>
            <a:r>
              <a:rPr lang="en-US" sz="1300" dirty="0">
                <a:solidFill>
                  <a:srgbClr val="4A4A42"/>
                </a:solidFill>
                <a:latin typeface="Calibri" pitchFamily="34" charset="0"/>
                <a:ea typeface="Calibri" pitchFamily="34" charset="-122"/>
                <a:cs typeface="Calibri" pitchFamily="34" charset="-120"/>
              </a:rPr>
              <a:t>5.  Top-right theme toggle → cycle Auto / Light / Dark live.</a:t>
            </a:r>
            <a:endParaRPr lang="en-US" sz="1300" dirty="0"/>
          </a:p>
        </p:txBody>
      </p:sp>
      <p:sp>
        <p:nvSpPr>
          <p:cNvPr id="8" name="Text 6"/>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27 / 30</a:t>
            </a:r>
            <a:endParaRPr lang="en-US" sz="900" dirty="0"/>
          </a:p>
        </p:txBody>
      </p:sp>
      <p:sp>
        <p:nvSpPr>
          <p:cNvPr id="9" name="Text 7"/>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DAA520"/>
                </a:solidFill>
                <a:latin typeface="Calibri" pitchFamily="34" charset="0"/>
                <a:ea typeface="Calibri" pitchFamily="34" charset="-122"/>
                <a:cs typeface="Calibri" pitchFamily="34" charset="-120"/>
              </a:rPr>
              <a:t>THE ASK</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FAF7EE"/>
                </a:solidFill>
                <a:latin typeface="Georgia" pitchFamily="34" charset="0"/>
                <a:ea typeface="Georgia" pitchFamily="34" charset="-122"/>
                <a:cs typeface="Georgia" pitchFamily="34" charset="-120"/>
              </a:rPr>
              <a:t>Three sentences.</a:t>
            </a:r>
            <a:endParaRPr lang="en-US" sz="2800" dirty="0"/>
          </a:p>
        </p:txBody>
      </p:sp>
      <p:sp>
        <p:nvSpPr>
          <p:cNvPr id="4" name="Text 2"/>
          <p:cNvSpPr/>
          <p:nvPr/>
        </p:nvSpPr>
        <p:spPr>
          <a:xfrm>
            <a:off x="548640" y="1417320"/>
            <a:ext cx="8046720" cy="3200400"/>
          </a:xfrm>
          <a:prstGeom prst="rect">
            <a:avLst/>
          </a:prstGeom>
          <a:noFill/>
          <a:ln/>
        </p:spPr>
        <p:txBody>
          <a:bodyPr wrap="square" lIns="0" tIns="0" rIns="0" bIns="0" rtlCol="0" anchor="t"/>
          <a:lstStyle/>
          <a:p>
            <a:pPr indent="0" marL="0">
              <a:buNone/>
            </a:pPr>
            <a:r>
              <a:rPr lang="en-US" sz="1600" b="1" dirty="0">
                <a:solidFill>
                  <a:srgbClr val="DAA520"/>
                </a:solidFill>
                <a:latin typeface="Calibri" pitchFamily="34" charset="0"/>
                <a:ea typeface="Calibri" pitchFamily="34" charset="-122"/>
                <a:cs typeface="Calibri" pitchFamily="34" charset="-120"/>
              </a:rPr>
              <a:t>One.  </a:t>
            </a:r>
            <a:pPr indent="0" marL="0">
              <a:buNone/>
            </a:pPr>
            <a:r>
              <a:rPr lang="en-US" sz="1400" dirty="0">
                <a:solidFill>
                  <a:srgbClr val="FAF7EE"/>
                </a:solidFill>
                <a:latin typeface="Calibri" pitchFamily="34" charset="0"/>
                <a:ea typeface="Calibri" pitchFamily="34" charset="-122"/>
                <a:cs typeface="Calibri" pitchFamily="34" charset="-120"/>
              </a:rPr>
              <a:t>Bless this project to use the TLM mark, or tell us what shape an official partnership could take.
</a:t>
            </a:r>
            <a:endParaRPr lang="en-US" sz="16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rgbClr val="DAA520"/>
                </a:solidFill>
                <a:latin typeface="Calibri" pitchFamily="34" charset="0"/>
                <a:ea typeface="Calibri" pitchFamily="34" charset="-122"/>
                <a:cs typeface="Calibri" pitchFamily="34" charset="-120"/>
              </a:rPr>
              <a:t>Two.  </a:t>
            </a:r>
            <a:pPr indent="0" marL="0">
              <a:buNone/>
            </a:pPr>
            <a:r>
              <a:rPr lang="en-US" sz="1400" dirty="0">
                <a:solidFill>
                  <a:srgbClr val="FAF7EE"/>
                </a:solidFill>
                <a:latin typeface="Calibri" pitchFamily="34" charset="0"/>
                <a:ea typeface="Calibri" pitchFamily="34" charset="-122"/>
                <a:cs typeface="Calibri" pitchFamily="34" charset="-120"/>
              </a:rPr>
              <a:t>Pilot it with one cohort — anywhere, any size. We'll handle the deploy. You handle the introductions.
</a:t>
            </a:r>
            <a:endParaRPr lang="en-US" sz="16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rgbClr val="DAA520"/>
                </a:solidFill>
                <a:latin typeface="Calibri" pitchFamily="34" charset="0"/>
                <a:ea typeface="Calibri" pitchFamily="34" charset="-122"/>
                <a:cs typeface="Calibri" pitchFamily="34" charset="-120"/>
              </a:rPr>
              <a:t>Three.  </a:t>
            </a:r>
            <a:pPr indent="0" marL="0">
              <a:buNone/>
            </a:pPr>
            <a:r>
              <a:rPr lang="en-US" sz="1400" dirty="0">
                <a:solidFill>
                  <a:srgbClr val="FAF7EE"/>
                </a:solidFill>
                <a:latin typeface="Calibri" pitchFamily="34" charset="0"/>
                <a:ea typeface="Calibri" pitchFamily="34" charset="-122"/>
                <a:cs typeface="Calibri" pitchFamily="34" charset="-120"/>
              </a:rPr>
              <a:t>Tell us what we got wrong. Voice, copy, layout, resources — we'll fix anything that doesn't fit.</a:t>
            </a:r>
            <a:endParaRPr lang="en-US" sz="1600" dirty="0"/>
          </a:p>
        </p:txBody>
      </p:sp>
      <p:sp>
        <p:nvSpPr>
          <p:cNvPr id="5" name="Text 3"/>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B5B0A8"/>
                </a:solidFill>
                <a:latin typeface="Calibri" pitchFamily="34" charset="0"/>
                <a:ea typeface="Calibri" pitchFamily="34" charset="-122"/>
                <a:cs typeface="Calibri" pitchFamily="34" charset="-120"/>
              </a:rPr>
              <a:t>28 / 30</a:t>
            </a:r>
            <a:endParaRPr lang="en-US" sz="900" dirty="0"/>
          </a:p>
        </p:txBody>
      </p:sp>
      <p:sp>
        <p:nvSpPr>
          <p:cNvPr id="6" name="Text 4"/>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B5B0A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274320"/>
          </a:xfrm>
          <a:prstGeom prst="rect">
            <a:avLst/>
          </a:prstGeom>
          <a:noFill/>
          <a:ln/>
        </p:spPr>
        <p:txBody>
          <a:bodyPr wrap="square" rtlCol="0" anchor="ctr"/>
          <a:lstStyle/>
          <a:p>
            <a:pPr indent="0" marL="0">
              <a:buNone/>
            </a:pPr>
            <a:r>
              <a:rPr lang="en-US" sz="1100" b="1" spc="600" kern="0" dirty="0">
                <a:solidFill>
                  <a:srgbClr val="8C6810"/>
                </a:solidFill>
                <a:latin typeface="Calibri" pitchFamily="34" charset="0"/>
                <a:ea typeface="Calibri" pitchFamily="34" charset="-122"/>
                <a:cs typeface="Calibri" pitchFamily="34" charset="-120"/>
              </a:rPr>
              <a:t>OPEN FLOOR</a:t>
            </a:r>
            <a:endParaRPr lang="en-US" sz="1100" dirty="0"/>
          </a:p>
        </p:txBody>
      </p:sp>
      <p:sp>
        <p:nvSpPr>
          <p:cNvPr id="3" name="Text 1"/>
          <p:cNvSpPr/>
          <p:nvPr/>
        </p:nvSpPr>
        <p:spPr>
          <a:xfrm>
            <a:off x="457200" y="731520"/>
            <a:ext cx="8229600" cy="640080"/>
          </a:xfrm>
          <a:prstGeom prst="rect">
            <a:avLst/>
          </a:prstGeom>
          <a:noFill/>
          <a:ln/>
        </p:spPr>
        <p:txBody>
          <a:bodyPr wrap="square" rtlCol="0" anchor="ctr"/>
          <a:lstStyle/>
          <a:p>
            <a:pPr indent="0" marL="0">
              <a:buNone/>
            </a:pPr>
            <a:r>
              <a:rPr lang="en-US" sz="2800" b="1" dirty="0">
                <a:solidFill>
                  <a:srgbClr val="1F1F1F"/>
                </a:solidFill>
                <a:latin typeface="Georgia" pitchFamily="34" charset="0"/>
                <a:ea typeface="Georgia" pitchFamily="34" charset="-122"/>
                <a:cs typeface="Georgia" pitchFamily="34" charset="-120"/>
              </a:rPr>
              <a:t>Q&amp;A — what would you like to dig into?</a:t>
            </a:r>
            <a:endParaRPr lang="en-US" sz="2800" dirty="0"/>
          </a:p>
        </p:txBody>
      </p:sp>
      <p:sp>
        <p:nvSpPr>
          <p:cNvPr id="4" name="Shape 2"/>
          <p:cNvSpPr/>
          <p:nvPr/>
        </p:nvSpPr>
        <p:spPr>
          <a:xfrm>
            <a:off x="457200" y="1554480"/>
            <a:ext cx="2697480" cy="1280160"/>
          </a:xfrm>
          <a:prstGeom prst="roundRect">
            <a:avLst>
              <a:gd name="adj" fmla="val 7143"/>
            </a:avLst>
          </a:prstGeom>
          <a:solidFill>
            <a:srgbClr val="F8F4EA"/>
          </a:solidFill>
          <a:ln w="12700">
            <a:solidFill>
              <a:srgbClr val="E5DBC2"/>
            </a:solidFill>
            <a:prstDash val="solid"/>
          </a:ln>
        </p:spPr>
      </p:sp>
      <p:sp>
        <p:nvSpPr>
          <p:cNvPr id="5" name="Text 3"/>
          <p:cNvSpPr/>
          <p:nvPr/>
        </p:nvSpPr>
        <p:spPr>
          <a:xfrm>
            <a:off x="594360" y="1691640"/>
            <a:ext cx="457200" cy="457200"/>
          </a:xfrm>
          <a:prstGeom prst="rect">
            <a:avLst/>
          </a:prstGeom>
          <a:noFill/>
          <a:ln/>
        </p:spPr>
        <p:txBody>
          <a:bodyPr wrap="square" rtlCol="0" anchor="ctr"/>
          <a:lstStyle/>
          <a:p>
            <a:pPr indent="0" marL="0">
              <a:buNone/>
            </a:pPr>
            <a:r>
              <a:rPr lang="en-US" sz="2200" dirty="0">
                <a:solidFill>
                  <a:srgbClr val="DAA520"/>
                </a:solidFill>
              </a:rPr>
              <a:t>🔒</a:t>
            </a:r>
            <a:endParaRPr lang="en-US" sz="2200" dirty="0"/>
          </a:p>
        </p:txBody>
      </p:sp>
      <p:sp>
        <p:nvSpPr>
          <p:cNvPr id="6" name="Text 4"/>
          <p:cNvSpPr/>
          <p:nvPr/>
        </p:nvSpPr>
        <p:spPr>
          <a:xfrm>
            <a:off x="1143000" y="1719072"/>
            <a:ext cx="1920240" cy="36576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Privacy &amp; data</a:t>
            </a:r>
            <a:endParaRPr lang="en-US" sz="1300" dirty="0"/>
          </a:p>
        </p:txBody>
      </p:sp>
      <p:sp>
        <p:nvSpPr>
          <p:cNvPr id="7" name="Text 5"/>
          <p:cNvSpPr/>
          <p:nvPr/>
        </p:nvSpPr>
        <p:spPr>
          <a:xfrm>
            <a:off x="594360" y="2194560"/>
            <a:ext cx="2468880" cy="594360"/>
          </a:xfrm>
          <a:prstGeom prst="rect">
            <a:avLst/>
          </a:prstGeom>
          <a:noFill/>
          <a:ln/>
        </p:spPr>
        <p:txBody>
          <a:bodyPr wrap="square" rtlCol="0" anchor="ctr"/>
          <a:lstStyle/>
          <a:p>
            <a:pPr indent="0" marL="0">
              <a:buNone/>
            </a:pPr>
            <a:r>
              <a:rPr lang="en-US" sz="1000" dirty="0">
                <a:solidFill>
                  <a:srgbClr val="4A4A42"/>
                </a:solidFill>
                <a:latin typeface="Calibri" pitchFamily="34" charset="0"/>
                <a:ea typeface="Calibri" pitchFamily="34" charset="-122"/>
                <a:cs typeface="Calibri" pitchFamily="34" charset="-120"/>
              </a:rPr>
              <a:t>What we collect, what we don't, how RLS works.</a:t>
            </a:r>
            <a:endParaRPr lang="en-US" sz="1000" dirty="0"/>
          </a:p>
        </p:txBody>
      </p:sp>
      <p:sp>
        <p:nvSpPr>
          <p:cNvPr id="8" name="Shape 6"/>
          <p:cNvSpPr/>
          <p:nvPr/>
        </p:nvSpPr>
        <p:spPr>
          <a:xfrm>
            <a:off x="3246120" y="1554480"/>
            <a:ext cx="2697480" cy="1280160"/>
          </a:xfrm>
          <a:prstGeom prst="roundRect">
            <a:avLst>
              <a:gd name="adj" fmla="val 7143"/>
            </a:avLst>
          </a:prstGeom>
          <a:solidFill>
            <a:srgbClr val="F8F4EA"/>
          </a:solidFill>
          <a:ln w="12700">
            <a:solidFill>
              <a:srgbClr val="E5DBC2"/>
            </a:solidFill>
            <a:prstDash val="solid"/>
          </a:ln>
        </p:spPr>
      </p:sp>
      <p:sp>
        <p:nvSpPr>
          <p:cNvPr id="9" name="Text 7"/>
          <p:cNvSpPr/>
          <p:nvPr/>
        </p:nvSpPr>
        <p:spPr>
          <a:xfrm>
            <a:off x="3383280" y="1691640"/>
            <a:ext cx="457200" cy="457200"/>
          </a:xfrm>
          <a:prstGeom prst="rect">
            <a:avLst/>
          </a:prstGeom>
          <a:noFill/>
          <a:ln/>
        </p:spPr>
        <p:txBody>
          <a:bodyPr wrap="square" rtlCol="0" anchor="ctr"/>
          <a:lstStyle/>
          <a:p>
            <a:pPr indent="0" marL="0">
              <a:buNone/>
            </a:pPr>
            <a:r>
              <a:rPr lang="en-US" sz="2200" dirty="0">
                <a:solidFill>
                  <a:srgbClr val="DAA520"/>
                </a:solidFill>
              </a:rPr>
              <a:t>💸</a:t>
            </a:r>
            <a:endParaRPr lang="en-US" sz="2200" dirty="0"/>
          </a:p>
        </p:txBody>
      </p:sp>
      <p:sp>
        <p:nvSpPr>
          <p:cNvPr id="10" name="Text 8"/>
          <p:cNvSpPr/>
          <p:nvPr/>
        </p:nvSpPr>
        <p:spPr>
          <a:xfrm>
            <a:off x="3931920" y="1719072"/>
            <a:ext cx="1920240" cy="36576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Money &amp; scale</a:t>
            </a:r>
            <a:endParaRPr lang="en-US" sz="1300" dirty="0"/>
          </a:p>
        </p:txBody>
      </p:sp>
      <p:sp>
        <p:nvSpPr>
          <p:cNvPr id="11" name="Text 9"/>
          <p:cNvSpPr/>
          <p:nvPr/>
        </p:nvSpPr>
        <p:spPr>
          <a:xfrm>
            <a:off x="3383280" y="2194560"/>
            <a:ext cx="2468880" cy="594360"/>
          </a:xfrm>
          <a:prstGeom prst="rect">
            <a:avLst/>
          </a:prstGeom>
          <a:noFill/>
          <a:ln/>
        </p:spPr>
        <p:txBody>
          <a:bodyPr wrap="square" rtlCol="0" anchor="ctr"/>
          <a:lstStyle/>
          <a:p>
            <a:pPr indent="0" marL="0">
              <a:buNone/>
            </a:pPr>
            <a:r>
              <a:rPr lang="en-US" sz="1000" dirty="0">
                <a:solidFill>
                  <a:srgbClr val="4A4A42"/>
                </a:solidFill>
                <a:latin typeface="Calibri" pitchFamily="34" charset="0"/>
                <a:ea typeface="Calibri" pitchFamily="34" charset="-122"/>
                <a:cs typeface="Calibri" pitchFamily="34" charset="-120"/>
              </a:rPr>
              <a:t>Cost model, cap-table is empty, donor-funded option.</a:t>
            </a:r>
            <a:endParaRPr lang="en-US" sz="1000" dirty="0"/>
          </a:p>
        </p:txBody>
      </p:sp>
      <p:sp>
        <p:nvSpPr>
          <p:cNvPr id="12" name="Shape 10"/>
          <p:cNvSpPr/>
          <p:nvPr/>
        </p:nvSpPr>
        <p:spPr>
          <a:xfrm>
            <a:off x="6035040" y="1554480"/>
            <a:ext cx="2697480" cy="1280160"/>
          </a:xfrm>
          <a:prstGeom prst="roundRect">
            <a:avLst>
              <a:gd name="adj" fmla="val 7143"/>
            </a:avLst>
          </a:prstGeom>
          <a:solidFill>
            <a:srgbClr val="F8F4EA"/>
          </a:solidFill>
          <a:ln w="12700">
            <a:solidFill>
              <a:srgbClr val="E5DBC2"/>
            </a:solidFill>
            <a:prstDash val="solid"/>
          </a:ln>
        </p:spPr>
      </p:sp>
      <p:sp>
        <p:nvSpPr>
          <p:cNvPr id="13" name="Text 11"/>
          <p:cNvSpPr/>
          <p:nvPr/>
        </p:nvSpPr>
        <p:spPr>
          <a:xfrm>
            <a:off x="6172200" y="1691640"/>
            <a:ext cx="457200" cy="457200"/>
          </a:xfrm>
          <a:prstGeom prst="rect">
            <a:avLst/>
          </a:prstGeom>
          <a:noFill/>
          <a:ln/>
        </p:spPr>
        <p:txBody>
          <a:bodyPr wrap="square" rtlCol="0" anchor="ctr"/>
          <a:lstStyle/>
          <a:p>
            <a:pPr indent="0" marL="0">
              <a:buNone/>
            </a:pPr>
            <a:r>
              <a:rPr lang="en-US" sz="2200" dirty="0">
                <a:solidFill>
                  <a:srgbClr val="DAA520"/>
                </a:solidFill>
              </a:rPr>
              <a:t>🤝</a:t>
            </a:r>
            <a:endParaRPr lang="en-US" sz="2200" dirty="0"/>
          </a:p>
        </p:txBody>
      </p:sp>
      <p:sp>
        <p:nvSpPr>
          <p:cNvPr id="14" name="Text 12"/>
          <p:cNvSpPr/>
          <p:nvPr/>
        </p:nvSpPr>
        <p:spPr>
          <a:xfrm>
            <a:off x="6720840" y="1719072"/>
            <a:ext cx="1920240" cy="36576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Partnership</a:t>
            </a:r>
            <a:endParaRPr lang="en-US" sz="1300" dirty="0"/>
          </a:p>
        </p:txBody>
      </p:sp>
      <p:sp>
        <p:nvSpPr>
          <p:cNvPr id="15" name="Text 13"/>
          <p:cNvSpPr/>
          <p:nvPr/>
        </p:nvSpPr>
        <p:spPr>
          <a:xfrm>
            <a:off x="6172200" y="2194560"/>
            <a:ext cx="2468880" cy="594360"/>
          </a:xfrm>
          <a:prstGeom prst="rect">
            <a:avLst/>
          </a:prstGeom>
          <a:noFill/>
          <a:ln/>
        </p:spPr>
        <p:txBody>
          <a:bodyPr wrap="square" rtlCol="0" anchor="ctr"/>
          <a:lstStyle/>
          <a:p>
            <a:pPr indent="0" marL="0">
              <a:buNone/>
            </a:pPr>
            <a:r>
              <a:rPr lang="en-US" sz="1000" dirty="0">
                <a:solidFill>
                  <a:srgbClr val="4A4A42"/>
                </a:solidFill>
                <a:latin typeface="Calibri" pitchFamily="34" charset="0"/>
                <a:ea typeface="Calibri" pitchFamily="34" charset="-122"/>
                <a:cs typeface="Calibri" pitchFamily="34" charset="-120"/>
              </a:rPr>
              <a:t>Adopt vs. sponsor vs. reference. Open to all three.</a:t>
            </a:r>
            <a:endParaRPr lang="en-US" sz="1000" dirty="0"/>
          </a:p>
        </p:txBody>
      </p:sp>
      <p:sp>
        <p:nvSpPr>
          <p:cNvPr id="16" name="Shape 14"/>
          <p:cNvSpPr/>
          <p:nvPr/>
        </p:nvSpPr>
        <p:spPr>
          <a:xfrm>
            <a:off x="457200" y="2971800"/>
            <a:ext cx="2697480" cy="1280160"/>
          </a:xfrm>
          <a:prstGeom prst="roundRect">
            <a:avLst>
              <a:gd name="adj" fmla="val 7143"/>
            </a:avLst>
          </a:prstGeom>
          <a:solidFill>
            <a:srgbClr val="F8F4EA"/>
          </a:solidFill>
          <a:ln w="12700">
            <a:solidFill>
              <a:srgbClr val="E5DBC2"/>
            </a:solidFill>
            <a:prstDash val="solid"/>
          </a:ln>
        </p:spPr>
      </p:sp>
      <p:sp>
        <p:nvSpPr>
          <p:cNvPr id="17" name="Text 15"/>
          <p:cNvSpPr/>
          <p:nvPr/>
        </p:nvSpPr>
        <p:spPr>
          <a:xfrm>
            <a:off x="594360" y="3108960"/>
            <a:ext cx="457200" cy="457200"/>
          </a:xfrm>
          <a:prstGeom prst="rect">
            <a:avLst/>
          </a:prstGeom>
          <a:noFill/>
          <a:ln/>
        </p:spPr>
        <p:txBody>
          <a:bodyPr wrap="square" rtlCol="0" anchor="ctr"/>
          <a:lstStyle/>
          <a:p>
            <a:pPr indent="0" marL="0">
              <a:buNone/>
            </a:pPr>
            <a:r>
              <a:rPr lang="en-US" sz="2200" dirty="0">
                <a:solidFill>
                  <a:srgbClr val="DAA520"/>
                </a:solidFill>
              </a:rPr>
              <a:t>🛠</a:t>
            </a:r>
            <a:endParaRPr lang="en-US" sz="2200" dirty="0"/>
          </a:p>
        </p:txBody>
      </p:sp>
      <p:sp>
        <p:nvSpPr>
          <p:cNvPr id="18" name="Text 16"/>
          <p:cNvSpPr/>
          <p:nvPr/>
        </p:nvSpPr>
        <p:spPr>
          <a:xfrm>
            <a:off x="1143000" y="3136392"/>
            <a:ext cx="1920240" cy="36576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Tech &amp; roadmap</a:t>
            </a:r>
            <a:endParaRPr lang="en-US" sz="1300" dirty="0"/>
          </a:p>
        </p:txBody>
      </p:sp>
      <p:sp>
        <p:nvSpPr>
          <p:cNvPr id="19" name="Text 17"/>
          <p:cNvSpPr/>
          <p:nvPr/>
        </p:nvSpPr>
        <p:spPr>
          <a:xfrm>
            <a:off x="594360" y="3611880"/>
            <a:ext cx="2468880" cy="594360"/>
          </a:xfrm>
          <a:prstGeom prst="rect">
            <a:avLst/>
          </a:prstGeom>
          <a:noFill/>
          <a:ln/>
        </p:spPr>
        <p:txBody>
          <a:bodyPr wrap="square" rtlCol="0" anchor="ctr"/>
          <a:lstStyle/>
          <a:p>
            <a:pPr indent="0" marL="0">
              <a:buNone/>
            </a:pPr>
            <a:r>
              <a:rPr lang="en-US" sz="1000" dirty="0">
                <a:solidFill>
                  <a:srgbClr val="4A4A42"/>
                </a:solidFill>
                <a:latin typeface="Calibri" pitchFamily="34" charset="0"/>
                <a:ea typeface="Calibri" pitchFamily="34" charset="-122"/>
                <a:cs typeface="Calibri" pitchFamily="34" charset="-120"/>
              </a:rPr>
              <a:t>Stack, accessibility, what's next on the punch list.</a:t>
            </a:r>
            <a:endParaRPr lang="en-US" sz="1000" dirty="0"/>
          </a:p>
        </p:txBody>
      </p:sp>
      <p:sp>
        <p:nvSpPr>
          <p:cNvPr id="20" name="Shape 18"/>
          <p:cNvSpPr/>
          <p:nvPr/>
        </p:nvSpPr>
        <p:spPr>
          <a:xfrm>
            <a:off x="3246120" y="2971800"/>
            <a:ext cx="2697480" cy="1280160"/>
          </a:xfrm>
          <a:prstGeom prst="roundRect">
            <a:avLst>
              <a:gd name="adj" fmla="val 7143"/>
            </a:avLst>
          </a:prstGeom>
          <a:solidFill>
            <a:srgbClr val="F8F4EA"/>
          </a:solidFill>
          <a:ln w="12700">
            <a:solidFill>
              <a:srgbClr val="E5DBC2"/>
            </a:solidFill>
            <a:prstDash val="solid"/>
          </a:ln>
        </p:spPr>
      </p:sp>
      <p:sp>
        <p:nvSpPr>
          <p:cNvPr id="21" name="Text 19"/>
          <p:cNvSpPr/>
          <p:nvPr/>
        </p:nvSpPr>
        <p:spPr>
          <a:xfrm>
            <a:off x="3383280" y="3108960"/>
            <a:ext cx="457200" cy="457200"/>
          </a:xfrm>
          <a:prstGeom prst="rect">
            <a:avLst/>
          </a:prstGeom>
          <a:noFill/>
          <a:ln/>
        </p:spPr>
        <p:txBody>
          <a:bodyPr wrap="square" rtlCol="0" anchor="ctr"/>
          <a:lstStyle/>
          <a:p>
            <a:pPr indent="0" marL="0">
              <a:buNone/>
            </a:pPr>
            <a:r>
              <a:rPr lang="en-US" sz="2200" dirty="0">
                <a:solidFill>
                  <a:srgbClr val="DAA520"/>
                </a:solidFill>
              </a:rPr>
              <a:t>👥</a:t>
            </a:r>
            <a:endParaRPr lang="en-US" sz="2200" dirty="0"/>
          </a:p>
        </p:txBody>
      </p:sp>
      <p:sp>
        <p:nvSpPr>
          <p:cNvPr id="22" name="Text 20"/>
          <p:cNvSpPr/>
          <p:nvPr/>
        </p:nvSpPr>
        <p:spPr>
          <a:xfrm>
            <a:off x="3931920" y="3136392"/>
            <a:ext cx="1920240" cy="36576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Pilot logistics</a:t>
            </a:r>
            <a:endParaRPr lang="en-US" sz="1300" dirty="0"/>
          </a:p>
        </p:txBody>
      </p:sp>
      <p:sp>
        <p:nvSpPr>
          <p:cNvPr id="23" name="Text 21"/>
          <p:cNvSpPr/>
          <p:nvPr/>
        </p:nvSpPr>
        <p:spPr>
          <a:xfrm>
            <a:off x="3383280" y="3611880"/>
            <a:ext cx="2468880" cy="594360"/>
          </a:xfrm>
          <a:prstGeom prst="rect">
            <a:avLst/>
          </a:prstGeom>
          <a:noFill/>
          <a:ln/>
        </p:spPr>
        <p:txBody>
          <a:bodyPr wrap="square" rtlCol="0" anchor="ctr"/>
          <a:lstStyle/>
          <a:p>
            <a:pPr indent="0" marL="0">
              <a:buNone/>
            </a:pPr>
            <a:r>
              <a:rPr lang="en-US" sz="1000" dirty="0">
                <a:solidFill>
                  <a:srgbClr val="4A4A42"/>
                </a:solidFill>
                <a:latin typeface="Calibri" pitchFamily="34" charset="0"/>
                <a:ea typeface="Calibri" pitchFamily="34" charset="-122"/>
                <a:cs typeface="Calibri" pitchFamily="34" charset="-120"/>
              </a:rPr>
              <a:t>How a cohort pilot would actually run.</a:t>
            </a:r>
            <a:endParaRPr lang="en-US" sz="1000" dirty="0"/>
          </a:p>
        </p:txBody>
      </p:sp>
      <p:sp>
        <p:nvSpPr>
          <p:cNvPr id="24" name="Shape 22"/>
          <p:cNvSpPr/>
          <p:nvPr/>
        </p:nvSpPr>
        <p:spPr>
          <a:xfrm>
            <a:off x="6035040" y="2971800"/>
            <a:ext cx="2697480" cy="1280160"/>
          </a:xfrm>
          <a:prstGeom prst="roundRect">
            <a:avLst>
              <a:gd name="adj" fmla="val 7143"/>
            </a:avLst>
          </a:prstGeom>
          <a:solidFill>
            <a:srgbClr val="F8F4EA"/>
          </a:solidFill>
          <a:ln w="12700">
            <a:solidFill>
              <a:srgbClr val="E5DBC2"/>
            </a:solidFill>
            <a:prstDash val="solid"/>
          </a:ln>
        </p:spPr>
      </p:sp>
      <p:sp>
        <p:nvSpPr>
          <p:cNvPr id="25" name="Text 23"/>
          <p:cNvSpPr/>
          <p:nvPr/>
        </p:nvSpPr>
        <p:spPr>
          <a:xfrm>
            <a:off x="6172200" y="3108960"/>
            <a:ext cx="457200" cy="457200"/>
          </a:xfrm>
          <a:prstGeom prst="rect">
            <a:avLst/>
          </a:prstGeom>
          <a:noFill/>
          <a:ln/>
        </p:spPr>
        <p:txBody>
          <a:bodyPr wrap="square" rtlCol="0" anchor="ctr"/>
          <a:lstStyle/>
          <a:p>
            <a:pPr indent="0" marL="0">
              <a:buNone/>
            </a:pPr>
            <a:r>
              <a:rPr lang="en-US" sz="2200" dirty="0">
                <a:solidFill>
                  <a:srgbClr val="DAA520"/>
                </a:solidFill>
              </a:rPr>
              <a:t>❓</a:t>
            </a:r>
            <a:endParaRPr lang="en-US" sz="2200" dirty="0"/>
          </a:p>
        </p:txBody>
      </p:sp>
      <p:sp>
        <p:nvSpPr>
          <p:cNvPr id="26" name="Text 24"/>
          <p:cNvSpPr/>
          <p:nvPr/>
        </p:nvSpPr>
        <p:spPr>
          <a:xfrm>
            <a:off x="6720840" y="3136392"/>
            <a:ext cx="1920240" cy="365760"/>
          </a:xfrm>
          <a:prstGeom prst="rect">
            <a:avLst/>
          </a:prstGeom>
          <a:noFill/>
          <a:ln/>
        </p:spPr>
        <p:txBody>
          <a:bodyPr wrap="square"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Anything else</a:t>
            </a:r>
            <a:endParaRPr lang="en-US" sz="1300" dirty="0"/>
          </a:p>
        </p:txBody>
      </p:sp>
      <p:sp>
        <p:nvSpPr>
          <p:cNvPr id="27" name="Text 25"/>
          <p:cNvSpPr/>
          <p:nvPr/>
        </p:nvSpPr>
        <p:spPr>
          <a:xfrm>
            <a:off x="6172200" y="3611880"/>
            <a:ext cx="2468880" cy="594360"/>
          </a:xfrm>
          <a:prstGeom prst="rect">
            <a:avLst/>
          </a:prstGeom>
          <a:noFill/>
          <a:ln/>
        </p:spPr>
        <p:txBody>
          <a:bodyPr wrap="square" rtlCol="0" anchor="ctr"/>
          <a:lstStyle/>
          <a:p>
            <a:pPr indent="0" marL="0">
              <a:buNone/>
            </a:pPr>
            <a:r>
              <a:rPr lang="en-US" sz="1000" dirty="0">
                <a:solidFill>
                  <a:srgbClr val="4A4A42"/>
                </a:solidFill>
                <a:latin typeface="Calibri" pitchFamily="34" charset="0"/>
                <a:ea typeface="Calibri" pitchFamily="34" charset="-122"/>
                <a:cs typeface="Calibri" pitchFamily="34" charset="-120"/>
              </a:rPr>
              <a:t>Voice, copy, design, ethics, sustainability — open floor.</a:t>
            </a:r>
            <a:endParaRPr lang="en-US" sz="1000" dirty="0"/>
          </a:p>
        </p:txBody>
      </p:sp>
      <p:sp>
        <p:nvSpPr>
          <p:cNvPr id="28" name="Text 26"/>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29 / 30</a:t>
            </a:r>
            <a:endParaRPr lang="en-US" sz="900" dirty="0"/>
          </a:p>
        </p:txBody>
      </p:sp>
      <p:sp>
        <p:nvSpPr>
          <p:cNvPr id="29" name="Text 27"/>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0E0E"/>
        </a:solidFill>
      </p:bgPr>
    </p:bg>
    <p:spTree>
      <p:nvGrpSpPr>
        <p:cNvPr id="1" name=""/>
        <p:cNvGrpSpPr/>
        <p:nvPr/>
      </p:nvGrpSpPr>
      <p:grpSpPr>
        <a:xfrm>
          <a:off x="0" y="0"/>
          <a:ext cx="0" cy="0"/>
          <a:chOff x="0" y="0"/>
          <a:chExt cx="0" cy="0"/>
        </a:xfrm>
      </p:grpSpPr>
      <p:sp>
        <p:nvSpPr>
          <p:cNvPr id="2" name="Shape 0"/>
          <p:cNvSpPr/>
          <p:nvPr/>
        </p:nvSpPr>
        <p:spPr>
          <a:xfrm>
            <a:off x="5486400" y="-914400"/>
            <a:ext cx="5486400" cy="5486400"/>
          </a:xfrm>
          <a:prstGeom prst="ellipse">
            <a:avLst/>
          </a:prstGeom>
          <a:solidFill>
            <a:srgbClr val="DAA520">
              <a:alpha val="20000"/>
            </a:srgbClr>
          </a:solidFill>
          <a:ln w="12700">
            <a:solidFill>
              <a:srgbClr val="1A1A1A"/>
            </a:solidFill>
            <a:prstDash val="solid"/>
          </a:ln>
        </p:spPr>
      </p:sp>
      <p:sp>
        <p:nvSpPr>
          <p:cNvPr id="3" name="Shape 1"/>
          <p:cNvSpPr/>
          <p:nvPr/>
        </p:nvSpPr>
        <p:spPr>
          <a:xfrm>
            <a:off x="6400800" y="0"/>
            <a:ext cx="3657600" cy="3657600"/>
          </a:xfrm>
          <a:prstGeom prst="ellipse">
            <a:avLst/>
          </a:prstGeom>
          <a:solidFill>
            <a:srgbClr val="FFD970">
              <a:alpha val="35000"/>
            </a:srgbClr>
          </a:solidFill>
          <a:ln w="12700">
            <a:solidFill>
              <a:srgbClr val="1A1A1A"/>
            </a:solidFill>
            <a:prstDash val="solid"/>
          </a:ln>
        </p:spPr>
      </p:sp>
      <p:sp>
        <p:nvSpPr>
          <p:cNvPr id="4" name="Text 2"/>
          <p:cNvSpPr/>
          <p:nvPr/>
        </p:nvSpPr>
        <p:spPr>
          <a:xfrm>
            <a:off x="548640" y="1463040"/>
            <a:ext cx="7772400" cy="1097280"/>
          </a:xfrm>
          <a:prstGeom prst="rect">
            <a:avLst/>
          </a:prstGeom>
          <a:noFill/>
          <a:ln/>
        </p:spPr>
        <p:txBody>
          <a:bodyPr wrap="square" rtlCol="0" anchor="ctr"/>
          <a:lstStyle/>
          <a:p>
            <a:pPr indent="0" marL="0">
              <a:buNone/>
            </a:pPr>
            <a:r>
              <a:rPr lang="en-US" sz="6000" b="1" dirty="0">
                <a:solidFill>
                  <a:srgbClr val="FAF7EE"/>
                </a:solidFill>
                <a:latin typeface="Georgia" pitchFamily="34" charset="0"/>
                <a:ea typeface="Georgia" pitchFamily="34" charset="-122"/>
                <a:cs typeface="Georgia" pitchFamily="34" charset="-120"/>
              </a:rPr>
              <a:t>Thank you.</a:t>
            </a:r>
            <a:endParaRPr lang="en-US" sz="6000" dirty="0"/>
          </a:p>
        </p:txBody>
      </p:sp>
      <p:sp>
        <p:nvSpPr>
          <p:cNvPr id="5" name="Text 3"/>
          <p:cNvSpPr/>
          <p:nvPr/>
        </p:nvSpPr>
        <p:spPr>
          <a:xfrm>
            <a:off x="548640" y="2606040"/>
            <a:ext cx="7772400" cy="548640"/>
          </a:xfrm>
          <a:prstGeom prst="rect">
            <a:avLst/>
          </a:prstGeom>
          <a:noFill/>
          <a:ln/>
        </p:spPr>
        <p:txBody>
          <a:bodyPr wrap="square" rtlCol="0" anchor="ctr"/>
          <a:lstStyle/>
          <a:p>
            <a:pPr indent="0" marL="0">
              <a:buNone/>
            </a:pPr>
            <a:r>
              <a:rPr lang="en-US" sz="2000" i="1" dirty="0">
                <a:solidFill>
                  <a:srgbClr val="FFD970"/>
                </a:solidFill>
                <a:latin typeface="Georgia" pitchFamily="34" charset="0"/>
                <a:ea typeface="Georgia" pitchFamily="34" charset="-122"/>
                <a:cs typeface="Georgia" pitchFamily="34" charset="-120"/>
              </a:rPr>
              <a:t>Questions, edits, or a yes — all welcome.</a:t>
            </a:r>
            <a:endParaRPr lang="en-US" sz="2000" dirty="0"/>
          </a:p>
        </p:txBody>
      </p:sp>
      <p:sp>
        <p:nvSpPr>
          <p:cNvPr id="6" name="Text 4"/>
          <p:cNvSpPr/>
          <p:nvPr/>
        </p:nvSpPr>
        <p:spPr>
          <a:xfrm>
            <a:off x="548640" y="3383280"/>
            <a:ext cx="7772400" cy="1097280"/>
          </a:xfrm>
          <a:prstGeom prst="rect">
            <a:avLst/>
          </a:prstGeom>
          <a:noFill/>
          <a:ln/>
        </p:spPr>
        <p:txBody>
          <a:bodyPr wrap="square" rtlCol="0" anchor="ctr"/>
          <a:lstStyle/>
          <a:p>
            <a:pPr indent="0" marL="0">
              <a:buNone/>
            </a:pPr>
            <a:r>
              <a:rPr lang="en-US" sz="1400" b="1" dirty="0">
                <a:solidFill>
                  <a:srgbClr val="DAA520"/>
                </a:solidFill>
                <a:latin typeface="Calibri" pitchFamily="34" charset="0"/>
                <a:ea typeface="Calibri" pitchFamily="34" charset="-122"/>
                <a:cs typeface="Calibri" pitchFamily="34" charset="-120"/>
              </a:rPr>
              <a:t>Live site  </a:t>
            </a:r>
            <a:pPr indent="0" marL="0">
              <a:buNone/>
            </a:pPr>
            <a:r>
              <a:rPr lang="en-US" sz="1400" dirty="0">
                <a:solidFill>
                  <a:srgbClr val="FAF7EE"/>
                </a:solidFill>
                <a:latin typeface="Calibri" pitchFamily="34" charset="0"/>
                <a:ea typeface="Calibri" pitchFamily="34" charset="-122"/>
                <a:cs typeface="Calibri" pitchFamily="34" charset="-120"/>
              </a:rPr>
              <a:t>tlmfinance.netlify.app
</a:t>
            </a:r>
            <a:endParaRPr lang="en-US" sz="1400" dirty="0"/>
          </a:p>
          <a:p>
            <a:pPr indent="0" marL="0">
              <a:buNone/>
            </a:pPr>
            <a:r>
              <a:rPr lang="en-US" sz="1400" b="1" dirty="0">
                <a:solidFill>
                  <a:srgbClr val="DAA520"/>
                </a:solidFill>
                <a:latin typeface="Calibri" pitchFamily="34" charset="0"/>
                <a:ea typeface="Calibri" pitchFamily="34" charset="-122"/>
                <a:cs typeface="Calibri" pitchFamily="34" charset="-120"/>
              </a:rPr>
              <a:t>Repo  </a:t>
            </a:r>
            <a:pPr indent="0" marL="0">
              <a:buNone/>
            </a:pPr>
            <a:r>
              <a:rPr lang="en-US" sz="1400" dirty="0">
                <a:solidFill>
                  <a:srgbClr val="FAF7EE"/>
                </a:solidFill>
                <a:latin typeface="Calibri" pitchFamily="34" charset="0"/>
                <a:ea typeface="Calibri" pitchFamily="34" charset="-122"/>
                <a:cs typeface="Calibri" pitchFamily="34" charset="-120"/>
              </a:rPr>
              <a:t>github.com/Tyrrellkdlemons/tlmfinance
</a:t>
            </a:r>
            <a:endParaRPr lang="en-US" sz="1400" dirty="0"/>
          </a:p>
          <a:p>
            <a:pPr indent="0" marL="0">
              <a:buNone/>
            </a:pPr>
            <a:r>
              <a:rPr lang="en-US" sz="1400" b="1" dirty="0">
                <a:solidFill>
                  <a:srgbClr val="DAA520"/>
                </a:solidFill>
                <a:latin typeface="Calibri" pitchFamily="34" charset="0"/>
                <a:ea typeface="Calibri" pitchFamily="34" charset="-122"/>
                <a:cs typeface="Calibri" pitchFamily="34" charset="-120"/>
              </a:rPr>
              <a:t>Contact  </a:t>
            </a:r>
            <a:pPr indent="0" marL="0">
              <a:buNone/>
            </a:pPr>
            <a:r>
              <a:rPr lang="en-US" sz="1400" dirty="0">
                <a:solidFill>
                  <a:srgbClr val="FAF7EE"/>
                </a:solidFill>
                <a:latin typeface="Calibri" pitchFamily="34" charset="0"/>
                <a:ea typeface="Calibri" pitchFamily="34" charset="-122"/>
                <a:cs typeface="Calibri" pitchFamily="34" charset="-120"/>
              </a:rPr>
              <a:t>Tyrrell K.D. Lemons · tyrrellkdlemons@gmail.com</a:t>
            </a:r>
            <a:endParaRPr lang="en-US" sz="1400" dirty="0"/>
          </a:p>
        </p:txBody>
      </p:sp>
      <p:sp>
        <p:nvSpPr>
          <p:cNvPr id="7" name="Text 5"/>
          <p:cNvSpPr/>
          <p:nvPr/>
        </p:nvSpPr>
        <p:spPr>
          <a:xfrm>
            <a:off x="8229600" y="4846320"/>
            <a:ext cx="822960" cy="182880"/>
          </a:xfrm>
          <a:prstGeom prst="rect">
            <a:avLst/>
          </a:prstGeom>
          <a:noFill/>
          <a:ln/>
        </p:spPr>
        <p:txBody>
          <a:bodyPr wrap="square" rtlCol="0" anchor="ctr"/>
          <a:lstStyle/>
          <a:p>
            <a:pPr algn="r" indent="0" marL="0">
              <a:buNone/>
            </a:pPr>
            <a:r>
              <a:rPr lang="en-US" sz="900" dirty="0">
                <a:solidFill>
                  <a:srgbClr val="B5B0A8"/>
                </a:solidFill>
                <a:latin typeface="Calibri" pitchFamily="34" charset="0"/>
                <a:ea typeface="Calibri" pitchFamily="34" charset="-122"/>
                <a:cs typeface="Calibri" pitchFamily="34" charset="-120"/>
              </a:rPr>
              <a:t>30 / 30</a:t>
            </a:r>
            <a:endParaRPr lang="en-US" sz="900" dirty="0"/>
          </a:p>
        </p:txBody>
      </p:sp>
      <p:sp>
        <p:nvSpPr>
          <p:cNvPr id="8" name="Text 6"/>
          <p:cNvSpPr/>
          <p:nvPr/>
        </p:nvSpPr>
        <p:spPr>
          <a:xfrm>
            <a:off x="365760" y="4846320"/>
            <a:ext cx="4572000" cy="182880"/>
          </a:xfrm>
          <a:prstGeom prst="rect">
            <a:avLst/>
          </a:prstGeom>
          <a:noFill/>
          <a:ln/>
        </p:spPr>
        <p:txBody>
          <a:bodyPr wrap="square" rtlCol="0" anchor="ctr"/>
          <a:lstStyle/>
          <a:p>
            <a:pPr indent="0" marL="0">
              <a:buNone/>
            </a:pPr>
            <a:r>
              <a:rPr lang="en-US" sz="900" dirty="0">
                <a:solidFill>
                  <a:srgbClr val="B5B0A8"/>
                </a:solidFill>
                <a:latin typeface="Calibri" pitchFamily="34" charset="0"/>
                <a:ea typeface="Calibri" pitchFamily="34" charset="-122"/>
                <a:cs typeface="Calibri" pitchFamily="34" charset="-120"/>
              </a:rPr>
              <a:t>TLM Finance · Pitch · 4/29/2026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The Last Mile · Finance — independent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TLM Finance — Pitch Today</dc:title>
  <dc:subject>PptxGenJS Presentation</dc:subject>
  <dc:creator>Tyrrell K.D. Lemons</dc:creator>
  <cp:lastModifiedBy>Tyrrell K.D. Lemons</cp:lastModifiedBy>
  <cp:revision>1</cp:revision>
  <dcterms:created xsi:type="dcterms:W3CDTF">2026-04-29T14:44:48Z</dcterms:created>
  <dcterms:modified xsi:type="dcterms:W3CDTF">2026-04-29T14:44:48Z</dcterms:modified>
</cp:coreProperties>
</file>