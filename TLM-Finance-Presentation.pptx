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10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620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DAA520">
              <a:alpha val="2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3657600" cy="3657600"/>
          </a:xfrm>
          <a:prstGeom prst="ellipse">
            <a:avLst/>
          </a:prstGeom>
          <a:solidFill>
            <a:srgbClr val="FFD970">
              <a:alpha val="3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initiative inspired by The Last Mile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6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Paving the Road.
</a:t>
            </a:r>
            <a:r>
              <a:rPr lang="en-US" sz="3000" i="1" dirty="0">
                <a:solidFill>
                  <a:srgbClr val="FFD9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 chains. Building a future.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private, mobile-first reentry-finance companion. 13-page web app, voice-and-tone matched to TLM, ready for partnership.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 err="1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TLMFinance.netlify.app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</a:t>
            </a:r>
            <a:r>
              <a:rPr lang="en-US" sz="90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90 days after release decide everything.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B2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recidivism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average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965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8%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29184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Recidivism among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alumni (2025)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2468880" cy="2286000"/>
          </a:xfrm>
          <a:prstGeom prst="roundRect">
            <a:avLst>
              <a:gd name="adj" fmla="val 4800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965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DAA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apps designed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reentry window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predictor of reentry success after housing is financial stability in the first 90 days. Right now, that crucial window is unsupported by any consumer-grade tool.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SITE 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Inspired by The Last Mile. Independent until permission lands.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thelastmile.org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incarceration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bootcamps, audio production, business + entrepreneurship.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16 facilities in 7 states.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alumni · 75% employment · &lt;8% recidivism.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Donor-funded. Anthropic, Google.org, Salesforce.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tlmfinance.netlify.app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release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269748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money planner with smart suggestions, plan-health score.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helper, vetted resource hub, document checklist.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Privacy-first. Plan stays on the device unless the user signs in.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F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TLM's voice. Ready for adoption or replacement.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last mile of school. The first mile of freedom." Two surfaces, one mission.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PLANNING SURFACES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mission, three doors in.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Plan Panel</a:t>
            </a:r>
            <a:endParaRPr lang="en-US" sz="1800" dirty="0"/>
          </a:p>
          <a:p>
            <a:pPr marL="0" indent="0">
              <a:buNone/>
            </a:pPr>
            <a:r>
              <a:rPr lang="en-US" sz="1100" i="1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micro plan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"Generate planner" anywhere on the site — bottom sheet slides up, 8 needs to pick from, prints a starter 72-hour plan.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777240" cy="7772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606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Plan</a:t>
            </a:r>
            <a:endParaRPr lang="en-US" sz="1800" dirty="0"/>
          </a:p>
          <a:p>
            <a:pPr marL="0" indent="0">
              <a:buNone/>
            </a:pPr>
            <a:r>
              <a:rPr lang="en-US" sz="1100" i="1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macro flow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65176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 · ~50 smart chips · 4 quick-start templates · plan-health score · cloud sync. The deep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777240" cy="7772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Plan View</a:t>
            </a:r>
            <a:endParaRPr lang="en-US" sz="1800" dirty="0"/>
          </a:p>
          <a:p>
            <a:pPr marL="0" indent="0">
              <a:buNone/>
            </a:pPr>
            <a:r>
              <a:rPr lang="en-US" sz="1100" i="1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inline summary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365760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full plan exactly as it stands — print, share, copy, send to a case manager. Works mid-progress.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pages. One coherent journey.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276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 ·  Landing · CTA card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55448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10712" y="16276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planner.html  ·  Macro 90-day 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554480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9632" y="16276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Plan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plan.html  ·  Read-only summary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learn.html  ·  Plain-language lessons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2267712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hub.html  ·  Deeper tracks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267712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99632" y="23408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watch.html  ·  YouTube + Radio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540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feed.html  ·  Social timeline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46120" y="2980944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30540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radio.html  ·  TLM Radio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980944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0540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media.html  ·  Press kit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94176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7673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privacy.html  ·  Compliance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46120" y="3694176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37673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terms.html  ·  Compliance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35040" y="3694176"/>
            <a:ext cx="2697480" cy="640080"/>
          </a:xfrm>
          <a:prstGeom prst="roundRect">
            <a:avLst>
              <a:gd name="adj" fmla="val 11429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376732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deletion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data-deletion.html  ·  Compliance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admin.html (password-gated owner panel) + Mile High Club (internal presentation hub)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PLAN — WALKTHROUGH 1/3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steps. Each one a finished thought.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84217" cy="1554480"/>
          </a:xfrm>
          <a:prstGeom prst="roundRect">
            <a:avLst>
              <a:gd name="adj" fmla="val 674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8308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</a:rPr>
              <a:t>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Income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F65"/>
                </a:solidFill>
              </a:rPr>
              <a:t>What comes 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78577" y="1645920"/>
            <a:ext cx="1084217" cy="1554480"/>
          </a:xfrm>
          <a:prstGeom prst="roundRect">
            <a:avLst>
              <a:gd name="adj" fmla="val 674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78577" y="178308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</a:rPr>
              <a:t>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78577" y="228600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Benefits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78577" y="265176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F65"/>
                </a:solidFill>
              </a:rPr>
              <a:t>Programs that help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54234" y="1645920"/>
            <a:ext cx="1084217" cy="1554480"/>
          </a:xfrm>
          <a:prstGeom prst="roundRect">
            <a:avLst>
              <a:gd name="adj" fmla="val 6747"/>
            </a:avLst>
          </a:prstGeom>
          <a:solidFill>
            <a:srgbClr val="DAA520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4234" y="178308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</a:rPr>
              <a:t>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54234" y="228600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0E0E"/>
                </a:solidFill>
              </a:rPr>
              <a:t>Expenses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54234" y="265176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0E0E"/>
                </a:solidFill>
              </a:rPr>
              <a:t>What goes out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29891" y="1645920"/>
            <a:ext cx="1084217" cy="1554480"/>
          </a:xfrm>
          <a:prstGeom prst="roundRect">
            <a:avLst>
              <a:gd name="adj" fmla="val 674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9891" y="178308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029891" y="228600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Debts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9891" y="265176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F65"/>
                </a:solidFill>
              </a:rPr>
              <a:t>Where money goes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05549" y="1645920"/>
            <a:ext cx="1084217" cy="1554480"/>
          </a:xfrm>
          <a:prstGeom prst="roundRect">
            <a:avLst>
              <a:gd name="adj" fmla="val 674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5549" y="178308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05549" y="228600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Goals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05549" y="265176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F65"/>
                </a:solidFill>
              </a:rPr>
              <a:t>Where it should go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81206" y="1645920"/>
            <a:ext cx="1084217" cy="1554480"/>
          </a:xfrm>
          <a:prstGeom prst="roundRect">
            <a:avLst>
              <a:gd name="adj" fmla="val 674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1206" y="178308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81206" y="228600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Documents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1206" y="265176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F65"/>
                </a:solidFill>
              </a:rPr>
              <a:t>Have / need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556863" y="1645920"/>
            <a:ext cx="1084217" cy="1554480"/>
          </a:xfrm>
          <a:prstGeom prst="roundRect">
            <a:avLst>
              <a:gd name="adj" fmla="val 674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6863" y="178308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F1F1F"/>
                </a:solidFill>
              </a:rPr>
              <a:t>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56863" y="228600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1F"/>
                </a:solidFill>
              </a:rPr>
              <a:t>Sequence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56863" y="2651760"/>
            <a:ext cx="108421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6F65"/>
                </a:solidFill>
              </a:rPr>
              <a:t>72h → 30 → 60 → 90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has its own smart-suggestion chips and "I don't have any" toggle so users can move forward honestly.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completion time, full plan: ~7 minutes. Save Progress → cloud sync if signed in.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PLAN — WALKTHROUGH 2/3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chips. Quick-start templates. No blank screens.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suggestion chips (~50 across the planner)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Wages (job)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874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8745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Gig (rideshare)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8745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Family support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874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745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🪛 Side hustle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8745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Tips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43800" y="18745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87452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🪜 Self-employed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860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Stipend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74520" y="22860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22860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Rent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2860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2860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🍞 Food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2860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2860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Utilities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2860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2860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Transit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43800" y="228600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2860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Phone bill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Quick-start templates (4)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0E0E0E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3375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AA520"/>
                </a:solidFill>
              </a:rPr>
              <a:t>🆕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4864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released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40233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yet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06040" y="3246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0E0E0E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33375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AA520"/>
                </a:solidFill>
              </a:rPr>
              <a:t>🛠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69748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part-time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97480" y="40233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wages, some gaps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246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0E0E0E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3375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AA520"/>
                </a:solidFill>
              </a:rPr>
              <a:t>🎓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84632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+ side hustle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40233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Stipend + gig income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03720" y="3246120"/>
            <a:ext cx="2057400" cy="1097280"/>
          </a:xfrm>
          <a:prstGeom prst="roundRect">
            <a:avLst>
              <a:gd name="adj" fmla="val 8333"/>
            </a:avLst>
          </a:prstGeom>
          <a:solidFill>
            <a:srgbClr val="0E0E0E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33375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AA520"/>
                </a:solidFill>
              </a:rPr>
              <a:t>🤝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6995160" y="37947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support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40233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with relative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25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PLAN — WALKTHROUGH 3/3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KPIs and a 0-100 plan-health score.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0E0E0E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HEALTH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start.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of step completion + cash-flow ratio + documents collected.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$1,549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48056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6F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155448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7373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6F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expenses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30632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246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$1,539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8056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6F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flow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30632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32461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6656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6F6F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goal / 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PLAN PANEL — EVERY PAGE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bottom sheet that pops up sitewide.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108960"/>
          </a:xfrm>
          <a:prstGeom prst="roundRect">
            <a:avLst>
              <a:gd name="adj" fmla="val 5882"/>
            </a:avLst>
          </a:prstGeom>
          <a:solidFill>
            <a:srgbClr val="1A1A1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1691640"/>
            <a:ext cx="731520" cy="73152"/>
          </a:xfrm>
          <a:prstGeom prst="roundRect">
            <a:avLst>
              <a:gd name="adj" fmla="val 50000"/>
            </a:avLst>
          </a:prstGeom>
          <a:solidFill>
            <a:srgbClr val="B5B0A8"/>
          </a:solidFill>
          <a:ln w="12700">
            <a:solidFill>
              <a:srgbClr val="B5B0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 PLAN PANEL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 you need first?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Money plan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269748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ID &amp; docs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69748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0E0E0E"/>
          </a:solidFill>
          <a:ln w="12700">
            <a:solidFill>
              <a:srgbClr val="4A4A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Job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269748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69748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Housing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0E0E0E"/>
          </a:solidFill>
          <a:ln w="12700">
            <a:solidFill>
              <a:srgbClr val="4A4A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Education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06040" y="320040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0E0E0E"/>
          </a:solidFill>
          <a:ln w="12700">
            <a:solidFill>
              <a:srgbClr val="4A4A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Transport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320040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0E0E0E"/>
          </a:solidFill>
          <a:ln w="12700">
            <a:solidFill>
              <a:srgbClr val="4A4A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 Health &amp; meds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20040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0E0E0E"/>
          </a:solidFill>
          <a:ln w="12700">
            <a:solidFill>
              <a:srgbClr val="4A4A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32004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Family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977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my 72-hour plan"  ·  "Open the customizable plan →"  ·  "Advanced wizard"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"Generate planner" anywhere — Home, Hub, Learn, Watch, Privacy, Terms — and this slides up.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72-hour plan it makes carries over to the customizable plan automatically.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828800"/>
            <a:ext cx="6400800" cy="6400800"/>
          </a:xfrm>
          <a:prstGeom prst="ellipse">
            <a:avLst/>
          </a:prstGeom>
          <a:solidFill>
            <a:srgbClr val="DAA520">
              <a:alpha val="2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SIMULATION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0" y="1097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Marcus, 34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D9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days from release.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2697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years served. 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brother who can host him for two weeks.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ID that expired in 2022.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bank account, no smartphone yet.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job interview he can probably get,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 can show up clean and on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· DAY −6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Prison career center, shared tablet.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opens tlmfinance.netlify.app on the slow center Wi-Fi. The site loads in under two seconds because it's a static PWA. He taps "Generate planner" — bottom sheet slides 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5176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screen:
</a:t>
            </a:r>
            <a:endParaRPr lang="en-US" sz="1100" dirty="0"/>
          </a:p>
          <a:p>
            <a:pPr marL="0" indent="0">
              <a:buNone/>
            </a:pPr>
            <a:r>
              <a:rPr lang="en-US" sz="16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everything that applies. We'll generate a 72-hour plan and link to resources."
</a:t>
            </a:r>
            <a:endParaRPr lang="en-US" sz="11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selects: </a:t>
            </a:r>
            <a:r>
              <a:rPr lang="en-US" sz="1300" b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plan · ID &amp; documents · Job path · Housing · Health &amp; meds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minutes he has a printable starter list.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· DAY −5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"Open the customizable plan →"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72-hour list carries over automatically. He picks the "Just released, no income yet" template; chips populate income with $0, expenses with phone bill, transit, food.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0E0E0E"/>
          </a:solidFill>
          <a:ln w="12700">
            <a:solidFill>
              <a:srgbClr val="B23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DAA520"/>
                </a:solidFill>
              </a:rPr>
              <a:t>PLAN HEALTH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B23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AF7EE"/>
                </a:solidFill>
              </a:rPr>
              <a:t>Plenty to fill in. One section at a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74320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captured yet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at 2 / 12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sequence empty 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 ratio undefined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fine. The score is a guide, not a grade — it goes up the moment something real lands.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· DAY 0 →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Released. The plan goes with him.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Brother's house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with email — plan syncs across devices. $40 prepaid SIM.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DMV + SSA office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tab moves from 2 to 4 collected. Score climbs to 41.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520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interview hits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6118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role to Income via a chip. Sync pill: "Synced · 8:14 PM."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· DAY 30 → 90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red to green.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 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0" y="1618488"/>
            <a:ext cx="5943600" cy="237744"/>
          </a:xfrm>
          <a:prstGeom prst="roundRect">
            <a:avLst>
              <a:gd name="adj" fmla="val 50000"/>
            </a:avLst>
          </a:prstGeom>
          <a:solidFill>
            <a:srgbClr val="F0E7C7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618488"/>
            <a:ext cx="1901952" cy="237744"/>
          </a:xfrm>
          <a:prstGeom prst="roundRect">
            <a:avLst>
              <a:gd name="adj" fmla="val 50000"/>
            </a:avLst>
          </a:prstGeom>
          <a:solidFill>
            <a:srgbClr val="B23A1F"/>
          </a:solidFill>
          <a:ln w="12700">
            <a:solidFill>
              <a:srgbClr val="B23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1554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100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 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3040" y="2121408"/>
            <a:ext cx="5943600" cy="237744"/>
          </a:xfrm>
          <a:prstGeom prst="roundRect">
            <a:avLst>
              <a:gd name="adj" fmla="val 50000"/>
            </a:avLst>
          </a:prstGeom>
          <a:solidFill>
            <a:srgbClr val="F0E7C7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2121408"/>
            <a:ext cx="2436876" cy="237744"/>
          </a:xfrm>
          <a:prstGeom prst="roundRect">
            <a:avLst>
              <a:gd name="adj" fmla="val 50000"/>
            </a:avLst>
          </a:prstGeom>
          <a:solidFill>
            <a:srgbClr val="B23A1F"/>
          </a:solidFill>
          <a:ln w="12700">
            <a:solidFill>
              <a:srgbClr val="B23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057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100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63040" y="2624328"/>
            <a:ext cx="5943600" cy="237744"/>
          </a:xfrm>
          <a:prstGeom prst="roundRect">
            <a:avLst>
              <a:gd name="adj" fmla="val 50000"/>
            </a:avLst>
          </a:prstGeom>
          <a:solidFill>
            <a:srgbClr val="F0E7C7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2624328"/>
            <a:ext cx="3268980" cy="237744"/>
          </a:xfrm>
          <a:prstGeom prst="roundRect">
            <a:avLst>
              <a:gd name="adj" fmla="val 50000"/>
            </a:avLst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560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100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463040" y="3127248"/>
            <a:ext cx="5943600" cy="237744"/>
          </a:xfrm>
          <a:prstGeom prst="roundRect">
            <a:avLst>
              <a:gd name="adj" fmla="val 50000"/>
            </a:avLst>
          </a:prstGeom>
          <a:solidFill>
            <a:srgbClr val="F0E7C7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3040" y="3127248"/>
            <a:ext cx="4279392" cy="237744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3063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/ 100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463040" y="3630168"/>
            <a:ext cx="5943600" cy="237744"/>
          </a:xfrm>
          <a:prstGeom prst="roundRect">
            <a:avLst>
              <a:gd name="adj" fmla="val 50000"/>
            </a:avLst>
          </a:prstGeom>
          <a:solidFill>
            <a:srgbClr val="F0E7C7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3040" y="3630168"/>
            <a:ext cx="5111496" cy="237744"/>
          </a:xfrm>
          <a:prstGeom prst="roundRect">
            <a:avLst>
              <a:gd name="adj" fmla="val 50000"/>
            </a:avLst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3566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/ 100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90: </a:t>
            </a:r>
            <a:r>
              <a:rPr lang="en-US" sz="1300" i="1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cash-flow positive. Documents 11/12. 90-day sequence 11 of 14 done. Prints a clean copy for the CSU Project Rebound advisor.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AUTH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Sign-in is opt-in. Everything else is on-device.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94360" cy="59436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0E0E"/>
                </a:solidFill>
              </a:rPr>
              <a:t>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analytics. No third-party fonts.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tracks the visitor, ever.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594360" cy="59436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0E0E"/>
                </a:solidFill>
              </a:rPr>
              <a:t>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saves to localStorage.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 on every keystroke. Stays on the device by default.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0E0E"/>
                </a:solidFill>
              </a:rPr>
              <a:t>☁️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unlocks cloud sync.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+ Facebook OAuth via Supabase. Optional, never required.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77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0E0E"/>
                </a:solidFill>
              </a:rPr>
              <a:t>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table.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row owner can read or write their own plan. Enforced at the database.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EDUCATION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resources. Plain language.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hub (25+)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reentry orgs — every card sourced + dated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 · FDIC · SSA · DOL · 211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Reentry Resource Center · Root &amp; Rebound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Project Rebound · CareerOneStop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category: jobs, ID, money, health, family, housing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/ Hub / Watch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92040" y="210312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· Credit · Savings · Money apps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basics · Scam avoidance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 (ChatGPT, Claude)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tech jobs · Study anything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Radio + featured YouTube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URL has a lastChecked date in SOURCE_MAP.json — quarterly link audit on the punch list.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free models. Five fallback tiers. Zero keys in the page.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server-side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DeepSeek-V3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Qwen-2.5-72B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Qwen-QwQ-32B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Hermes-3-405B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Nemotron-70B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Gemma-2-9B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Llama-3.2-3B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OpenChat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guards — built 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8745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on: site help, money planning, banking, credit, crypto, AI, careers, study skills.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Declines: parole, probation, expungement, sentencing, immigration, custody, voting/firearm rights.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to: NRRC · Root &amp; Rebound · 211 · 988 (crisis).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login. No tracking. Chat history in memory only — never persisted.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Hidden, password-gated, lockout-protected.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AA520"/>
                </a:solidFill>
              </a:rPr>
              <a:t>👆×7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logo 7×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3 seconds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AA520"/>
                </a:solidFill>
              </a:rPr>
              <a:t>⌨️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46120" y="2377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"TLMadmin"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on the page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1A1A1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6916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DAA520"/>
                </a:solidFill>
              </a:rPr>
              <a:t>🎮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035040" y="23774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Konami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743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↑↑↓↓←→←→ B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r>
              <a:rPr lang="en-US" sz="1300" i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SHA-256(salt + passcode) gate. 5 wrong tries → 5-minute lockout. 30-day session token.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Tabs: Brand · Hero · Resources · Videos · People · Sign-ins · Audit log · Pages-visibility · Toggles · Privacy · Deploy · Export &amp; reset.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frameworks. No bundlers. No build step.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" cy="5486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0E0E"/>
                </a:solidFill>
              </a:rPr>
              <a:t>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HTML, CSS, vanilla JS. Loads instantly.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0E0E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1600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+ service worker. Installable, offline-capable.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548640" cy="5486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0E0E"/>
                </a:solidFill>
              </a:rPr>
              <a:t>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via Netlify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Default-src self. Explicit allowlist for Supabase / OAuth / embeds.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548640" cy="5486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0E0E"/>
                </a:solidFill>
              </a:rPr>
              <a:t>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94960" y="2651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+ Facebook OAuth. RLS on every table.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0E0E"/>
                </a:solidFill>
              </a:rPr>
              <a:t>☁️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 functions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069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function: chatbot relay (rotates 13 LLMs).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703320"/>
            <a:ext cx="548640" cy="548640"/>
          </a:xfrm>
          <a:prstGeom prst="ellipse">
            <a:avLst/>
          </a:prstGeom>
          <a:solidFill>
            <a:srgbClr val="DAA520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0E0E"/>
                </a:solidFill>
              </a:rPr>
              <a:t>♿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94960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40690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audit applied. Reduced motion + dark mode parity.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APPROVE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 for partnership.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384048" cy="384048"/>
          </a:xfrm>
          <a:prstGeom prst="ellipse">
            <a:avLst/>
          </a:prstGeom>
          <a:solidFill>
            <a:srgbClr val="FFD970"/>
          </a:solidFill>
          <a:ln w="12700">
            <a:solidFill>
              <a:srgbClr val="FFD9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27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real gap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55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consumer-grade money planner exists for the reentry window. This is one.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FFD970"/>
          </a:solidFill>
          <a:ln w="12700">
            <a:solidFill>
              <a:srgbClr val="FFD9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103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Honors the population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3957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6th-grade reading level. Zero analytics. No dark patterns. Plan stays on-device.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FFD970"/>
          </a:solidFill>
          <a:ln w="12700">
            <a:solidFill>
              <a:srgbClr val="FFD9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743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not a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035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 · a11y audit passed · password-gated admin · CSP-hardened · offline-capable · 13-LLM rotation.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FFD970"/>
          </a:solidFill>
          <a:ln w="12700">
            <a:solidFill>
              <a:srgbClr val="FFD9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472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Effectively free to operate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6758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hosting + Supabase free tier + a single Netlify function.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FFD970"/>
          </a:solidFill>
          <a:ln w="12700">
            <a:solidFill>
              <a:srgbClr val="FFD9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0233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Adoptable, not a fork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3159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for TLM. Re-skin or replace the moment permission lands.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TLM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finance arm of the same mission.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 teaches incarcerated learners to build futures inside. TLM Finance helps those same learners — and anyone else returning home — turn that future into a stable first 90 days outside.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Officially adopt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" y="3474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becomes the financial planning surface of TLM's reentry program. We rebrand under the official mark.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26060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10712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Sponsor + co-brand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10712" y="3474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endorses the project; we keep operating it; TLM's logo appears with proper attribution.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260604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8F4EA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99632" y="30175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for replacement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99632" y="34747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builds its own version using this codebase as the open-source reference. We hand over the keys.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punch list, written down.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9344"/>
            <a:ext cx="384048" cy="384048"/>
          </a:xfrm>
          <a:prstGeom prst="ellipse">
            <a:avLst/>
          </a:prstGeom>
          <a:solidFill>
            <a:srgbClr val="F0E7C7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93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Live mode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developer mode. Needs Meta business verification + App Review.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F0E7C7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1214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portrait permission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212140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info@thelastmile.org for written permission to use the official mark and any photos.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F0E7C7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6883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 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68833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disclaimer is a starting point. Needs counsel sign-off before public launch.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10128"/>
            <a:ext cx="384048" cy="384048"/>
          </a:xfrm>
          <a:prstGeom prst="ellipse">
            <a:avLst/>
          </a:prstGeom>
          <a:solidFill>
            <a:srgbClr val="F0E7C7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552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link audit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325526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every URL in resources.json + SOURCE_MAP.json; bump lastChecked.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F0E7C7"/>
          </a:solidFill>
          <a:ln w="12700">
            <a:solidFill>
              <a:srgbClr val="DAA5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8221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nonce hardening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382219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policy from `unsafe-inline` to script/style nonces in a future pass.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IMPACT (FOR CONTEXT)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mission this work plugs into.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served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691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~1,000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3756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total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606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5544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916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606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recidivism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200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337560" y="3840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further education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30632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8F4EA"/>
          </a:solidFill>
          <a:ln w="12700">
            <a:solidFill>
              <a:srgbClr val="E5DB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3200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7A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126480" y="3840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· 7 states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114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400" dirty="0">
                <a:solidFill>
                  <a:srgbClr val="8C6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TLM 2024 Annual Report · The Last Mile in 2026 · NPQ interview with Kevin McCracken.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sentences.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Bless this project to use the TLM mark, or tell us what shape an official partnership could take.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Two.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it with one cohort — anywhere, any size. We'll handle the deploy. You handle the introductions.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
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we got wrong. Voice, copy, layout, resources — we'll fix anything that doesn't fit.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DAA520">
              <a:alpha val="20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3657600" cy="3657600"/>
          </a:xfrm>
          <a:prstGeom prst="ellipse">
            <a:avLst/>
          </a:prstGeom>
          <a:solidFill>
            <a:srgbClr val="FFD970">
              <a:alpha val="35000"/>
            </a:srgbClr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A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D9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edits, or a yes — all welcome.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  </a:t>
            </a:r>
            <a:r>
              <a:rPr lang="en-US" sz="1400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tlmfinance.netlify.app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 </a:t>
            </a:r>
            <a:r>
              <a:rPr lang="en-US" sz="1400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github.com/Tyrrellkdlemons/tlmfinance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 </a:t>
            </a:r>
            <a:r>
              <a:rPr lang="en-US" sz="1400" dirty="0">
                <a:solidFill>
                  <a:srgbClr val="FAF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Tyrrell K.D. Lemons · tyrrellkdlemons@gmail.com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4846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TLM Finance · Internal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2411</Words>
  <Application>Microsoft Office PowerPoint</Application>
  <PresentationFormat>On-screen Show (16:9)</PresentationFormat>
  <Paragraphs>448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Last Mile · Finance — independent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TLM Finance — Paving the Road</dc:title>
  <dc:subject>PptxGenJS Presentation</dc:subject>
  <dc:creator>Tyrrell K.D. Lemons</dc:creator>
  <cp:lastModifiedBy>TKDL</cp:lastModifiedBy>
  <cp:revision>2</cp:revision>
  <dcterms:created xsi:type="dcterms:W3CDTF">2026-04-29T10:15:12Z</dcterms:created>
  <dcterms:modified xsi:type="dcterms:W3CDTF">2026-04-30T21:57:48Z</dcterms:modified>
</cp:coreProperties>
</file>